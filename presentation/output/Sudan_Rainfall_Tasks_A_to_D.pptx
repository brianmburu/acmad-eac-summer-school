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embedTrueTypeFonts="1" autoCompressPictures="0">
  <p:sldMasterIdLst>
    <p:sldMasterId id="2147483648" r:id="rId1"/>
  </p:sldMasterIdLst>
  <p:notesMasterIdLst>
    <p:notesMasterId r:id="rId28"/>
  </p:notesMasterIdLst>
  <p:sldIdLst>
    <p:sldId id="501" r:id="rIdContent1"/>
    <p:sldId id="502" r:id="rIdContent2"/>
    <p:sldId id="503" r:id="rIdContent3"/>
    <p:sldId id="504" r:id="rIdContent4"/>
    <p:sldId id="505" r:id="rIdContent5"/>
    <p:sldId id="506" r:id="rIdContent6"/>
    <p:sldId id="507" r:id="rIdContent7"/>
    <p:sldId id="508" r:id="rIdContent8"/>
    <p:sldId id="509" r:id="rIdContent9"/>
    <p:sldId id="510" r:id="rIdContent10"/>
    <p:sldId id="511" r:id="rIdContent11"/>
    <p:sldId id="512" r:id="rIdContent12"/>
    <p:sldId id="513" r:id="rIdContent13"/>
    <p:sldId id="514" r:id="rIdContent14"/>
    <p:sldId id="515" r:id="rIdContent15"/>
    <p:sldId id="516" r:id="rIdContent16"/>
    <p:sldId id="517" r:id="rIdContent17"/>
    <p:sldId id="518" r:id="rIdContent18"/>
    <p:sldId id="519" r:id="rIdContent19"/>
    <p:sldId id="520" r:id="rIdContent20"/>
    <p:sldId id="521" r:id="rIdContent21"/>
    <p:sldId id="522" r:id="rIdContent22"/>
    <p:sldId id="523" r:id="rIdContent23"/>
    <p:sldId id="524" r:id="rIdContent24"/>
    <p:sldId id="525" r:id="rIdContent25"/>
    <p:sldId id="526" r:id="rIdContent26"/>
    <p:sldId id="527" r:id="rIdContent27"/>
    <p:sldId id="528" r:id="rIdContent28"/>
    <p:sldId id="529" r:id="rIdContent29"/>
    <p:sldId id="530" r:id="rIdContent30"/>
    <p:sldId id="531" r:id="rIdContent31"/>
    <p:sldId id="532" r:id="rIdContent32"/>
    <p:sldId id="533" r:id="rIdContent33"/>
    <p:sldId id="534" r:id="rIdContent34"/>
    <p:sldId id="535" r:id="rIdContent35"/>
    <p:sldId id="536" r:id="rIdContent36"/>
    <p:sldId id="537" r:id="rIdContent37"/>
    <p:sldId id="538" r:id="rIdContent38"/>
    <p:sldId id="539" r:id="rIdContent39"/>
    <p:sldId id="540" r:id="rIdContent40"/>
    <p:sldId id="541" r:id="rIdContent41"/>
    <p:sldId id="542" r:id="rIdContent42"/>
    <p:sldId id="543" r:id="rIdContent43"/>
    <p:sldId id="544" r:id="rIdContent44"/>
    <p:sldId id="545" r:id="rIdContent45"/>
  </p:sldIdLst>
  <p:sldSz cx="12192000" cy="6858000"/>
  <p:notesSz cx="6858000" cy="9144000"/>
  <p:embeddedFontLst>
    <p:embeddedFont>
      <p:font typeface="OpenAI Sans" panose="020B0004030202060203" pitchFamily="34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94658"/>
  </p:normalViewPr>
  <p:slideViewPr>
    <p:cSldViewPr snapToGrid="0">
      <p:cViewPr varScale="1">
        <p:scale>
          <a:sx n="116" d="100"/>
          <a:sy n="116" d="100"/>
        </p:scale>
        <p:origin x="680" y="176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?>
<ns0:Relationships xmlns:ns0="http://schemas.openxmlformats.org/package/2006/relationships"><ns0:Relationship Id="rId34" Type="http://schemas.openxmlformats.org/officeDocument/2006/relationships/viewProps" Target="viewProps.xml" /><ns0:Relationship Id="rId33" Type="http://schemas.openxmlformats.org/officeDocument/2006/relationships/presProps" Target="presProps.xml" /><ns0:Relationship Id="rId29" Type="http://schemas.openxmlformats.org/officeDocument/2006/relationships/font" Target="fonts/font1.fntdata" /><ns0:Relationship Id="rId1" Type="http://schemas.openxmlformats.org/officeDocument/2006/relationships/slideMaster" Target="slideMasters/slideMaster1.xml" /><ns0:Relationship Id="rId32" Type="http://schemas.openxmlformats.org/officeDocument/2006/relationships/font" Target="fonts/font4.fntdata" /><ns0:Relationship Id="rId28" Type="http://schemas.openxmlformats.org/officeDocument/2006/relationships/notesMaster" Target="notesMasters/notesMaster1.xml" /><ns0:Relationship Id="rId36" Type="http://schemas.openxmlformats.org/officeDocument/2006/relationships/tableStyles" Target="tableStyles.xml" /><ns0:Relationship Id="rId31" Type="http://schemas.openxmlformats.org/officeDocument/2006/relationships/font" Target="fonts/font3.fntdata" /><ns0:Relationship Id="rId30" Type="http://schemas.openxmlformats.org/officeDocument/2006/relationships/font" Target="fonts/font2.fntdata" /><ns0:Relationship Id="rId35" Type="http://schemas.openxmlformats.org/officeDocument/2006/relationships/theme" Target="theme/theme1.xml" /><ns0:Relationship Id="rIdContent1" Type="http://schemas.openxmlformats.org/officeDocument/2006/relationships/slide" Target="slides/slide1.xml" /><ns0:Relationship Id="rIdContent2" Type="http://schemas.openxmlformats.org/officeDocument/2006/relationships/slide" Target="slides/slide2.xml" /><ns0:Relationship Id="rIdContent3" Type="http://schemas.openxmlformats.org/officeDocument/2006/relationships/slide" Target="slides/slide3.xml" /><ns0:Relationship Id="rIdContent4" Type="http://schemas.openxmlformats.org/officeDocument/2006/relationships/slide" Target="slides/slide4.xml" /><ns0:Relationship Id="rIdContent5" Type="http://schemas.openxmlformats.org/officeDocument/2006/relationships/slide" Target="slides/slide5.xml" /><ns0:Relationship Id="rIdContent6" Type="http://schemas.openxmlformats.org/officeDocument/2006/relationships/slide" Target="slides/slide6.xml" /><ns0:Relationship Id="rIdContent7" Type="http://schemas.openxmlformats.org/officeDocument/2006/relationships/slide" Target="slides/slide7.xml" /><ns0:Relationship Id="rIdContent8" Type="http://schemas.openxmlformats.org/officeDocument/2006/relationships/slide" Target="slides/slide8.xml" /><ns0:Relationship Id="rIdContent9" Type="http://schemas.openxmlformats.org/officeDocument/2006/relationships/slide" Target="slides/slide9.xml" /><ns0:Relationship Id="rIdContent10" Type="http://schemas.openxmlformats.org/officeDocument/2006/relationships/slide" Target="slides/slide10.xml" /><ns0:Relationship Id="rIdContent11" Type="http://schemas.openxmlformats.org/officeDocument/2006/relationships/slide" Target="slides/slide11.xml" /><ns0:Relationship Id="rIdContent12" Type="http://schemas.openxmlformats.org/officeDocument/2006/relationships/slide" Target="slides/slide12.xml" /><ns0:Relationship Id="rIdContent13" Type="http://schemas.openxmlformats.org/officeDocument/2006/relationships/slide" Target="slides/slide13.xml" /><ns0:Relationship Id="rIdContent14" Type="http://schemas.openxmlformats.org/officeDocument/2006/relationships/slide" Target="slides/slide14.xml" /><ns0:Relationship Id="rIdContent15" Type="http://schemas.openxmlformats.org/officeDocument/2006/relationships/slide" Target="slides/slide15.xml" /><ns0:Relationship Id="rIdContent16" Type="http://schemas.openxmlformats.org/officeDocument/2006/relationships/slide" Target="slides/slide16.xml" /><ns0:Relationship Id="rIdContent17" Type="http://schemas.openxmlformats.org/officeDocument/2006/relationships/slide" Target="slides/slide17.xml" /><ns0:Relationship Id="rIdContent18" Type="http://schemas.openxmlformats.org/officeDocument/2006/relationships/slide" Target="slides/slide18.xml" /><ns0:Relationship Id="rIdContent19" Type="http://schemas.openxmlformats.org/officeDocument/2006/relationships/slide" Target="slides/slide19.xml" /><ns0:Relationship Id="rIdContent20" Type="http://schemas.openxmlformats.org/officeDocument/2006/relationships/slide" Target="slides/slide20.xml" /><ns0:Relationship Id="rIdContent21" Type="http://schemas.openxmlformats.org/officeDocument/2006/relationships/slide" Target="slides/slide21.xml" /><ns0:Relationship Id="rIdContent22" Type="http://schemas.openxmlformats.org/officeDocument/2006/relationships/slide" Target="slides/slide22.xml" /><ns0:Relationship Id="rIdContent23" Type="http://schemas.openxmlformats.org/officeDocument/2006/relationships/slide" Target="slides/slide23.xml" /><ns0:Relationship Id="rIdContent24" Type="http://schemas.openxmlformats.org/officeDocument/2006/relationships/slide" Target="slides/slide24.xml" /><ns0:Relationship Id="rIdContent25" Type="http://schemas.openxmlformats.org/officeDocument/2006/relationships/slide" Target="slides/slide25.xml" /><ns0:Relationship Id="rIdContent26" Type="http://schemas.openxmlformats.org/officeDocument/2006/relationships/slide" Target="slides/slide26.xml" /><ns0:Relationship Id="rIdContent27" Type="http://schemas.openxmlformats.org/officeDocument/2006/relationships/slide" Target="slides/slide27.xml" /><ns0:Relationship Id="rIdContent28" Type="http://schemas.openxmlformats.org/officeDocument/2006/relationships/slide" Target="slides/slide28.xml" /><ns0:Relationship Id="rIdContent29" Type="http://schemas.openxmlformats.org/officeDocument/2006/relationships/slide" Target="slides/slide29.xml" /><ns0:Relationship Id="rIdContent30" Type="http://schemas.openxmlformats.org/officeDocument/2006/relationships/slide" Target="slides/slide30.xml" /><ns0:Relationship Id="rIdContent31" Type="http://schemas.openxmlformats.org/officeDocument/2006/relationships/slide" Target="slides/slide31.xml" /><ns0:Relationship Id="rIdContent32" Type="http://schemas.openxmlformats.org/officeDocument/2006/relationships/slide" Target="slides/slide32.xml" /><ns0:Relationship Id="rIdContent33" Type="http://schemas.openxmlformats.org/officeDocument/2006/relationships/slide" Target="slides/slide33.xml" /><ns0:Relationship Id="rIdContent34" Type="http://schemas.openxmlformats.org/officeDocument/2006/relationships/slide" Target="slides/slide34.xml" /><ns0:Relationship Id="rIdContent35" Type="http://schemas.openxmlformats.org/officeDocument/2006/relationships/slide" Target="slides/slide35.xml" /><ns0:Relationship Id="rIdContent36" Type="http://schemas.openxmlformats.org/officeDocument/2006/relationships/slide" Target="slides/slide36.xml" /><ns0:Relationship Id="rIdContent37" Type="http://schemas.openxmlformats.org/officeDocument/2006/relationships/slide" Target="slides/slide37.xml" /><ns0:Relationship Id="rIdContent38" Type="http://schemas.openxmlformats.org/officeDocument/2006/relationships/slide" Target="slides/slide38.xml" /><ns0:Relationship Id="rIdContent39" Type="http://schemas.openxmlformats.org/officeDocument/2006/relationships/slide" Target="slides/slide39.xml" /><ns0:Relationship Id="rIdContent40" Type="http://schemas.openxmlformats.org/officeDocument/2006/relationships/slide" Target="slides/slide40.xml" /><ns0:Relationship Id="rIdContent41" Type="http://schemas.openxmlformats.org/officeDocument/2006/relationships/slide" Target="slides/slide41.xml" /><ns0:Relationship Id="rIdContent42" Type="http://schemas.openxmlformats.org/officeDocument/2006/relationships/slide" Target="slides/slide42.xml" /><ns0:Relationship Id="rIdContent43" Type="http://schemas.openxmlformats.org/officeDocument/2006/relationships/slide" Target="slides/slide43.xml" /><ns0:Relationship Id="rIdContent44" Type="http://schemas.openxmlformats.org/officeDocument/2006/relationships/slide" Target="slides/slide44.xml" /><ns0:Relationship Id="rIdContent45" Type="http://schemas.openxmlformats.org/officeDocument/2006/relationships/slide" Target="slides/slide45.xml" /></ns0: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A3-C54F-BF62-FEFA3B708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A3-C54F-BF62-FEFA3B708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ED-7F48-B4D5-DDD31BB1F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ED-7F48-B4D5-DDD31BB1F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3176846567900986"/>
          <c:h val="5.005992543055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.xml"/><Relationship Id="rIdMaster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.xml"/><Relationship Id="rIdMaster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.xml"/><Relationship Id="rIdMaster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.xml"/><Relationship Id="rIdMaster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5.xml"/><Relationship Id="rIdMaster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6.xml"/><Relationship Id="rIdMaster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7.xml"/><Relationship Id="rIdMaster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8.xml"/><Relationship Id="rIdMaster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9.xml"/><Relationship Id="rIdMaster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0.xml"/><Relationship Id="rIdMaster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1.xml"/><Relationship Id="rIdMaster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2.xml"/><Relationship Id="rIdMaster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3.xml"/><Relationship Id="rIdMaster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4.xml"/><Relationship Id="rIdMaster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5.xml"/><Relationship Id="rIdMaster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6.xml"/><Relationship Id="rIdMaster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7.xml"/><Relationship Id="rIdMaster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8.xml"/><Relationship Id="rIdMaster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9.xml"/><Relationship Id="rIdMaster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0.xml"/><Relationship Id="rIdMaster" Type="http://schemas.openxmlformats.org/officeDocument/2006/relationships/notesMaster" Target="../notesMasters/notesMaster1.xml"/></Relationships>
</file>

<file path=ppt/notesSlides/_rels/notesSlide2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1.xml"/><Relationship Id="rIdMaster" Type="http://schemas.openxmlformats.org/officeDocument/2006/relationships/notesMaster" Target="../notesMasters/notesMaster1.xml"/></Relationships>
</file>

<file path=ppt/notesSlides/_rels/notesSlide2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2.xml"/><Relationship Id="rIdMaster" Type="http://schemas.openxmlformats.org/officeDocument/2006/relationships/notesMaster" Target="../notesMasters/notesMaster1.xml"/></Relationships>
</file>

<file path=ppt/notesSlides/_rels/notesSlide2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3.xml"/><Relationship Id="rIdMaster" Type="http://schemas.openxmlformats.org/officeDocument/2006/relationships/notesMaster" Target="../notesMasters/notesMaster1.xml"/></Relationships>
</file>

<file path=ppt/notesSlides/_rels/notesSlide2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4.xml"/><Relationship Id="rIdMaster" Type="http://schemas.openxmlformats.org/officeDocument/2006/relationships/notesMaster" Target="../notesMasters/notesMaster1.xml"/></Relationships>
</file>

<file path=ppt/notesSlides/_rels/notesSlide2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5.xml"/><Relationship Id="rIdMaster" Type="http://schemas.openxmlformats.org/officeDocument/2006/relationships/notesMaster" Target="../notesMasters/notesMaster1.xml"/></Relationships>
</file>

<file path=ppt/notesSlides/_rels/notesSlide2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6.xml"/><Relationship Id="rIdMaster" Type="http://schemas.openxmlformats.org/officeDocument/2006/relationships/notesMaster" Target="../notesMasters/notesMaster1.xml"/></Relationships>
</file>

<file path=ppt/notesSlides/_rels/notesSlide2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7.xml"/><Relationship Id="rIdMaster" Type="http://schemas.openxmlformats.org/officeDocument/2006/relationships/notesMaster" Target="../notesMasters/notesMaster1.xml"/></Relationships>
</file>

<file path=ppt/notesSlides/_rels/notesSlide2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8.xml"/><Relationship Id="rIdMaster" Type="http://schemas.openxmlformats.org/officeDocument/2006/relationships/notesMaster" Target="../notesMasters/notesMaster1.xml"/></Relationships>
</file>

<file path=ppt/notesSlides/_rels/notesSlide2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9.xml"/><Relationship Id="rIdMaster" Type="http://schemas.openxmlformats.org/officeDocument/2006/relationships/notesMaster" Target="../notesMasters/notesMaster1.xml"/></Relationships>
</file>

<file path=ppt/notesSlides/_rels/notesSlide3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0.xml"/><Relationship Id="rIdMaster" Type="http://schemas.openxmlformats.org/officeDocument/2006/relationships/notesMaster" Target="../notesMasters/notesMaster1.xml"/></Relationships>
</file>

<file path=ppt/notesSlides/_rels/notesSlide3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1.xml"/><Relationship Id="rIdMaster" Type="http://schemas.openxmlformats.org/officeDocument/2006/relationships/notesMaster" Target="../notesMasters/notesMaster1.xml"/></Relationships>
</file>

<file path=ppt/notesSlides/_rels/notesSlide3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2.xml"/><Relationship Id="rIdMaster" Type="http://schemas.openxmlformats.org/officeDocument/2006/relationships/notesMaster" Target="../notesMasters/notesMaster1.xml"/></Relationships>
</file>

<file path=ppt/notesSlides/_rels/notesSlide3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3.xml"/><Relationship Id="rIdMaster" Type="http://schemas.openxmlformats.org/officeDocument/2006/relationships/notesMaster" Target="../notesMasters/notesMaster1.xml"/></Relationships>
</file>

<file path=ppt/notesSlides/_rels/notesSlide3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4.xml"/><Relationship Id="rIdMaster" Type="http://schemas.openxmlformats.org/officeDocument/2006/relationships/notesMaster" Target="../notesMasters/notesMaster1.xml"/></Relationships>
</file>

<file path=ppt/notesSlides/_rels/notesSlide3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5.xml"/><Relationship Id="rIdMaster" Type="http://schemas.openxmlformats.org/officeDocument/2006/relationships/notesMaster" Target="../notesMasters/notesMaster1.xml"/></Relationships>
</file>

<file path=ppt/notesSlides/_rels/notesSlide3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6.xml"/><Relationship Id="rIdMaster" Type="http://schemas.openxmlformats.org/officeDocument/2006/relationships/notesMaster" Target="../notesMasters/notesMaster1.xml"/></Relationships>
</file>

<file path=ppt/notesSlides/_rels/notesSlide3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7.xml"/><Relationship Id="rIdMaster" Type="http://schemas.openxmlformats.org/officeDocument/2006/relationships/notesMaster" Target="../notesMasters/notesMaster1.xml"/></Relationships>
</file>

<file path=ppt/notesSlides/_rels/notesSlide3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8.xml"/><Relationship Id="rIdMaster" Type="http://schemas.openxmlformats.org/officeDocument/2006/relationships/notesMaster" Target="../notesMasters/notesMaster1.xml"/></Relationships>
</file>

<file path=ppt/notesSlides/_rels/notesSlide3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9.xml"/><Relationship Id="rIdMaster" Type="http://schemas.openxmlformats.org/officeDocument/2006/relationships/notesMaster" Target="../notesMasters/notesMaster1.xml"/></Relationships>
</file>

<file path=ppt/notesSlides/_rels/notesSlide4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0.xml"/><Relationship Id="rIdMaster" Type="http://schemas.openxmlformats.org/officeDocument/2006/relationships/notesMaster" Target="../notesMasters/notesMaster1.xml"/></Relationships>
</file>

<file path=ppt/notesSlides/_rels/notesSlide4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1.xml"/><Relationship Id="rIdMaster" Type="http://schemas.openxmlformats.org/officeDocument/2006/relationships/notesMaster" Target="../notesMasters/notesMaster1.xml"/></Relationships>
</file>

<file path=ppt/notesSlides/_rels/notesSlide4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2.xml"/><Relationship Id="rIdMaster" Type="http://schemas.openxmlformats.org/officeDocument/2006/relationships/notesMaster" Target="../notesMasters/notesMaster1.xml"/></Relationships>
</file>

<file path=ppt/notesSlides/_rels/notesSlide4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3.xml"/><Relationship Id="rIdMaster" Type="http://schemas.openxmlformats.org/officeDocument/2006/relationships/notesMaster" Target="../notesMasters/notesMaster1.xml"/></Relationships>
</file>

<file path=ppt/notesSlides/_rels/notesSlide4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4.xml"/><Relationship Id="rIdMaster" Type="http://schemas.openxmlformats.org/officeDocument/2006/relationships/notesMaster" Target="../notesMasters/notesMaster1.xml"/></Relationships>
</file>

<file path=ppt/notesSlides/_rels/notesSlide4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5.xml"/><Relationship Id="rIdMaster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task_A/grid.json and results.md in task_A through task_D.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task_A/results.md, task_B/results.md, task_C/results.md, task_D/results.md.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task_A/thresholds.csv. All values in mm over the stated duration.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task_A/thresholds.csv. All values in mm over the stated duration.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task_A/khartoum_return_levels.png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task_A/analyze.py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task_A/observed_vs_fit_summary.csv and sensitivity.csv. Upper tail uses empirical T≥5 years. Descriptive departures do not establish fit failure.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task_A/kassala_return_levels.png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task_A/analyze.py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task_A/observed_vs_fit_summary.csv and sensitivity.csv. Upper tail uses empirical T≥5 years. Descriptive departures do not establish fit failure.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task_A/gedaref_return_levels.png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task_A/analyze.py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task_A/observed_vs_fit_summary.csv and sensitivity.csv. Upper tail uses empirical T≥5 years. Descriptive departures do not establish fit failure.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task_A/el_obeid_return_levels.png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task_A/analyze.py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task_A/observed_vs_fit_summary.csv and sensitivity.csv. Upper tail uses empirical T≥5 years. Descriptive departures do not establish fit failure.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task_A/nyala_return_levels.png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task_A/analyze.py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task_A/observed_vs_fit_summary.csv and sensitivity.csv. Upper tail uses empirical T≥5 years. Descriptive departures do not establish fit failure.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task_A/regional_10yr_24hr.png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task_A/analyze.py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task_A/thresholds.csv and regional_10yr_24hr.nc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task_A/sensitivity.csv. Confidence intervals are not estimated.</a:t>
            </a:r>
            <a:endParaRPr 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task_A/sensitivity.csv. Confidence intervals are not estimated.</a:t>
            </a:r>
            <a:endParaRPr 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task_B/summary_counts.csv. Rainfall comparison uses strict &gt;. Member-days are correlated predictions.</a:t>
            </a:r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task_B/khartoum_threshold_counts.png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task_B/analyze.py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task_B/daily_member_counts.csv and summary_counts.csv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task_B/kassala_threshold_counts.png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task_B/analyze.py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task_B/daily_member_counts.csv and summary_counts.csv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task_B/gedaref_threshold_counts.png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task_B/analyze.py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task_B/daily_member_counts.csv and summary_counts.csv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task_B/el_obeid_threshold_counts.png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task_B/analyze.py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task_B/daily_member_counts.csv and summary_counts.csv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task_B/nyala_threshold_counts.png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task_B/analyze.py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task_B/daily_member_counts.csv and summary_counts.csv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task_B/five_town_threshold_comparison.png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task_B/analyze.py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task_B/daily_counts_short.csv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task_B/xclim_heavy_days.csv and summary_counts.csv. Includes 5 towns × 3 thresholds × 51 members. This table shows the fixed 20 mm threshold.</a:t>
            </a:r>
            <a:endParaRPr 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task_B/results.md and annual_vs_daily_comparison.csv. Illustrative p=1−0.5^(1/365). Ensemble member-days do not estimate observed climatological frequency.</a:t>
            </a:r>
            <a:endParaRPr 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task_C/town_signal_summary.csv. Strongest start maximizes peak count, then total counts, then earliest date.</a:t>
            </a:r>
            <a:endParaRPr lang="en-US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task_C/khartoum_heatmap.png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task_C/kassala_heatmap.png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task_C/gedaref_heatmap.png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task_C/el_obeid_heatmap.png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task_C/nyala_heatmap.png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task_C/khartoum_strongest_start_plume.png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task_C/town_signal_summary.csv and 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task_C/kassala_strongest_start_plume.png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task_C/town_signal_summary.csv and 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task_C/gedaref_strongest_start_plume.png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task_C/town_signal_summary.csv and 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task_C/el_obeid_strongest_start_plume.png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task_C/town_signal_summary.csv and 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task_C/nyala_strongest_start_plume.png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task_C/town_signal_summary.csv and daily_member_counts.csv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task_C/five_town_heatmap_comparison.png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task_C/analyze.py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task_C/town_signal_summary.csv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task_C/town_signal_summary.csv. Ties use the earliest target ending date as a deterministic example. Other tied targets remain in same_valid_day_signals.csv.</a:t>
            </a:r>
            <a:endParaRPr lang="en-US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task_C/town_signal_summary.csv and same_valid_day_signals.csv. Counts alone cannot establish why towns differ causally.</a:t>
            </a:r>
            <a:endParaRPr lang="en-US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task_C/signal_criterion_sensitivity.csv. Criteria 1/51,3/51,5/51 correspond to 1.96%,5.88%,9.80%.</a:t>
            </a:r>
            <a:endParaRPr lang="en-US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task_D/probabilities_2025-06-10.png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task_D/analyze.py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task_D/probability_summary.csv. Probability is the fraction of 51 members with rainfall &gt; the local threshold. The 20% decision requires 11 members.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task_D/probabilities_2025-07-01.png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task_D/analyze.py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task_D/probability_summary.csv. Probability is the fraction of 51 members with rainfall &gt; the local threshold. The 20% decision requires 11 members.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task_D/probabilities_2025-07-22.png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task_D/analyze.py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task_D/probability_summary.csv. Probability is the fraction of 51 members with rainfall &gt; the local threshold. The 20% decision requires 11 members.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task_D/probabilities_2025-08-12.png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task_D/analyze.py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task_D/probability_summary.csv. Probability is the fraction of 51 members with rainfall &gt; the local threshold. The 20% decision requires 11 members.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image: task_D/sampled_season_frequency.png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committed script: task_D/analyze.py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Data and interpretation: task_D/regional_hotspots.csv. All hotspots occur at day 4 of the 12 August start, ending 16 August. This is not full-season frequency.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Retain original plot units and scales. Embedded PNG preserves the original resolution.</a:t>
            </a:r>
            <a:endParaRPr lang="en-US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task_D/town_frequency.csv and regional_hotspots.csv. At each forecast pixel the rainfall threshold uses its nearest CMORPH pixel, which can differ from direct town-coordinate matching in Tasks A–C.</a:t>
            </a:r>
            <a:endParaRPr lang="en-US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task_D/read_timings.csv and results.md. Forecast chunks [1,1,51,321,261] in time,step,number,latitude,longitude. Chunk estimates are not exact HTTP request counts. Network and cache conditions affect timing.</a:t>
            </a:r>
            <a:endParaRPr lang="en-US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final task_A through task_D results.md files. No observed 2025 event verification is available.</a:t>
            </a:r>
            <a:endParaRPr lang="en-US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Specific prefixes: observations/cmorph_rp_icechunk and forecasts/ecmwf-ifs-ea-swio-realized-v3/49r1-jja2025. Every figure slide names its source file in speaker notes. Input/script hashes and Git revisions are stored in each task run_metadata.json.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5.xml"/><Relationship Id="rIdImage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6.xml"/><Relationship Id="rIdImage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7.xml"/><Relationship Id="rIdImage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8.xml"/><Relationship Id="rIdImage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9.xml"/><Relationship Id="rIdImage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0.xml"/><Relationship Id="rIdImage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4.xml"/><Relationship Id="rIdImage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5.xml"/><Relationship Id="rIdImage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6.xml"/><Relationship Id="rIdImage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7.xml"/><Relationship Id="rIdImage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8.xml"/><Relationship Id="rIdImage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9.xml"/><Relationship Id="rIdImage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3.xml"/><Relationship Id="rIdImage" Type="http://schemas.openxmlformats.org/officeDocument/2006/relationships/image" Target="../media/image23.png"/></Relationships>
</file>

<file path=ppt/slides/_rels/slide2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4.xml"/><Relationship Id="rIdImage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5.xml"/><Relationship Id="rIdImage" Type="http://schemas.openxmlformats.org/officeDocument/2006/relationships/image" Target="../media/image25.png"/></Relationships>
</file>

<file path=ppt/slides/_rels/slide2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6.xml"/><Relationship Id="rIdImage" Type="http://schemas.openxmlformats.org/officeDocument/2006/relationships/image" Target="../media/image26.png"/></Relationships>
</file>

<file path=ppt/slides/_rels/slide2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7.xml"/><Relationship Id="rIdImage" Type="http://schemas.openxmlformats.org/officeDocument/2006/relationships/image" Target="../media/image27.png"/></Relationships>
</file>

<file path=ppt/slides/_rels/slide2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8.xml"/><Relationship Id="rIdImage" Type="http://schemas.openxmlformats.org/officeDocument/2006/relationships/image" Target="../media/image28.png"/></Relationships>
</file>

<file path=ppt/slides/_rels/slide2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9.xml"/><Relationship Id="rIdImage" Type="http://schemas.openxmlformats.org/officeDocument/2006/relationships/image" Target="../media/image29.png"/></Relationships>
</file>

<file path=ppt/slides/_rels/slide3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0.xml"/><Relationship Id="rIdImage" Type="http://schemas.openxmlformats.org/officeDocument/2006/relationships/image" Target="../media/image30.png"/></Relationships>
</file>

<file path=ppt/slides/_rels/slide3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1.xml"/><Relationship Id="rIdImage" Type="http://schemas.openxmlformats.org/officeDocument/2006/relationships/image" Target="../media/image31.png"/></Relationships>
</file>

<file path=ppt/slides/_rels/slide3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2.xml"/><Relationship Id="rIdImage" Type="http://schemas.openxmlformats.org/officeDocument/2006/relationships/image" Target="../media/image32.png"/></Relationships>
</file>

<file path=ppt/slides/_rels/slide3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3.xml"/><Relationship Id="rIdImage" Type="http://schemas.openxmlformats.org/officeDocument/2006/relationships/image" Target="../media/image33.png"/></Relationships>
</file>

<file path=ppt/slides/_rels/slide3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7.xml"/><Relationship Id="rIdImage" Type="http://schemas.openxmlformats.org/officeDocument/2006/relationships/image" Target="../media/image37.png"/></Relationships>
</file>

<file path=ppt/slides/_rels/slide3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8.xml"/><Relationship Id="rIdImage" Type="http://schemas.openxmlformats.org/officeDocument/2006/relationships/image" Target="../media/image38.png"/></Relationships>
</file>

<file path=ppt/slides/_rels/slide3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9.xml"/><Relationship Id="rIdImage" Type="http://schemas.openxmlformats.org/officeDocument/2006/relationships/image" Target="../media/image39.png"/></Relationships>
</file>

<file path=ppt/slides/_rels/slide4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0.xml"/><Relationship Id="rIdImage" Type="http://schemas.openxmlformats.org/officeDocument/2006/relationships/image" Target="../media/image40.png"/></Relationships>
</file>

<file path=ppt/slides/_rels/slide4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1.xml"/><Relationship Id="rIdImage" Type="http://schemas.openxmlformats.org/officeDocument/2006/relationships/image" Target="../media/image41.png"/></Relationships>
</file>

<file path=ppt/slides/_rels/slide4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 xml:space="preserve">Rainfall extremes and forecast warning signals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B6E4E7"/>
                </a:solidFill>
                <a:latin typeface="Arial"/>
              </a:rPr>
              <a:t xml:space="preserve">Sudan towns, CMORPH observations and ECMWF ensemble forecasts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685800" y="169164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Tasks A–D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685800" y="269748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Khartoum, Kassala, Gedaref, El Obeid and Nyala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685800" y="370332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Observed reference: 1998–2024</a:t>
            </a:r>
            <a:endParaRPr lang="en-US" sz="2300"/>
          </a:p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Forecast season: June–August 2025</a:t>
            </a:r>
            <a:endParaRPr lang="en-US" sz="23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B6E4E7"/>
                </a:solidFill>
                <a:latin typeface="Arial"/>
              </a:rPr>
              <a:t xml:space="preserve"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Study design and units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Five towns from grid.json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685800" y="169164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A: 27 annual maxima at 24 h and 6 h, with 2-, 10- and 50-year return levels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685800" y="269748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B: one forecast start, 16 July 2025, with 51 members and ten daily intervals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685800" y="370332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C: 21 starts from 6–26 July 2025, with ten daily leads at every town</a:t>
            </a:r>
            <a:endParaRPr lang="en-US" sz="2300"/>
          </a:p>
        </p:txBody>
      </p:sp>
      <p:sp>
        <p:nvSpPr>
          <p:cNvPr id="13" name="Text 13"/>
          <p:cNvSpPr txBox="1"/>
          <p:nvPr/>
        </p:nvSpPr>
        <p:spPr>
          <a:xfrm>
            <a:off x="685800" y="470916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D: four seasonal starts and five daily leads, giving 20 sampled intervals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685800" y="571500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Rainfall depth: mm in 24 h. Member counts: out of 51. Probability: ensemble fraction.</a:t>
            </a:r>
            <a:endParaRPr lang="en-US" sz="23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published 24 h return levels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CMORPH 1998–2024, rainfall depth in mm accumulated over 24 h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926080"/>
                <a:gridCol w="2651760"/>
                <a:gridCol w="2651760"/>
                <a:gridCol w="265176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2-year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10-year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50-year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23.82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51.65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76.05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37.95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60.56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80.39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52.98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72.84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90.25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37.18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61.68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83.16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32.32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50.15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65.79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Published CMORPH Gumbel levels supply the thresholds used in the later tasks.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published 6 h return levels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CMORPH 1998–2024, rainfall depth in mm accumulated over 6 h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926080"/>
                <a:gridCol w="2651760"/>
                <a:gridCol w="2651760"/>
                <a:gridCol w="265176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2-year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10-year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50-year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22.32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48.71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71.85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36.21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56.53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74.34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47.33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65.85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82.08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33.98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56.08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75.46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29.12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45.98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60.77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Published CMORPH Gumbel levels supply the thresholds used in the later tasks.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observed extremes at Khartoum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27 annual maxima, 1998–2024, at 24 h and 6 h</a:t>
            </a:r>
            <a:endParaRPr lang="en-US" sz="1600"/>
          </a:p>
        </p:txBody>
      </p:sp>
      <p:pic>
        <p:nvPicPr>
          <p:cNvPr id="4" name="khartoum_return_levels.png" descr="Original scientific output: task_A/khartoum_return_level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563880" y="1417320"/>
            <a:ext cx="733043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24 h maximum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77.1 mm in 2017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Largest upper-tail departure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2006: +15.0 mm versus published curve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Remove largest year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50-year MLE changes -9.05%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observed extremes at Kassala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27 annual maxima, 1998–2024, at 24 h and 6 h</a:t>
            </a:r>
            <a:endParaRPr lang="en-US" sz="1600"/>
          </a:p>
        </p:txBody>
      </p:sp>
      <p:pic>
        <p:nvPicPr>
          <p:cNvPr id="4" name="kassala_return_levels.png" descr="Original scientific output: task_A/kassala_return_level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563880" y="1417320"/>
            <a:ext cx="733043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24 h maximum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74.3 mm in 2008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Largest upper-tail departure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2002: +7.3 mm versus published curve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Remove largest year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50-year MLE changes -5.30%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observed extremes at Gedaref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27 annual maxima, 1998–2024, at 24 h and 6 h</a:t>
            </a:r>
            <a:endParaRPr lang="en-US" sz="1600"/>
          </a:p>
        </p:txBody>
      </p:sp>
      <p:pic>
        <p:nvPicPr>
          <p:cNvPr id="4" name="gedaref_return_levels.png" descr="Original scientific output: task_A/gedaref_return_level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563880" y="1417320"/>
            <a:ext cx="733043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24 h maximum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91.0 mm in 2003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Largest upper-tail departure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2003: +7.0 mm versus published curve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Remove largest year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50-year MLE changes -3.50%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observed extremes at El Obeid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27 annual maxima, 1998–2024, at 24 h and 6 h</a:t>
            </a:r>
            <a:endParaRPr lang="en-US" sz="1600"/>
          </a:p>
        </p:txBody>
      </p:sp>
      <p:pic>
        <p:nvPicPr>
          <p:cNvPr id="4" name="el_obeid_return_levels.png" descr="Original scientific output: task_A/el_obeid_return_level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563880" y="1417320"/>
            <a:ext cx="733043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24 h maximum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68.2 mm in 1998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Largest upper-tail departure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1998: -7.3 mm versus published curve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Remove largest year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50-year MLE changes -3.14%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observed extremes at Nyala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27 annual maxima, 1998–2024, at 24 h and 6 h</a:t>
            </a:r>
            <a:endParaRPr lang="en-US" sz="1600"/>
          </a:p>
        </p:txBody>
      </p:sp>
      <p:pic>
        <p:nvPicPr>
          <p:cNvPr id="4" name="nyala_return_levels.png" descr="Original scientific output: task_A/nyala_return_level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563880" y="1417320"/>
            <a:ext cx="733043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24 h maximum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63.7 mm in 2022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Largest upper-tail departure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2011: +6.6 mm versus published curve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Remove largest year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50-year MLE changes -4.52%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regional 10-year rainfall level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Published Gumbel depths from CMORPH 1998–2024</a:t>
            </a:r>
            <a:endParaRPr lang="en-US" sz="1600"/>
          </a:p>
        </p:txBody>
      </p:sp>
      <p:pic>
        <p:nvPicPr>
          <p:cNvPr id="4" name="regional_10yr_24hr.png" descr="Original scientific output: task_A/regional_10yr_24hr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805940" y="1463040"/>
            <a:ext cx="8549639" cy="466344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Each map value is a 24-hour rainfall depth in mm.  Town thresholds vary with location. Gedaref has the highest 10-year town level: 72.84 mm.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largest-year sensitivity at 24 h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50-year rainfall estimate in mm, refitted with Gumbel maximum likelihood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1554480"/>
                <a:gridCol w="2286000"/>
                <a:gridCol w="2286000"/>
                <a:gridCol w="228600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Removed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Full MLE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Without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Change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2017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68.23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62.05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-9.05%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2008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77.46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73.35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-5.30%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2003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98.60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95.15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-3.50%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1998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91.12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88.26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-3.14%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67.86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64.80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-4.52%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Both columns use MLE. Published thresholds can differ because their original fitting estimator is unspecified. A 50-year level extrapolates beyond 27 observed years.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largest-year sensitivity at 6 h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50-year rainfall estimate in mm, refitted with Gumbel maximum likelihood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1554480"/>
                <a:gridCol w="2286000"/>
                <a:gridCol w="2286000"/>
                <a:gridCol w="228600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Removed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Full MLE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Without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Change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2006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64.70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58.96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-8.88%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2008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71.97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67.90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-5.65%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2003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85.49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82.44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-3.56%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2013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81.65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78.54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-3.82%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58.83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55.73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-5.27%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Both columns use MLE. Published thresholds can differ because their original fitting estimator is unspecified. A 50-year level extrapolates beyond 27 observed years.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12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threshold choice changes the flagged member-days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16 July 2025 start, ten daily intervals, 510 member-days per town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926080"/>
                <a:gridCol w="2651760"/>
                <a:gridCol w="2651760"/>
                <a:gridCol w="265176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Above 20 mm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Above 2-year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Above 10-year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24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9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Counts sum exceedances across members and days. They differ from the number of distinct members with at least one heavy day.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warning-threshold comparison at Khartoum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Forecast initialized 16 July 2025, daily counts out of 51 members</a:t>
            </a:r>
            <a:endParaRPr lang="en-US" sz="1600"/>
          </a:p>
        </p:txBody>
      </p:sp>
      <p:pic>
        <p:nvPicPr>
          <p:cNvPr id="4" name="khartoum_threshold_counts.png" descr="Original scientific output: task_B/khartoum_threshold_count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4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Fixed 20 mm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0 member-days above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Local 2-year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23.82 mm in 24 h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0 member-days above it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Each panel shows one threshold. Zero labels mean no member exceeds it.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warning-threshold comparison at Kassala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Forecast initialized 16 July 2025, daily counts out of 51 members</a:t>
            </a:r>
            <a:endParaRPr lang="en-US" sz="1600"/>
          </a:p>
        </p:txBody>
      </p:sp>
      <p:pic>
        <p:nvPicPr>
          <p:cNvPr id="4" name="kassala_threshold_counts.png" descr="Original scientific output: task_B/kassala_threshold_count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4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Fixed 20 mm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5 member-days above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Local 2-year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37.95 mm in 24 h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0 member-days above it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Each panel shows one threshold. Zero labels mean no member exceeds it.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15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warning-threshold comparison at Gedaref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Forecast initialized 16 July 2025, daily counts out of 51 members</a:t>
            </a:r>
            <a:endParaRPr lang="en-US" sz="1600"/>
          </a:p>
        </p:txBody>
      </p:sp>
      <p:pic>
        <p:nvPicPr>
          <p:cNvPr id="4" name="gedaref_threshold_counts.png" descr="Original scientific output: task_B/gedaref_threshold_count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4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Fixed 20 mm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24 member-days above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Local 2-year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52.98 mm in 24 h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0 member-days above it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Each panel shows one threshold. Zero labels mean no member exceeds it.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16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warning-threshold comparison at El Obeid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Forecast initialized 16 July 2025, daily counts out of 51 members</a:t>
            </a:r>
            <a:endParaRPr lang="en-US" sz="1600"/>
          </a:p>
        </p:txBody>
      </p:sp>
      <p:pic>
        <p:nvPicPr>
          <p:cNvPr id="4" name="el_obeid_threshold_counts.png" descr="Original scientific output: task_B/el_obeid_threshold_count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4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Fixed 20 mm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9 member-days above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Local 2-year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37.18 mm in 24 h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1 member-days above it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Each panel shows one threshold. Zero labels mean no member exceeds it.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17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warning-threshold comparison at Nyala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Forecast initialized 16 July 2025, daily counts out of 51 members</a:t>
            </a:r>
            <a:endParaRPr lang="en-US" sz="1600"/>
          </a:p>
        </p:txBody>
      </p:sp>
      <p:pic>
        <p:nvPicPr>
          <p:cNvPr id="4" name="nyala_threshold_counts.png" descr="Original scientific output: task_B/nyala_threshold_counts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49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Fixed 20 mm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8 member-days above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Local 2-year level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32.32 mm in 24 h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 member-days above it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Each panel shows one threshold. Zero labels mean no member exceeds it.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18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all five towns and all three thresholds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Overview of exact daily member counts for the 16 July 2025 start</a:t>
            </a:r>
            <a:endParaRPr lang="en-US" sz="1600"/>
          </a:p>
        </p:txBody>
      </p:sp>
      <p:pic>
        <p:nvPicPr>
          <p:cNvPr id="4" name="five_town_threshold_comparison.png" descr="Original scientific output: task_B/five_town_threshold_comparison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533048" y="1417320"/>
            <a:ext cx="5392102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Gedaref has 24 member-days above 20 mm, the largest fixed-threshold count.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El Obeid has one and Nyala has two member-days above their 2-year levels.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No town exceeds its 10-year level. Individual town slides show the detail.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19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xclim heavy-rain-day counts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Threshold ≥20 mm in 24 h, measured within the ten-day forecast window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56616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Members ≥1 day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Mean days/member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0/51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0.000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5/51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0.098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22/51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0.471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7/51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0.176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7/51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0.157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xclim wetdays includes equality (≥). Daily exceedance plots use strict &gt;. All 765 member-level xclim counts match direct counts.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20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annual return levels and daily warning thresholds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Annual exceedance probability and daily probability answer different questions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685800" y="169164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A fitted 2-year annual level has a 50% chance of at least one exceedance in a year.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685800" y="269748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Independent, identical days would imply a daily probability of 0.190%. Rainfall seasonality and dependence limit that illustration.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685800" y="370332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In this forecast, 2-year exceedances total one member-day at El Obeid and two at Nyala.</a:t>
            </a:r>
            <a:endParaRPr lang="en-US" sz="2300"/>
          </a:p>
        </p:txBody>
      </p:sp>
      <p:sp>
        <p:nvSpPr>
          <p:cNvPr id="13" name="Text 13"/>
          <p:cNvSpPr txBox="1"/>
          <p:nvPr/>
        </p:nvSpPr>
        <p:spPr>
          <a:xfrm>
            <a:off x="685800" y="470916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Impact records and forecast verification are needed to choose an operational warning threshold.</a:t>
            </a:r>
            <a:endParaRPr lang="en-US" sz="23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21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forecast signals across 21 starts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6–26 July 2025, days 1–10, local 2-year 24 h levels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560320"/>
                <a:gridCol w="2286000"/>
                <a:gridCol w="3108960"/>
                <a:gridCol w="292608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Peak members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Strongest start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Starts with signal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3/51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19/21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2/51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2025-07-23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1/51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4/51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2025-07-07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12/21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4/51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2025-07-07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Default exploratory signal: at least one member above the rainfall level. One of 51 members is only 1.96%.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22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signal history at Khartoum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Rows are initialization dates, columns are daily forecast leads</a:t>
            </a:r>
            <a:endParaRPr lang="en-US" sz="1600"/>
          </a:p>
        </p:txBody>
      </p:sp>
      <p:pic>
        <p:nvPicPr>
          <p:cNvPr id="4" name="khartoum_heatmap.png" descr="Original scientific output: task_C/khartoum_heatmap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50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19 of 21 starts show at least one signal.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daily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3/51 members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Shared color scale across towns. Pale cells are zero. Gray indicates unavailable forecasts.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23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signal history at Kassala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Rows are initialization dates, columns are daily forecast leads</a:t>
            </a:r>
            <a:endParaRPr lang="en-US" sz="1600"/>
          </a:p>
        </p:txBody>
      </p:sp>
      <p:pic>
        <p:nvPicPr>
          <p:cNvPr id="4" name="kassala_heatmap.png" descr="Original scientific output: task_C/kassala_heatmap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50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10 of 21 starts show at least one signal.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daily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2/51 members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Shared color scale across towns. Pale cells are zero. Gray indicates unavailable forecasts.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24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signal history at Gedaref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Rows are initialization dates, columns are daily forecast leads</a:t>
            </a:r>
            <a:endParaRPr lang="en-US" sz="1600"/>
          </a:p>
        </p:txBody>
      </p:sp>
      <p:pic>
        <p:nvPicPr>
          <p:cNvPr id="4" name="gedaref_heatmap.png" descr="Original scientific output: task_C/gedaref_heatmap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50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 of 21 starts show at least one signal.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daily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1/51 members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Shared color scale across towns. Pale cells are zero. Gray indicates unavailable forecasts.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25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signal history at El Obeid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Rows are initialization dates, columns are daily forecast leads</a:t>
            </a:r>
            <a:endParaRPr lang="en-US" sz="1600"/>
          </a:p>
        </p:txBody>
      </p:sp>
      <p:pic>
        <p:nvPicPr>
          <p:cNvPr id="4" name="el_obeid_heatmap.png" descr="Original scientific output: task_C/el_obeid_heatmap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50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12 of 21 starts show at least one signal.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daily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4/51 members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Shared color scale across towns. Pale cells are zero. Gray indicates unavailable forecasts.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26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signal history at Nyala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Rows are initialization dates, columns are daily forecast leads</a:t>
            </a:r>
            <a:endParaRPr lang="en-US" sz="1600"/>
          </a:p>
        </p:txBody>
      </p:sp>
      <p:pic>
        <p:nvPicPr>
          <p:cNvPr id="4" name="nyala_heatmap.png" descr="Original scientific output: task_C/nyala_heatmap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057275" y="1417320"/>
            <a:ext cx="6343650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20 of 21 starts show at least one signal.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daily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4/51 members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Shared color scale across towns. Pale cells are zero. Gray indicates unavailable forecasts.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27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strongest forecast at Khartoum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Start 2025-07-21, daily rainfall and exceedance counts</a:t>
            </a:r>
            <a:endParaRPr lang="en-US" sz="1600"/>
          </a:p>
        </p:txBody>
      </p:sp>
      <p:pic>
        <p:nvPicPr>
          <p:cNvPr id="4" name="khartoum_strongest_start_plume.png" descr="Original scientific output: task_C/khartoum_strongest_start_plume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740092" y="1417320"/>
            <a:ext cx="6978015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3/51 members above the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Blue traces show member rainfall in mm in 24 h. Black shows the ensemble mean.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The lower panel gives daily counts and the ending dates of the 24-hour intervals.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28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strongest forecast at Kassala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Start 2025-07-23, daily rainfall and exceedance counts</a:t>
            </a:r>
            <a:endParaRPr lang="en-US" sz="1600"/>
          </a:p>
        </p:txBody>
      </p:sp>
      <p:pic>
        <p:nvPicPr>
          <p:cNvPr id="4" name="kassala_strongest_start_plume.png" descr="Original scientific output: task_C/kassala_strongest_start_plume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740092" y="1417320"/>
            <a:ext cx="6978015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2/51 members above the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Blue traces show member rainfall in mm in 24 h. Black shows the ensemble mean.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The lower panel gives daily counts and the ending dates of the 24-hour intervals.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29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strongest forecast at Gedaref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Start 2025-07-20, daily rainfall and exceedance counts</a:t>
            </a:r>
            <a:endParaRPr lang="en-US" sz="1600"/>
          </a:p>
        </p:txBody>
      </p:sp>
      <p:pic>
        <p:nvPicPr>
          <p:cNvPr id="4" name="gedaref_strongest_start_plume.png" descr="Original scientific output: task_C/gedaref_strongest_start_plume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740092" y="1417320"/>
            <a:ext cx="6978015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1/51 members above the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Blue traces show member rainfall in mm in 24 h. Black shows the ensemble mean.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The lower panel gives daily counts and the ending dates of the 24-hour intervals.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30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strongest forecast at El Obeid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Start 2025-07-07, daily rainfall and exceedance counts</a:t>
            </a:r>
            <a:endParaRPr lang="en-US" sz="1600"/>
          </a:p>
        </p:txBody>
      </p:sp>
      <p:pic>
        <p:nvPicPr>
          <p:cNvPr id="4" name="el_obeid_strongest_start_plume.png" descr="Original scientific output: task_C/el_obeid_strongest_start_plume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740092" y="1417320"/>
            <a:ext cx="6978015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4/51 members above the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Blue traces show member rainfall in mm in 24 h. Black shows the ensemble mean.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The lower panel gives daily counts and the ending dates of the 24-hour intervals.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31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strongest forecast at Nyala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Start 2025-07-07, daily rainfall and exceedance counts</a:t>
            </a:r>
            <a:endParaRPr lang="en-US" sz="1600"/>
          </a:p>
        </p:txBody>
      </p:sp>
      <p:pic>
        <p:nvPicPr>
          <p:cNvPr id="4" name="nyala_strongest_start_plume.png" descr="Original scientific output: task_C/nyala_strongest_start_plume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740092" y="1417320"/>
            <a:ext cx="6978015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Peak count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4/51 members above the threshold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Blue traces show member rainfall in mm in 24 h. Black shows the ensemble mean.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The lower panel gives daily counts and the ending dates of the 24-hour intervals.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32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five-town signal overview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Shared count scale across the 21 initialization dates</a:t>
            </a:r>
            <a:endParaRPr lang="en-US" sz="1600"/>
          </a:p>
        </p:txBody>
      </p:sp>
      <p:pic>
        <p:nvPicPr>
          <p:cNvPr id="4" name="five_town_heatmap_comparison.png" descr="Original scientific output: task_C/five_town_heatmap_comparison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966651" y="1417320"/>
            <a:ext cx="6524897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Nyala shows a signal in 20 of 21 starts.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Gedaref shows a signal in 2 of 21 starts.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A signal in many starts differs from repeated signals for the same target day.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33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earliest signals refer to specific target days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The 24-hour target interval ends on the date shown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560320"/>
                <a:gridCol w="1828800"/>
                <a:gridCol w="3246120"/>
                <a:gridCol w="324612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Lead days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Issued on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Target ends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2025-07-12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2025-07-22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2025-07-07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2025-07-17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Four towns tie at ten days, the forecast horizon. Different target days prevent a unique ranking of one common event.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34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Nyala has the longest same-target signal streak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A streak requires consecutive starts signaling the same valid 24-hour interval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148840"/>
                <a:gridCol w="2148840"/>
                <a:gridCol w="2194560"/>
                <a:gridCol w="2194560"/>
                <a:gridCol w="219456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7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Consecutive starts</a:t>
                      </a:r>
                      <a:endParaRPr lang="en-US" sz="17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First start</a:t>
                      </a:r>
                      <a:endParaRPr lang="en-US" sz="17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Last start</a:t>
                      </a:r>
                      <a:endParaRPr lang="en-US" sz="17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Target ends</a:t>
                      </a:r>
                      <a:endParaRPr lang="en-US" sz="17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2025-07-07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2025-07-09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2025-07-16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2025-07-24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2025-07-25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2025-07-28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2025-07-20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2025-07-20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2025-07-28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2025-07-06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2025-07-07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2025-07-12</a:t>
                      </a:r>
                      <a:endParaRPr lang="en-US" sz="17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2025-07-07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2025-07-11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7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2025-07-17</a:t>
                      </a:r>
                      <a:endParaRPr lang="en-US" sz="17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Nyala’s 7–11 July starts target the interval ending 17 July. Boundary targets have fewer available starts, which limits comparisons.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35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stronger signal criteria reduce the number of flagged starts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Starts with at least one daily interval meeting the member criterion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926080"/>
                <a:gridCol w="2651760"/>
                <a:gridCol w="2651760"/>
                <a:gridCol w="265176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≥1 member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≥3 members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≥5 members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19/21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12/21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0/21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0/21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No town reaches five members. Threshold depth, predicted rainfall and ensemble spread jointly affect these weak signals.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36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regional probabilities for 2025-06-10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Five daily leads, local 2-year 24 h threshold at each forecast pixel</a:t>
            </a:r>
            <a:endParaRPr lang="en-US" sz="1600"/>
          </a:p>
        </p:txBody>
      </p:sp>
      <p:pic>
        <p:nvPicPr>
          <p:cNvPr id="4" name="probabilities_2025-06-10.png" descr="Original scientific output: task_D/probabilities_2025-06-10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417320" y="1463040"/>
            <a:ext cx="9326880" cy="466344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Peak probability: 1.96%. Pixel-intervals reaching 20%: 0. All five towns appear on every map.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37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regional probabilities for 2025-07-01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Five daily leads, local 2-year 24 h threshold at each forecast pixel</a:t>
            </a:r>
            <a:endParaRPr lang="en-US" sz="1600"/>
          </a:p>
        </p:txBody>
      </p:sp>
      <p:pic>
        <p:nvPicPr>
          <p:cNvPr id="4" name="probabilities_2025-07-01.png" descr="Original scientific output: task_D/probabilities_2025-07-01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417320" y="1463040"/>
            <a:ext cx="9326880" cy="466344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Peak probability: 9.80%. Pixel-intervals reaching 20%: 0. All five towns appear on every map.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38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regional probabilities for 2025-07-22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Five daily leads, local 2-year 24 h threshold at each forecast pixel</a:t>
            </a:r>
            <a:endParaRPr lang="en-US" sz="1600"/>
          </a:p>
        </p:txBody>
      </p:sp>
      <p:pic>
        <p:nvPicPr>
          <p:cNvPr id="4" name="probabilities_2025-07-22.png" descr="Original scientific output: task_D/probabilities_2025-07-22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417320" y="1463040"/>
            <a:ext cx="9326880" cy="466344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Peak probability: 13.73%. Pixel-intervals reaching 20%: 0. All five towns appear on every map.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39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regional probabilities for 2025-08-12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Five daily leads, local 2-year 24 h threshold at each forecast pixel</a:t>
            </a:r>
            <a:endParaRPr lang="en-US" sz="1600"/>
          </a:p>
        </p:txBody>
      </p:sp>
      <p:pic>
        <p:nvPicPr>
          <p:cNvPr id="4" name="probabilities_2025-08-12.png" descr="Original scientific output: task_D/probabilities_2025-08-12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417320" y="1463040"/>
            <a:ext cx="9326880" cy="466344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Peak probability: 31.37%. Pixel-intervals reaching 20%: 12. All five towns appear on every map.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40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frequency across the sampled seasonal forecasts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Four starts and five daily leads give 20 sampled intervals</a:t>
            </a:r>
            <a:endParaRPr lang="en-US" sz="1600"/>
          </a:p>
        </p:txBody>
      </p:sp>
      <p:pic>
        <p:nvPicPr>
          <p:cNvPr id="4" name="sampled_season_frequency.png" descr="Original scientific output: task_D/sampled_season_frequency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365760" y="2290812"/>
            <a:ext cx="11430000" cy="3007894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Twelve regional pixels reach 20% once each. Maximum sampled frequency is 1/20, or 5%.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41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none of the five town pixels reaches 20%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Regional hotspots lie away from the selected town pixels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834640"/>
                <a:gridCol w="2834640"/>
                <a:gridCol w="2286000"/>
                <a:gridCol w="292608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Intervals ≥20%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Available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Peak probability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1.96%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0.00%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0.00%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0.00%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1.96%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Regional peak probability reaches 16/51 = 31.37%. The sampled frequency map and the town table describe different spatial locations.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42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pan chunks make regional maps efficient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One forecast chunk contains one start and lead, all 51 members, and a broad spatial map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2606039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56616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Start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Original cloud read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Storage chunks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2025-06-10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37.43 s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6.0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19.49 s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6.0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21.14 s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6.0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2025-08-12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34.88 s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6.0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Six cumulative endpoints produce five daily maps. CMORPH threshold read: 10.84 s and one chunk. Local cache timings measure a different operation.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43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Conclusions and limits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Observed extremes and forecast signals provide complementary evidence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685800" y="169164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A: local thresholds vary substantially, and removing one large year changes extrapolated return levels.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685800" y="269748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B: 20 mm captures more member-day exceedances than the local annual return levels.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685800" y="370332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C: Nyala has the most persistent weak signal for one target interval. No town reaches a five-member signal.</a:t>
            </a:r>
            <a:endParaRPr lang="en-US" sz="2300"/>
          </a:p>
        </p:txBody>
      </p:sp>
      <p:sp>
        <p:nvSpPr>
          <p:cNvPr id="13" name="Text 13"/>
          <p:cNvSpPr txBox="1"/>
          <p:nvPr/>
        </p:nvSpPr>
        <p:spPr>
          <a:xfrm>
            <a:off x="685800" y="470916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D: twelve regional pixels reach 20% in one sampled interval, while all five town pixels remain below 20%.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685800" y="571500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Observed 2025 rainfall and impacts are required to verify events and assess warning performance.</a:t>
            </a:r>
            <a:endParaRPr lang="en-US" sz="23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44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Data sources and reproducibility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All 28 final output figures appear in this deck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685800" y="169164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CMORPH annual maxima and Gumbel return levels, 1998–2024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685800" y="269748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ECMWF ensemble forecast store, 49r1-jja2025, with 51 members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685800" y="370332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Town coordinates and bounds: grid.json in each final task folder</a:t>
            </a:r>
            <a:endParaRPr lang="en-US" sz="2300"/>
          </a:p>
        </p:txBody>
      </p:sp>
      <p:sp>
        <p:nvSpPr>
          <p:cNvPr id="13" name="Text 13"/>
          <p:cNvSpPr txBox="1"/>
          <p:nvPr/>
        </p:nvSpPr>
        <p:spPr>
          <a:xfrm>
            <a:off x="685800" y="470916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Generating scripts and reports: task_A, task_B, task_C and task_D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685800" y="571500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17334A"/>
                </a:solidFill>
                <a:latin typeface="Arial"/>
              </a:rPr>
              <a:t xml:space="preserve">Public store: data.source.coop/e4drr-project. Workshop examples: github.com/icpac-igad/python-workshop</a:t>
            </a:r>
            <a:endParaRPr lang="en-US" sz="23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45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>
  <Application>Open XML presentation</Application>
  <PresentationFormat>On-screen Show (16:9)</PresentationFormat>
  <Slides>45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Sudan rainfall extremes and forecast warning signals</dc:title>
  <dc:creator>Workshop analysis</dc:creator>
</cp:coreProperties>
</file>