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embedTrueTypeFonts="1" autoCompressPictures="0">
  <p:sldMasterIdLst>
    <p:sldMasterId id="2147483648" r:id="rId1"/>
  </p:sldMasterIdLst>
  <p:notesMasterIdLst>
    <p:notesMasterId r:id="rId28"/>
  </p:notesMasterIdLst>
  <p:sldIdLst>
    <p:sldId id="501" r:id="rIdContent1"/>
    <p:sldId id="502" r:id="rIdContent2"/>
    <p:sldId id="503" r:id="rIdContent3"/>
    <p:sldId id="504" r:id="rIdContent4"/>
    <p:sldId id="505" r:id="rIdContent5"/>
    <p:sldId id="506" r:id="rIdContent6"/>
    <p:sldId id="507" r:id="rIdContent7"/>
    <p:sldId id="508" r:id="rIdContent8"/>
    <p:sldId id="509" r:id="rIdContent9"/>
    <p:sldId id="510" r:id="rIdContent10"/>
    <p:sldId id="511" r:id="rIdContent11"/>
    <p:sldId id="512" r:id="rIdContent12"/>
    <p:sldId id="513" r:id="rIdContent13"/>
    <p:sldId id="514" r:id="rIdContent14"/>
    <p:sldId id="515" r:id="rIdContent15"/>
  </p:sldIdLst>
  <p:sldSz cx="12192000" cy="6858000"/>
  <p:notesSz cx="6858000" cy="9144000"/>
  <p:embeddedFontLst>
    <p:embeddedFont>
      <p:font typeface="OpenAI Sans" panose="020B0004030202060203" pitchFamily="34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94658"/>
  </p:normalViewPr>
  <p:slideViewPr>
    <p:cSldViewPr snapToGrid="0">
      <p:cViewPr varScale="1">
        <p:scale>
          <a:sx n="116" d="100"/>
          <a:sy n="116" d="100"/>
        </p:scale>
        <p:origin x="680" y="176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?>
<ns0:Relationships xmlns:ns0="http://schemas.openxmlformats.org/package/2006/relationships"><ns0:Relationship Id="rId34" Type="http://schemas.openxmlformats.org/officeDocument/2006/relationships/viewProps" Target="viewProps.xml" /><ns0:Relationship Id="rId33" Type="http://schemas.openxmlformats.org/officeDocument/2006/relationships/presProps" Target="presProps.xml" /><ns0:Relationship Id="rId29" Type="http://schemas.openxmlformats.org/officeDocument/2006/relationships/font" Target="fonts/font1.fntdata" /><ns0:Relationship Id="rId1" Type="http://schemas.openxmlformats.org/officeDocument/2006/relationships/slideMaster" Target="slideMasters/slideMaster1.xml" /><ns0:Relationship Id="rId32" Type="http://schemas.openxmlformats.org/officeDocument/2006/relationships/font" Target="fonts/font4.fntdata" /><ns0:Relationship Id="rId28" Type="http://schemas.openxmlformats.org/officeDocument/2006/relationships/notesMaster" Target="notesMasters/notesMaster1.xml" /><ns0:Relationship Id="rId36" Type="http://schemas.openxmlformats.org/officeDocument/2006/relationships/tableStyles" Target="tableStyles.xml" /><ns0:Relationship Id="rId31" Type="http://schemas.openxmlformats.org/officeDocument/2006/relationships/font" Target="fonts/font3.fntdata" /><ns0:Relationship Id="rId30" Type="http://schemas.openxmlformats.org/officeDocument/2006/relationships/font" Target="fonts/font2.fntdata" /><ns0:Relationship Id="rId35" Type="http://schemas.openxmlformats.org/officeDocument/2006/relationships/theme" Target="theme/theme1.xml" /><ns0:Relationship Id="rIdContent1" Type="http://schemas.openxmlformats.org/officeDocument/2006/relationships/slide" Target="slides/slide1.xml" /><ns0:Relationship Id="rIdContent2" Type="http://schemas.openxmlformats.org/officeDocument/2006/relationships/slide" Target="slides/slide2.xml" /><ns0:Relationship Id="rIdContent3" Type="http://schemas.openxmlformats.org/officeDocument/2006/relationships/slide" Target="slides/slide3.xml" /><ns0:Relationship Id="rIdContent4" Type="http://schemas.openxmlformats.org/officeDocument/2006/relationships/slide" Target="slides/slide4.xml" /><ns0:Relationship Id="rIdContent5" Type="http://schemas.openxmlformats.org/officeDocument/2006/relationships/slide" Target="slides/slide5.xml" /><ns0:Relationship Id="rIdContent6" Type="http://schemas.openxmlformats.org/officeDocument/2006/relationships/slide" Target="slides/slide6.xml" /><ns0:Relationship Id="rIdContent7" Type="http://schemas.openxmlformats.org/officeDocument/2006/relationships/slide" Target="slides/slide7.xml" /><ns0:Relationship Id="rIdContent8" Type="http://schemas.openxmlformats.org/officeDocument/2006/relationships/slide" Target="slides/slide8.xml" /><ns0:Relationship Id="rIdContent9" Type="http://schemas.openxmlformats.org/officeDocument/2006/relationships/slide" Target="slides/slide9.xml" /><ns0:Relationship Id="rIdContent10" Type="http://schemas.openxmlformats.org/officeDocument/2006/relationships/slide" Target="slides/slide10.xml" /><ns0:Relationship Id="rIdContent11" Type="http://schemas.openxmlformats.org/officeDocument/2006/relationships/slide" Target="slides/slide11.xml" /><ns0:Relationship Id="rIdContent12" Type="http://schemas.openxmlformats.org/officeDocument/2006/relationships/slide" Target="slides/slide12.xml" /><ns0:Relationship Id="rIdContent13" Type="http://schemas.openxmlformats.org/officeDocument/2006/relationships/slide" Target="slides/slide13.xml" /><ns0:Relationship Id="rIdContent14" Type="http://schemas.openxmlformats.org/officeDocument/2006/relationships/slide" Target="slides/slide14.xml" /><ns0:Relationship Id="rIdContent15" Type="http://schemas.openxmlformats.org/officeDocument/2006/relationships/slide" Target="slides/slide15.xml" /></ns0: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A3-C54F-BF62-FEFA3B708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A3-C54F-BF62-FEFA3B7088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ED-7F48-B4D5-DDD31BB1F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ED-7F48-B4D5-DDD31BB1F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3176846567900986"/>
          <c:h val="5.00599254305535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.xml"/><Relationship Id="rIdMaster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.xml"/><Relationship Id="rIdMaster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.xml"/><Relationship Id="rIdMaster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.xml"/><Relationship Id="rIdMaster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5.xml"/><Relationship Id="rIdMaster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6.xml"/><Relationship Id="rIdMaster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7.xml"/><Relationship Id="rIdMaster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8.xml"/><Relationship Id="rIdMaster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9.xml"/><Relationship Id="rIdMaster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0.xml"/><Relationship Id="rIdMaster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1.xml"/><Relationship Id="rIdMaster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2.xml"/><Relationship Id="rIdMaster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3.xml"/><Relationship Id="rIdMaster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4.xml"/><Relationship Id="rIdMaster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5.xml"/><Relationship Id="rIdMaster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All content comes from final task_A through task_D outputs. The 15-slide deck retains all 28 output PNGs.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task_A/grid.json, regional_10yr_24hr.png and results.md. The forecast latitude descends and CMORPH latitude ascends. Both domains cover the towns.</a:t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figures: task_A/khartoum_return_levels.png, task_A/kassala_return_levels.png, task_A/gedaref_return_levels.png, task_A/el_obeid_return_levels.png, task_A/nyala_return_levels.png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scripts and reports: task_A through task_D. Original PNGs retain full resolution. Grouped slides provide overview; zoom into individual figures for detailed labels.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task_A/thresholds.csv and sensitivity.csv. Original 6 h comparisons appear in the previous slide’s five source figures. The published estimator is unspecified; sensitivity compares consistent MLE fits.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task_B/five_town_threshold_comparison.png and summary_counts.csv. Counts use strict &gt;.</a:t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figures: task_B/khartoum_threshold_counts.png, task_B/kassala_threshold_counts.png, task_B/gedaref_threshold_counts.png, task_B/el_obeid_threshold_counts.png, task_B/nyala_threshold_counts.png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scripts and reports: task_A through task_D. Original PNGs retain full resolution. Grouped slides provide overview; zoom into individual figures for detailed labels.</a:t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task_B/summary_counts.csv and results.md. All 765 xclim counts match direct counts. Member-days are correlated predictions; they do not estimate observed climatological frequency.</a:t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Source: task_C/five_town_heatmap_comparison.png and town_signal_summary.csv. Shared integer scale. Pale is zero and gray unavailable.</a:t>
            </a:r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figures: task_C/khartoum_heatmap.png, task_C/kassala_heatmap.png, task_C/gedaref_heatmap.png, task_C/el_obeid_heatmap.png, task_C/nyala_heatmap.png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scripts and reports: task_A through task_D. Original PNGs retain full resolution. Grouped slides provide overview; zoom into individual figures for detailed labels.</a:t>
            </a:r>
            <a:endParaRPr 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figures: task_C/khartoum_strongest_start_plume.png, task_C/kassala_strongest_start_plume.png, task_C/gedaref_strongest_start_plume.png, task_C/el_obeid_strongest_start_plume.png, task_C/nyala_strongest_start_plume.png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scripts and reports: task_A through task_D. Original PNGs retain full resolution. Grouped slides provide overview; zoom into individual figures for detailed labels.</a:t>
            </a:r>
            <a:endParaRPr 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task_C/town_signal_summary.csv and signal_criterion_sensitivity.csv. The Target ends column refers to the longest signal streak; Lead days refers to the earliest-lead example, which may target a different interval. No observed 2025 rainfall is available for event verification.</a:t>
            </a:r>
            <a:endParaRPr 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figures: task_D/probabilities_2025-06-10.png, task_D/probabilities_2025-07-01.png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scripts and reports: task_A through task_D. Original PNGs retain full resolution. Grouped slides provide overview; zoom into individual figures for detailed labels.</a:t>
            </a:r>
            <a:endParaRPr 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 figures: task_D/probabilities_2025-07-22.png, task_D/probabilities_2025-08-12.png</a:t>
            </a:r>
            <a:endParaRPr lang="en-US" sz="1200"/>
          </a:p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Generating scripts and reports: task_A through task_D. Original PNGs retain full resolution. Grouped slides provide overview; zoom into individual figures for detailed labels.</a:t>
            </a:r>
            <a:endParaRPr 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task_D/sampled_season_frequency.png, town_frequency.csv and regional_hotspots.csv. These samples do not cover every JJA day. A forecast pixel uses its nearest CMORPH threshold pixel, which can differ from direct town-coordinate selection in A–C.</a:t>
            </a:r>
            <a:endParaRPr 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 notes"/>
          <p:cNvSpPr/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>
                <a:solidFill>
                  <a:srgbClr val="17334A"/>
                </a:solidFill>
                <a:latin typeface="Arial"/>
              </a:rPr>
              <a:t xml:space="preserve">Sources: task_D/read_timings.csv, results.md and task_A through task_C reports. Forecast chunk shape [1,1,51,321,261]. Measurements include transfer, decode and compute. Data: data.source.coop/e4drr-project. Examples: github.com/icpac-igad/python-workshop. All 28 final scientific PNGs appear in this deck.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2.xml"/><Relationship Id="rIdImage" Type="http://schemas.openxmlformats.org/officeDocument/2006/relationships/image" Target="../media/image2_0.png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3.xml"/><Relationship Id="rIdImage0" Type="http://schemas.openxmlformats.org/officeDocument/2006/relationships/image" Target="../media/image3_0.png"/><Relationship Id="rIdImage1" Type="http://schemas.openxmlformats.org/officeDocument/2006/relationships/image" Target="../media/image3_1.png"/><Relationship Id="rIdImage2" Type="http://schemas.openxmlformats.org/officeDocument/2006/relationships/image" Target="../media/image3_2.png"/><Relationship Id="rIdImage3" Type="http://schemas.openxmlformats.org/officeDocument/2006/relationships/image" Target="../media/image3_3.png"/><Relationship Id="rIdImage4" Type="http://schemas.openxmlformats.org/officeDocument/2006/relationships/image" Target="../media/image3_4.png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5.xml"/><Relationship Id="rIdImage" Type="http://schemas.openxmlformats.org/officeDocument/2006/relationships/image" Target="../media/image5_0.png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6.xml"/><Relationship Id="rIdImage0" Type="http://schemas.openxmlformats.org/officeDocument/2006/relationships/image" Target="../media/image6_0.png"/><Relationship Id="rIdImage1" Type="http://schemas.openxmlformats.org/officeDocument/2006/relationships/image" Target="../media/image6_1.png"/><Relationship Id="rIdImage2" Type="http://schemas.openxmlformats.org/officeDocument/2006/relationships/image" Target="../media/image6_2.png"/><Relationship Id="rIdImage3" Type="http://schemas.openxmlformats.org/officeDocument/2006/relationships/image" Target="../media/image6_3.png"/><Relationship Id="rIdImage4" Type="http://schemas.openxmlformats.org/officeDocument/2006/relationships/image" Target="../media/image6_4.png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8.xml"/><Relationship Id="rIdImage" Type="http://schemas.openxmlformats.org/officeDocument/2006/relationships/image" Target="../media/image8_0.png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9.xml"/><Relationship Id="rIdImage0" Type="http://schemas.openxmlformats.org/officeDocument/2006/relationships/image" Target="../media/image9_0.png"/><Relationship Id="rIdImage1" Type="http://schemas.openxmlformats.org/officeDocument/2006/relationships/image" Target="../media/image9_1.png"/><Relationship Id="rIdImage2" Type="http://schemas.openxmlformats.org/officeDocument/2006/relationships/image" Target="../media/image9_2.png"/><Relationship Id="rIdImage3" Type="http://schemas.openxmlformats.org/officeDocument/2006/relationships/image" Target="../media/image9_3.png"/><Relationship Id="rIdImage4" Type="http://schemas.openxmlformats.org/officeDocument/2006/relationships/image" Target="../media/image9_4.png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0.xml"/><Relationship Id="rIdImage0" Type="http://schemas.openxmlformats.org/officeDocument/2006/relationships/image" Target="../media/image10_0.png"/><Relationship Id="rIdImage1" Type="http://schemas.openxmlformats.org/officeDocument/2006/relationships/image" Target="../media/image10_1.png"/><Relationship Id="rIdImage2" Type="http://schemas.openxmlformats.org/officeDocument/2006/relationships/image" Target="../media/image10_2.png"/><Relationship Id="rIdImage3" Type="http://schemas.openxmlformats.org/officeDocument/2006/relationships/image" Target="../media/image10_3.png"/><Relationship Id="rIdImage4" Type="http://schemas.openxmlformats.org/officeDocument/2006/relationships/image" Target="../media/image10_4.png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2.xml"/><Relationship Id="rIdImage0" Type="http://schemas.openxmlformats.org/officeDocument/2006/relationships/image" Target="../media/image12_0.png"/><Relationship Id="rIdImage1" Type="http://schemas.openxmlformats.org/officeDocument/2006/relationships/image" Target="../media/image12_1.png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3.xml"/><Relationship Id="rIdImage0" Type="http://schemas.openxmlformats.org/officeDocument/2006/relationships/image" Target="../media/image13_0.png"/><Relationship Id="rIdImage1" Type="http://schemas.openxmlformats.org/officeDocument/2006/relationships/image" Target="../media/image13_1.png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4.xml"/><Relationship Id="rIdImage" Type="http://schemas.openxmlformats.org/officeDocument/2006/relationships/image" Target="../media/image14_0.png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8.xml"/><Relationship Id="rIdNotes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4200" b="1">
                <a:solidFill>
                  <a:srgbClr val="FFFFFF"/>
                </a:solidFill>
                <a:latin typeface="Arial"/>
              </a:rPr>
              <a:t xml:space="preserve">Sudan rainfall extremes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B6E4E7"/>
                </a:solidFill>
                <a:latin typeface="Arial"/>
              </a:rPr>
              <a:t xml:space="preserve">Observed thresholds and ensemble forecast signals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685800" y="169164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FFFFFF"/>
                </a:solidFill>
                <a:latin typeface="Arial"/>
              </a:rPr>
              <a:t xml:space="preserve">Five towns from grid.json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685800" y="269748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FFFFFF"/>
                </a:solidFill>
                <a:latin typeface="Arial"/>
              </a:rPr>
              <a:t xml:space="preserve">Tasks A–D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685800" y="3703320"/>
            <a:ext cx="1078992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0">
                <a:solidFill>
                  <a:srgbClr val="FFFFFF"/>
                </a:solidFill>
                <a:latin typeface="Arial"/>
              </a:rPr>
              <a:t xml:space="preserve">CMORPH: 1998–2024</a:t>
            </a:r>
            <a:endParaRPr lang="en-US" sz="2300"/>
          </a:p>
          <a:p>
            <a:pPr algn="l"/>
            <a:r>
              <a:rPr lang="en-US" sz="2300" b="0">
                <a:solidFill>
                  <a:srgbClr val="FFFFFF"/>
                </a:solidFill>
                <a:latin typeface="Arial"/>
              </a:rPr>
              <a:t xml:space="preserve">ECMWF ensemble: June–August 2025</a:t>
            </a:r>
            <a:endParaRPr lang="en-US" sz="23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B6E4E7"/>
                </a:solidFill>
                <a:latin typeface="Arial"/>
              </a:rPr>
              <a:t xml:space="preserve"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Five towns and the observed rainfall reference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Task A regional 10-year level, in mm accumulated over 24 h</a:t>
            </a:r>
            <a:endParaRPr lang="en-US" sz="1600"/>
          </a:p>
        </p:txBody>
      </p:sp>
      <p:pic>
        <p:nvPicPr>
          <p:cNvPr id="4" name="regional_10yr_24hr.png" descr="Original scientific output: task_A/regional_10yr_24hr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805940" y="1463040"/>
            <a:ext cx="8549639" cy="466344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548640" y="628192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0">
                <a:solidFill>
                  <a:srgbClr val="506471"/>
                </a:solidFill>
                <a:latin typeface="Arial"/>
              </a:rPr>
              <a:t xml:space="preserve">CMORPH annual maxima: 1998–2024, 27 years. Five town coordinates from grid.json.</a:t>
            </a:r>
            <a:endParaRPr lang="en-US" sz="15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observed extremes at every town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Annual maxima and fitted return levels for 24 h and 6 h</a:t>
            </a:r>
            <a:endParaRPr lang="en-US" sz="16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3</a:t>
            </a:r>
            <a:endParaRPr lang="en-US" sz="1100"/>
          </a:p>
        </p:txBody>
      </p:sp>
      <p:pic>
        <p:nvPicPr>
          <p:cNvPr id="100" name="khartoum_return_levels.png" descr="Original scientific output: task_A/khartoum_return_levels.png"/>
          <p:cNvPicPr>
            <a:picLocks noChangeAspect="1"/>
          </p:cNvPicPr>
          <p:nvPr/>
        </p:nvPicPr>
        <p:blipFill>
          <a:blip r:embed="rIdImage0"/>
          <a:stretch>
            <a:fillRect/>
          </a:stretch>
        </p:blipFill>
        <p:spPr>
          <a:xfrm>
            <a:off x="621792" y="1417320"/>
            <a:ext cx="3249168" cy="2249424"/>
          </a:xfrm>
          <a:prstGeom prst="rect">
            <a:avLst/>
          </a:prstGeom>
        </p:spPr>
      </p:pic>
      <p:pic>
        <p:nvPicPr>
          <p:cNvPr id="101" name="kassala_return_levels.png" descr="Original scientific output: task_A/kassala_return_levels.png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4456176" y="1417320"/>
            <a:ext cx="3249168" cy="2249424"/>
          </a:xfrm>
          <a:prstGeom prst="rect">
            <a:avLst/>
          </a:prstGeom>
        </p:spPr>
      </p:pic>
      <p:pic>
        <p:nvPicPr>
          <p:cNvPr id="102" name="gedaref_return_levels.png" descr="Original scientific output: task_A/gedaref_return_levels.png"/>
          <p:cNvPicPr>
            <a:picLocks noChangeAspect="1"/>
          </p:cNvPicPr>
          <p:nvPr/>
        </p:nvPicPr>
        <p:blipFill>
          <a:blip r:embed="rIdImage2"/>
          <a:stretch>
            <a:fillRect/>
          </a:stretch>
        </p:blipFill>
        <p:spPr>
          <a:xfrm>
            <a:off x="8290560" y="1417320"/>
            <a:ext cx="3249168" cy="2249424"/>
          </a:xfrm>
          <a:prstGeom prst="rect">
            <a:avLst/>
          </a:prstGeom>
        </p:spPr>
      </p:pic>
      <p:pic>
        <p:nvPicPr>
          <p:cNvPr id="103" name="el_obeid_return_levels.png" descr="Original scientific output: task_A/el_obeid_return_levels.png"/>
          <p:cNvPicPr>
            <a:picLocks noChangeAspect="1"/>
          </p:cNvPicPr>
          <p:nvPr/>
        </p:nvPicPr>
        <p:blipFill>
          <a:blip r:embed="rIdImage3"/>
          <a:stretch>
            <a:fillRect/>
          </a:stretch>
        </p:blipFill>
        <p:spPr>
          <a:xfrm>
            <a:off x="2538984" y="3831336"/>
            <a:ext cx="3249168" cy="2249424"/>
          </a:xfrm>
          <a:prstGeom prst="rect">
            <a:avLst/>
          </a:prstGeom>
        </p:spPr>
      </p:pic>
      <p:pic>
        <p:nvPicPr>
          <p:cNvPr id="104" name="nyala_return_levels.png" descr="Original scientific output: task_A/nyala_return_levels.png"/>
          <p:cNvPicPr>
            <a:picLocks noChangeAspect="1"/>
          </p:cNvPicPr>
          <p:nvPr/>
        </p:nvPicPr>
        <p:blipFill>
          <a:blip r:embed="rIdImage4"/>
          <a:stretch>
            <a:fillRect/>
          </a:stretch>
        </p:blipFill>
        <p:spPr>
          <a:xfrm>
            <a:off x="6373368" y="3831336"/>
            <a:ext cx="3249168" cy="2249424"/>
          </a:xfrm>
          <a:prstGeom prst="rect">
            <a:avLst/>
          </a:prstGeom>
        </p:spPr>
      </p:pic>
      <p:sp>
        <p:nvSpPr>
          <p:cNvPr id="200" name="Text 200"/>
          <p:cNvSpPr txBox="1"/>
          <p:nvPr/>
        </p:nvSpPr>
        <p:spPr>
          <a:xfrm>
            <a:off x="548640" y="6291072"/>
            <a:ext cx="11018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0">
                <a:solidFill>
                  <a:srgbClr val="506471"/>
                </a:solidFill>
                <a:latin typeface="Arial"/>
              </a:rPr>
              <a:t xml:space="preserve">The plots distinguish published Gumbel levels from an independent MLE refit. Large departures are descriptive evidence.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A: local return levels and largest-year sensitivity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Published 24 h rainfall depths in mm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463040"/>
          <a:ext cx="10881360" cy="3017520"/>
        </p:xfrm>
        <a:graphic>
          <a:graphicData uri="http://schemas.openxmlformats.org/drawingml/2006/table">
            <a:tbl>
              <a:tblPr firstRow="1" bandRow="1"/>
              <a:tblGrid>
                <a:gridCol w="2926080"/>
                <a:gridCol w="2651760"/>
                <a:gridCol w="2651760"/>
                <a:gridCol w="2651760"/>
              </a:tblGrid>
              <a:tr h="502920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2-year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10-year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50-year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02920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23.82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51.65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76.05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02920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37.95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60.56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80.39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52.98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72.84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90.25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02920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37.18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61.68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83.16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32.32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50.15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65.79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Removing Khartoum’s 2017 maximum lowers its MLE 50-year level from 68.23 to 62.05 mm (−9.05%). Both sensitivity fits use MLE. Fifty-year levels extrapolate beyond 27 observed years.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three thresholds across five towns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16 July 2025 start, ten daily intervals, 51 members</a:t>
            </a:r>
            <a:endParaRPr lang="en-US" sz="1600"/>
          </a:p>
        </p:txBody>
      </p:sp>
      <p:pic>
        <p:nvPicPr>
          <p:cNvPr id="4" name="five_town_threshold_comparison.png" descr="Original scientific output: task_B/five_town_threshold_comparison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533048" y="1417320"/>
            <a:ext cx="5392102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Fixed threshold: 20 mm in 24 h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Local 2-year and 10-year levels come from Task A.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El Obeid and Nyala alone have 2-year exceedances. No town exceeds a 10-year level.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daily member counts at each town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Each figure separates the fixed 20 mm, 2-year and 10-year thresholds</a:t>
            </a:r>
            <a:endParaRPr lang="en-US" sz="16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6</a:t>
            </a:r>
            <a:endParaRPr lang="en-US" sz="1100"/>
          </a:p>
        </p:txBody>
      </p:sp>
      <p:pic>
        <p:nvPicPr>
          <p:cNvPr id="100" name="khartoum_threshold_counts.png" descr="Original scientific output: task_B/khartoum_threshold_counts.png"/>
          <p:cNvPicPr>
            <a:picLocks noChangeAspect="1"/>
          </p:cNvPicPr>
          <p:nvPr/>
        </p:nvPicPr>
        <p:blipFill>
          <a:blip r:embed="rIdImage0"/>
          <a:stretch>
            <a:fillRect/>
          </a:stretch>
        </p:blipFill>
        <p:spPr>
          <a:xfrm>
            <a:off x="840485" y="1417320"/>
            <a:ext cx="2811780" cy="2249424"/>
          </a:xfrm>
          <a:prstGeom prst="rect">
            <a:avLst/>
          </a:prstGeom>
        </p:spPr>
      </p:pic>
      <p:pic>
        <p:nvPicPr>
          <p:cNvPr id="101" name="kassala_threshold_counts.png" descr="Original scientific output: task_B/kassala_threshold_counts.png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4674870" y="1417320"/>
            <a:ext cx="2811780" cy="2249424"/>
          </a:xfrm>
          <a:prstGeom prst="rect">
            <a:avLst/>
          </a:prstGeom>
        </p:spPr>
      </p:pic>
      <p:pic>
        <p:nvPicPr>
          <p:cNvPr id="102" name="gedaref_threshold_counts.png" descr="Original scientific output: task_B/gedaref_threshold_counts.png"/>
          <p:cNvPicPr>
            <a:picLocks noChangeAspect="1"/>
          </p:cNvPicPr>
          <p:nvPr/>
        </p:nvPicPr>
        <p:blipFill>
          <a:blip r:embed="rIdImage2"/>
          <a:stretch>
            <a:fillRect/>
          </a:stretch>
        </p:blipFill>
        <p:spPr>
          <a:xfrm>
            <a:off x="8509253" y="1417320"/>
            <a:ext cx="2811780" cy="2249424"/>
          </a:xfrm>
          <a:prstGeom prst="rect">
            <a:avLst/>
          </a:prstGeom>
        </p:spPr>
      </p:pic>
      <p:pic>
        <p:nvPicPr>
          <p:cNvPr id="103" name="el_obeid_threshold_counts.png" descr="Original scientific output: task_B/el_obeid_threshold_counts.png"/>
          <p:cNvPicPr>
            <a:picLocks noChangeAspect="1"/>
          </p:cNvPicPr>
          <p:nvPr/>
        </p:nvPicPr>
        <p:blipFill>
          <a:blip r:embed="rIdImage3"/>
          <a:stretch>
            <a:fillRect/>
          </a:stretch>
        </p:blipFill>
        <p:spPr>
          <a:xfrm>
            <a:off x="2757678" y="3831336"/>
            <a:ext cx="2811780" cy="2249424"/>
          </a:xfrm>
          <a:prstGeom prst="rect">
            <a:avLst/>
          </a:prstGeom>
        </p:spPr>
      </p:pic>
      <p:pic>
        <p:nvPicPr>
          <p:cNvPr id="104" name="nyala_threshold_counts.png" descr="Original scientific output: task_B/nyala_threshold_counts.png"/>
          <p:cNvPicPr>
            <a:picLocks noChangeAspect="1"/>
          </p:cNvPicPr>
          <p:nvPr/>
        </p:nvPicPr>
        <p:blipFill>
          <a:blip r:embed="rIdImage4"/>
          <a:stretch>
            <a:fillRect/>
          </a:stretch>
        </p:blipFill>
        <p:spPr>
          <a:xfrm>
            <a:off x="6592062" y="3831336"/>
            <a:ext cx="2811780" cy="2249424"/>
          </a:xfrm>
          <a:prstGeom prst="rect">
            <a:avLst/>
          </a:prstGeom>
        </p:spPr>
      </p:pic>
      <p:sp>
        <p:nvSpPr>
          <p:cNvPr id="200" name="Text 200"/>
          <p:cNvSpPr txBox="1"/>
          <p:nvPr/>
        </p:nvSpPr>
        <p:spPr>
          <a:xfrm>
            <a:off x="548640" y="6291072"/>
            <a:ext cx="11018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0">
                <a:solidFill>
                  <a:srgbClr val="506471"/>
                </a:solidFill>
                <a:latin typeface="Arial"/>
              </a:rPr>
              <a:t xml:space="preserve">Daily counts are out of 51 members. Rainfall thresholds are mm in 24 h. Exact zero labels distinguish no exceedance.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B: threshold sensitivity and xclim counts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First three columns count member-days out of 510 per town. Last column: distinct members at ≥20 mm.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1920240"/>
                <a:gridCol w="2011680"/>
                <a:gridCol w="2011680"/>
                <a:gridCol w="246888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20 mm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2-year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10-year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≥1 heavy day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0/51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5/51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24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22/51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9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7/51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0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7/51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xclim uses ≥, plots use &gt;. A 2-year annual level implies 50% annual exceedance. The illustrative 0.190% daily probability assumes independent, identical days.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forecast signals across 21 starts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6–26 July 2025, ten daily leads at every town</a:t>
            </a:r>
            <a:endParaRPr lang="en-US" sz="1600"/>
          </a:p>
        </p:txBody>
      </p:sp>
      <p:pic>
        <p:nvPicPr>
          <p:cNvPr id="4" name="five_town_heatmap_comparison.png" descr="Original scientific output: task_C/five_town_heatmap_comparison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966651" y="1417320"/>
            <a:ext cx="6524897" cy="507492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8503920" y="17373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Signal: at least one member above the local 2-year 24 h level.</a:t>
            </a:r>
            <a:endParaRPr lang="en-US" sz="2000"/>
          </a:p>
        </p:txBody>
      </p:sp>
      <p:sp>
        <p:nvSpPr>
          <p:cNvPr id="6" name="Text 6"/>
          <p:cNvSpPr txBox="1"/>
          <p:nvPr/>
        </p:nvSpPr>
        <p:spPr>
          <a:xfrm>
            <a:off x="8503920" y="31089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Nyala: signals in 20/21 starts</a:t>
            </a:r>
            <a:endParaRPr lang="en-US" sz="2000"/>
          </a:p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Gedaref: signals in 2/21 starts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8503920" y="448056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A"/>
                </a:solidFill>
                <a:latin typeface="Arial"/>
              </a:rPr>
              <a:t xml:space="preserve">A one-member signal is only 1.96% of the ensemble.</a:t>
            </a:r>
            <a:endParaRPr lang="en-US" sz="20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complete daily signal histories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Rows are initialization dates, columns are forecast days</a:t>
            </a:r>
            <a:endParaRPr lang="en-US" sz="16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9</a:t>
            </a:r>
            <a:endParaRPr lang="en-US" sz="1100"/>
          </a:p>
        </p:txBody>
      </p:sp>
      <p:pic>
        <p:nvPicPr>
          <p:cNvPr id="100" name="khartoum_heatmap.png" descr="Original scientific output: task_C/khartoum_heatmap.png"/>
          <p:cNvPicPr>
            <a:picLocks noChangeAspect="1"/>
          </p:cNvPicPr>
          <p:nvPr/>
        </p:nvPicPr>
        <p:blipFill>
          <a:blip r:embed="rIdImage0"/>
          <a:stretch>
            <a:fillRect/>
          </a:stretch>
        </p:blipFill>
        <p:spPr>
          <a:xfrm>
            <a:off x="840485" y="1417320"/>
            <a:ext cx="2811780" cy="2249424"/>
          </a:xfrm>
          <a:prstGeom prst="rect">
            <a:avLst/>
          </a:prstGeom>
        </p:spPr>
      </p:pic>
      <p:pic>
        <p:nvPicPr>
          <p:cNvPr id="101" name="kassala_heatmap.png" descr="Original scientific output: task_C/kassala_heatmap.png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4674870" y="1417320"/>
            <a:ext cx="2811780" cy="2249424"/>
          </a:xfrm>
          <a:prstGeom prst="rect">
            <a:avLst/>
          </a:prstGeom>
        </p:spPr>
      </p:pic>
      <p:pic>
        <p:nvPicPr>
          <p:cNvPr id="102" name="gedaref_heatmap.png" descr="Original scientific output: task_C/gedaref_heatmap.png"/>
          <p:cNvPicPr>
            <a:picLocks noChangeAspect="1"/>
          </p:cNvPicPr>
          <p:nvPr/>
        </p:nvPicPr>
        <p:blipFill>
          <a:blip r:embed="rIdImage2"/>
          <a:stretch>
            <a:fillRect/>
          </a:stretch>
        </p:blipFill>
        <p:spPr>
          <a:xfrm>
            <a:off x="8509253" y="1417320"/>
            <a:ext cx="2811780" cy="2249424"/>
          </a:xfrm>
          <a:prstGeom prst="rect">
            <a:avLst/>
          </a:prstGeom>
        </p:spPr>
      </p:pic>
      <p:pic>
        <p:nvPicPr>
          <p:cNvPr id="103" name="el_obeid_heatmap.png" descr="Original scientific output: task_C/el_obeid_heatmap.png"/>
          <p:cNvPicPr>
            <a:picLocks noChangeAspect="1"/>
          </p:cNvPicPr>
          <p:nvPr/>
        </p:nvPicPr>
        <p:blipFill>
          <a:blip r:embed="rIdImage3"/>
          <a:stretch>
            <a:fillRect/>
          </a:stretch>
        </p:blipFill>
        <p:spPr>
          <a:xfrm>
            <a:off x="2757678" y="3831336"/>
            <a:ext cx="2811780" cy="2249424"/>
          </a:xfrm>
          <a:prstGeom prst="rect">
            <a:avLst/>
          </a:prstGeom>
        </p:spPr>
      </p:pic>
      <p:pic>
        <p:nvPicPr>
          <p:cNvPr id="104" name="nyala_heatmap.png" descr="Original scientific output: task_C/nyala_heatmap.png"/>
          <p:cNvPicPr>
            <a:picLocks noChangeAspect="1"/>
          </p:cNvPicPr>
          <p:nvPr/>
        </p:nvPicPr>
        <p:blipFill>
          <a:blip r:embed="rIdImage4"/>
          <a:stretch>
            <a:fillRect/>
          </a:stretch>
        </p:blipFill>
        <p:spPr>
          <a:xfrm>
            <a:off x="6592062" y="3831336"/>
            <a:ext cx="2811780" cy="2249424"/>
          </a:xfrm>
          <a:prstGeom prst="rect">
            <a:avLst/>
          </a:prstGeom>
        </p:spPr>
      </p:pic>
      <p:sp>
        <p:nvSpPr>
          <p:cNvPr id="200" name="Text 200"/>
          <p:cNvSpPr txBox="1"/>
          <p:nvPr/>
        </p:nvSpPr>
        <p:spPr>
          <a:xfrm>
            <a:off x="548640" y="6291072"/>
            <a:ext cx="11018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0">
                <a:solidFill>
                  <a:srgbClr val="506471"/>
                </a:solidFill>
                <a:latin typeface="Arial"/>
              </a:rPr>
              <a:t xml:space="preserve">Shared member-count scale across towns. Local rainfall thresholds differ. All 1,050 town/start/day cells are available.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the strongest start at each town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Daily rainfall plumes, ensemble mean, local threshold and member counts</a:t>
            </a:r>
            <a:endParaRPr lang="en-US" sz="16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10</a:t>
            </a:r>
            <a:endParaRPr lang="en-US" sz="1100"/>
          </a:p>
        </p:txBody>
      </p:sp>
      <p:pic>
        <p:nvPicPr>
          <p:cNvPr id="100" name="khartoum_strongest_start_plume.png" descr="Original scientific output: task_C/khartoum_strongest_start_plume.png"/>
          <p:cNvPicPr>
            <a:picLocks noChangeAspect="1"/>
          </p:cNvPicPr>
          <p:nvPr/>
        </p:nvPicPr>
        <p:blipFill>
          <a:blip r:embed="rIdImage0"/>
          <a:stretch>
            <a:fillRect/>
          </a:stretch>
        </p:blipFill>
        <p:spPr>
          <a:xfrm>
            <a:off x="699896" y="1417320"/>
            <a:ext cx="3092958" cy="2249424"/>
          </a:xfrm>
          <a:prstGeom prst="rect">
            <a:avLst/>
          </a:prstGeom>
        </p:spPr>
      </p:pic>
      <p:pic>
        <p:nvPicPr>
          <p:cNvPr id="101" name="kassala_strongest_start_plume.png" descr="Original scientific output: task_C/kassala_strongest_start_plume.png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4534281" y="1417320"/>
            <a:ext cx="3092958" cy="2249424"/>
          </a:xfrm>
          <a:prstGeom prst="rect">
            <a:avLst/>
          </a:prstGeom>
        </p:spPr>
      </p:pic>
      <p:pic>
        <p:nvPicPr>
          <p:cNvPr id="102" name="gedaref_strongest_start_plume.png" descr="Original scientific output: task_C/gedaref_strongest_start_plume.png"/>
          <p:cNvPicPr>
            <a:picLocks noChangeAspect="1"/>
          </p:cNvPicPr>
          <p:nvPr/>
        </p:nvPicPr>
        <p:blipFill>
          <a:blip r:embed="rIdImage2"/>
          <a:stretch>
            <a:fillRect/>
          </a:stretch>
        </p:blipFill>
        <p:spPr>
          <a:xfrm>
            <a:off x="8368664" y="1417320"/>
            <a:ext cx="3092958" cy="2249424"/>
          </a:xfrm>
          <a:prstGeom prst="rect">
            <a:avLst/>
          </a:prstGeom>
        </p:spPr>
      </p:pic>
      <p:pic>
        <p:nvPicPr>
          <p:cNvPr id="103" name="el_obeid_strongest_start_plume.png" descr="Original scientific output: task_C/el_obeid_strongest_start_plume.png"/>
          <p:cNvPicPr>
            <a:picLocks noChangeAspect="1"/>
          </p:cNvPicPr>
          <p:nvPr/>
        </p:nvPicPr>
        <p:blipFill>
          <a:blip r:embed="rIdImage3"/>
          <a:stretch>
            <a:fillRect/>
          </a:stretch>
        </p:blipFill>
        <p:spPr>
          <a:xfrm>
            <a:off x="2617089" y="3831336"/>
            <a:ext cx="3092958" cy="2249424"/>
          </a:xfrm>
          <a:prstGeom prst="rect">
            <a:avLst/>
          </a:prstGeom>
        </p:spPr>
      </p:pic>
      <p:pic>
        <p:nvPicPr>
          <p:cNvPr id="104" name="nyala_strongest_start_plume.png" descr="Original scientific output: task_C/nyala_strongest_start_plume.png"/>
          <p:cNvPicPr>
            <a:picLocks noChangeAspect="1"/>
          </p:cNvPicPr>
          <p:nvPr/>
        </p:nvPicPr>
        <p:blipFill>
          <a:blip r:embed="rIdImage4"/>
          <a:stretch>
            <a:fillRect/>
          </a:stretch>
        </p:blipFill>
        <p:spPr>
          <a:xfrm>
            <a:off x="6451473" y="3831336"/>
            <a:ext cx="3092958" cy="2249424"/>
          </a:xfrm>
          <a:prstGeom prst="rect">
            <a:avLst/>
          </a:prstGeom>
        </p:spPr>
      </p:pic>
      <p:sp>
        <p:nvSpPr>
          <p:cNvPr id="200" name="Text 200"/>
          <p:cNvSpPr txBox="1"/>
          <p:nvPr/>
        </p:nvSpPr>
        <p:spPr>
          <a:xfrm>
            <a:off x="548640" y="6291072"/>
            <a:ext cx="11018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0">
                <a:solidFill>
                  <a:srgbClr val="506471"/>
                </a:solidFill>
                <a:latin typeface="Arial"/>
              </a:rPr>
              <a:t xml:space="preserve">Strongest start maximizes peak count, then summed member-day counts, then earliest date. Plume rainfall units: mm in 24 h.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C: Nyala has the most persistent weak signal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Streaks require consecutive starts signaling the same target interval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3127248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1554480"/>
                <a:gridCol w="1828800"/>
                <a:gridCol w="2286000"/>
                <a:gridCol w="2743200"/>
              </a:tblGrid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Town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Peak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Lead days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Signal streak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Streak target</a:t>
                      </a:r>
                      <a:endParaRPr lang="en-US" sz="18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Khartoum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3/51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 starts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2025-07-16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Kassala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2/51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 starts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2025-07-28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Gedaref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1/51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8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 start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2025-07-28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El Obeid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4/51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 starts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2025-07-12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Nyala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4/51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10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5 starts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8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2025-07-17</a:t>
                      </a:r>
                      <a:endParaRPr lang="en-US" sz="18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Nyala’s starts on 7–11 July target the interval ending 17 July. Four towns tie at the ten-day horizon, targeting different dates. No town reaches five members above the threshold.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probability maps for the early seasonal samples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Local 2-year 24 h thresholds and all five grid.json towns</a:t>
            </a:r>
            <a:endParaRPr lang="en-US" sz="16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12</a:t>
            </a:r>
            <a:endParaRPr lang="en-US" sz="1100"/>
          </a:p>
        </p:txBody>
      </p:sp>
      <p:pic>
        <p:nvPicPr>
          <p:cNvPr id="100" name="probabilities_2025-06-10.png" descr="Original scientific output: task_D/probabilities_2025-06-10.png"/>
          <p:cNvPicPr>
            <a:picLocks noChangeAspect="1"/>
          </p:cNvPicPr>
          <p:nvPr/>
        </p:nvPicPr>
        <p:blipFill>
          <a:blip r:embed="rIdImage0"/>
          <a:stretch>
            <a:fillRect/>
          </a:stretch>
        </p:blipFill>
        <p:spPr>
          <a:xfrm>
            <a:off x="411480" y="2352294"/>
            <a:ext cx="5586984" cy="2793492"/>
          </a:xfrm>
          <a:prstGeom prst="rect">
            <a:avLst/>
          </a:prstGeom>
        </p:spPr>
      </p:pic>
      <p:pic>
        <p:nvPicPr>
          <p:cNvPr id="101" name="probabilities_2025-07-01.png" descr="Original scientific output: task_D/probabilities_2025-07-01.png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6163056" y="2352294"/>
            <a:ext cx="5586984" cy="2793492"/>
          </a:xfrm>
          <a:prstGeom prst="rect">
            <a:avLst/>
          </a:prstGeom>
        </p:spPr>
      </p:pic>
      <p:sp>
        <p:nvSpPr>
          <p:cNvPr id="200" name="Text 200"/>
          <p:cNvSpPr txBox="1"/>
          <p:nvPr/>
        </p:nvSpPr>
        <p:spPr>
          <a:xfrm>
            <a:off x="548640" y="6291072"/>
            <a:ext cx="11018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0">
                <a:solidFill>
                  <a:srgbClr val="506471"/>
                </a:solidFill>
                <a:latin typeface="Arial"/>
              </a:rPr>
              <a:t xml:space="preserve">June 10 peak: 1.96%. July 1 peak: 9.80%. No sampled pixel reaches 20% for these two starts.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the August sample contains the regional hotspot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Probability decision: ≥20%, requiring at least 11 of 51 members</a:t>
            </a:r>
            <a:endParaRPr lang="en-US" sz="16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13</a:t>
            </a:r>
            <a:endParaRPr lang="en-US" sz="1100"/>
          </a:p>
        </p:txBody>
      </p:sp>
      <p:pic>
        <p:nvPicPr>
          <p:cNvPr id="100" name="probabilities_2025-07-22.png" descr="Original scientific output: task_D/probabilities_2025-07-22.png"/>
          <p:cNvPicPr>
            <a:picLocks noChangeAspect="1"/>
          </p:cNvPicPr>
          <p:nvPr/>
        </p:nvPicPr>
        <p:blipFill>
          <a:blip r:embed="rIdImage0"/>
          <a:stretch>
            <a:fillRect/>
          </a:stretch>
        </p:blipFill>
        <p:spPr>
          <a:xfrm>
            <a:off x="411480" y="2352294"/>
            <a:ext cx="5586984" cy="2793492"/>
          </a:xfrm>
          <a:prstGeom prst="rect">
            <a:avLst/>
          </a:prstGeom>
        </p:spPr>
      </p:pic>
      <p:pic>
        <p:nvPicPr>
          <p:cNvPr id="101" name="probabilities_2025-08-12.png" descr="Original scientific output: task_D/probabilities_2025-08-12.png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6163056" y="2352294"/>
            <a:ext cx="5586984" cy="2793492"/>
          </a:xfrm>
          <a:prstGeom prst="rect">
            <a:avLst/>
          </a:prstGeom>
        </p:spPr>
      </p:pic>
      <p:sp>
        <p:nvSpPr>
          <p:cNvPr id="200" name="Text 200"/>
          <p:cNvSpPr txBox="1"/>
          <p:nvPr/>
        </p:nvSpPr>
        <p:spPr>
          <a:xfrm>
            <a:off x="548640" y="6291072"/>
            <a:ext cx="11018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0">
                <a:solidFill>
                  <a:srgbClr val="506471"/>
                </a:solidFill>
                <a:latin typeface="Arial"/>
              </a:rPr>
              <a:t xml:space="preserve">August 12, day 4: 12 pixels reach 20%, with a peak of 16/51 = 31.37%. The target interval ends 16 August.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D: sampled frequency and town results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Four starts × five daily leads = 20 sampled forecast intervals</a:t>
            </a:r>
            <a:endParaRPr lang="en-US" sz="1600"/>
          </a:p>
        </p:txBody>
      </p:sp>
      <p:pic>
        <p:nvPicPr>
          <p:cNvPr id="4" name="sampled_season_frequency.png" descr="Original scientific output: task_D/sampled_season_frequency.png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365760" y="2290812"/>
            <a:ext cx="11430000" cy="3007894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548640" y="628192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500" b="0">
                <a:solidFill>
                  <a:srgbClr val="506471"/>
                </a:solidFill>
                <a:latin typeface="Arial"/>
              </a:rPr>
              <a:t xml:space="preserve">Twelve regional pixels reach 20% once each. Maximum frequency: 1/20 = 5%. All five town pixels remain below 20%.</a:t>
            </a:r>
            <a:endParaRPr lang="en-US" sz="15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000" b="1">
                <a:solidFill>
                  <a:srgbClr val="17334A"/>
                </a:solidFill>
                <a:latin typeface="Arial"/>
              </a:rPr>
              <a:t xml:space="preserve">Conclusions and the cost of map reads</a:t>
            </a:r>
            <a:endParaRPr lang="en-US" sz="3000"/>
          </a:p>
        </p:txBody>
      </p:sp>
      <p:sp>
        <p:nvSpPr>
          <p:cNvPr id="3" name="Text 3"/>
          <p:cNvSpPr txBox="1"/>
          <p:nvPr/>
        </p:nvSpPr>
        <p:spPr>
          <a:xfrm>
            <a:off x="521207" y="960120"/>
            <a:ext cx="111099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087F8C"/>
                </a:solidFill>
                <a:latin typeface="Arial"/>
              </a:rPr>
              <a:t xml:space="preserve">Pan chunks contain a broad map, all 51 members, and one start/lead</a:t>
            </a:r>
            <a:endParaRPr lang="en-US" sz="1600"/>
          </a:p>
        </p:txBody>
      </p:sp>
      <p:graphicFrame>
        <p:nvGraphicFramePr>
          <p:cNvPr id="20" name="Editable results table"/>
          <p:cNvGraphicFramePr/>
          <p:nvPr/>
        </p:nvGraphicFramePr>
        <p:xfrm>
          <a:off x="640080" y="1508760"/>
          <a:ext cx="10881360" cy="2377440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566160"/>
              </a:tblGrid>
              <a:tr h="475488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Start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Cloud read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Chunks</a:t>
                      </a:r>
                      <a:endParaRPr lang="en-US" sz="1900"/>
                    </a:p>
                  </a:txBody>
                  <a:tcPr>
                    <a:solidFill>
                      <a:srgbClr val="17334A"/>
                    </a:solidFill>
                  </a:tcPr>
                </a:tc>
              </a:tr>
              <a:tr h="475488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2025-06-10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37.43 s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475488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2025-07-01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19.49 s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2025-07-22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21.14 s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</a:t>
                      </a:r>
                      <a:endParaRPr lang="en-US" sz="1900"/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475488"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2025-08-12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34.88 s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91440" rIns="73152" tIns="64008" bIns="36576"/>
                    <a:lstStyle/>
                    <a:p>
                      <a:pPr algn="l"/>
                      <a:r>
                        <a:rPr lang="en-US" sz="1900" b="0">
                          <a:solidFill>
                            <a:srgbClr val="17334A"/>
                          </a:solidFill>
                          <a:latin typeface="Arial"/>
                        </a:rPr>
                        <a:t xml:space="preserve">6</a:t>
                      </a:r>
                      <a:endParaRPr lang="en-US" sz="19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06471"/>
                </a:solidFill>
                <a:latin typeface="Arial"/>
              </a:rPr>
              <a:t xml:space="preserve">Six cumulative endpoints give five daily maps. Threshold read: 10.84 s, one chunk. Local thresholds shape weak signals. Observed 2025 rainfall and impacts are needed to assess warning skill.</a:t>
            </a:r>
            <a:endParaRPr lang="en-US" sz="1800"/>
          </a:p>
        </p:txBody>
      </p:sp>
      <p:sp>
        <p:nvSpPr>
          <p:cNvPr id="90" name="Text 90"/>
          <p:cNvSpPr txBox="1"/>
          <p:nvPr/>
        </p:nvSpPr>
        <p:spPr>
          <a:xfrm>
            <a:off x="11247120" y="6519672"/>
            <a:ext cx="411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06471"/>
                </a:solidFill>
                <a:latin typeface="Arial"/>
              </a:rPr>
              <a:t xml:space="preserve">15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>
  <Application>Open XML presentation</Application>
  <PresentationFormat>On-screen Show (16:9)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Sudan rainfall extremes and forecast warning signals</dc:title>
  <dc:creator>Workshop analysis</dc:creator>
</cp:coreProperties>
</file>