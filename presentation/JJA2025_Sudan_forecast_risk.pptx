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question: did the JJA 2025 ECMWF ensemble produce locally meaningful signals of extreme rainfall in Sudan, and when and where did they appear? The deck follows five towns through Parts A to D, then closes with limits, reflections and the repository tag.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domain is 24.25–37°E and 11.5–16.25°N. The five towns are the national capital and four state capitals. They span the rainfall gradient from arid Khartoum to the higher local thresholds in Gedaref. The map background is the 10-year level, which is a reference map; the numbers on the right are the 2-year levels used in Parts B–D.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store has 51 members and 92 daily starts from 1 June to 31 August 2025, 0–240 hours, on a 0.25-degree latitude-longitude grid. The forecast variable is cumulative total precipitation in metres, so we difference whole-day leads and convert to millimetres. CMORPH provides return levels from 1998–2024, nine durations by six return periods, on a roughly 8 km grid. Both use strict greater-than and nearest-pixel matching.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parts share one reference threshold: the local 24-hour 2-year level from CMORPH. A estimates that level. B asks whether the answer changes when the threshold changes. C holds the threshold fixed and adds forecast start date and lead time. D holds the threshold fixed and applies it at every forecast grid point. This is why the parts are comparable rather than four disconnected exercises.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workshop provided eight patterns, but not a ready-made Sudan analysis. We adapted the store-opening and plume pattern from E1/E2, the chunk-read lesson from E3, the return-period logic from E4, the heavy-day and local-threshold counts from E5/E6, the review discipline from E7 and the probability map from E8. The analysis scripts and settings are in this repository, not copied from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fits a Gumbel distribution to 27 annual maxima at each town's nearest CMORPH pixel. The 24-hour 2-year level ranges from 23.8 mm/day in Khartoum to 53.0 mm/day in Gedaref, a factor of 2.2. The 10- and 50-year levels are also shown. A fixed national threshold would therefore label very different rainfall amounts as equally extreme.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holds the forecast fixed at the 16 July initialization and changes only the threshold. A fixed 20 mm/day threshold produces 46 member-days above the threshold. The local 2-year level produces only three, and the 10-year level produces none. The ranking also changes: Gedaref dominates the fixed threshold, while Nyala and El Obeid are the only towns with members above their local 2-year levels. The definition is not cosmetic.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fixes the local 2-year threshold and looks across 21 daily starts from 1–21 July. Nyala is the most consistent and strongest signal: 20 of 21 starts have at least one member above their local level, with 72 member-days and a peak of four members in a day. Kassala provides the earliest valid calendar date, 4 July, from the 2 July start at day 2. The most alarming individual start is Nyala on 7 July: 10 member-days, peaking at four members on 14 July. These are member counts, not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applies the local 2-year threshold at every forecast grid point. Four stratified starts sample the season: 3 June, 11 July, 1 August and 19 August, with days 1–5. The strongest cell is 39.2% at 12.75°N, 24.25°E on day 5 of the 19 August start, valid 24 August. Eighteen cells reached 20% at least once, but no cell did so in more than 1 of 20 cases. The west/south-west near Nyala dominates; the eastern towns stay quiet. A 10% sensitivity run raises the maximum frequency to 5 of 20 cases at 13.0°N, 24.25°E.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limitation is that the 2025 observations are absent from these stores. We can describe the forecast signal and its timing, but not verify that the events happened. The 27-year record makes 50-year extrapolation uncertain; the forecast and CMORPH grids differ by a factor of about three; the 2-year annual-maximum level is not an impact threshold; and the Part D sample is four starts by five days, not an exhaustive season.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workshop exercises were a starting vocabulary, not a finished analysis. We adapted the patterns into scripts with shared settings and tests. The agent was most useful for scaffolding, refactoring, plotting and repeated runs. We had to check units, coordinate order, coverage, all-NaN starts and the strict greater-than semantics, and we had to keep counts separate from probabilities. For day-to-day work, the same pipeline generalises to other ensemble hazards: define a local threshold, count members, map when and where, and version the reviewed outputs.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is public. The annotated tag final points to this deck, the build script, the four analysis scripts, the figures and the CSV outputs. The README records the methods and numbers; the tests and lint checks are part of the handoff. Closing message: local thresholds are what turn a generic rainfall forecast into a place-specific and time-specific warning.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ianMburu/acmad-eac-summer-school" TargetMode="External"/><Relationship Id="rId3" Type="http://schemas.openxmlformats.org/officeDocument/2006/relationships/hyperlink" Target="https://github.com/BrianMburu/acmad-eac-summer-school/tree/final" TargetMode="External"/><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D9901A"/>
          </a:solidFill>
          <a:ln>
            <a:noFill/>
          </a:ln>
          <a:effectLst/>
        </p:spPr>
        <p:txBody>
          <a:bodyPr rtlCol="0" anchor="ctr"/>
          <a:lstStyle/>
          <a:p>
            <a:pPr algn="ctr"/>
          </a:p>
        </p:txBody>
      </p:sp>
      <p:sp>
        <p:nvSpPr>
          <p:cNvPr id="3" name="Rectangle 2"/>
          <p:cNvSpPr/>
          <p:nvPr/>
        </p:nvSpPr>
        <p:spPr>
          <a:xfrm>
            <a:off x="0" y="6766560"/>
            <a:ext cx="12191695" cy="91440"/>
          </a:xfrm>
          <a:prstGeom prst="rect">
            <a:avLst/>
          </a:prstGeom>
          <a:solidFill>
            <a:srgbClr val="0F766E"/>
          </a:solidFill>
          <a:ln>
            <a:noFill/>
          </a:ln>
          <a:effectLst/>
        </p:spPr>
        <p:txBody>
          <a:bodyPr rtlCol="0" anchor="ctr"/>
          <a:lstStyle/>
          <a:p>
            <a:pPr algn="ctr"/>
          </a:p>
        </p:txBody>
      </p:sp>
      <p:cxnSp>
        <p:nvCxnSpPr>
          <p:cNvPr id="4" name="Connector 3"/>
          <p:cNvCxnSpPr/>
          <p:nvPr/>
        </p:nvCxnSpPr>
        <p:spPr>
          <a:xfrm>
            <a:off x="8156448" y="1051560"/>
            <a:ext cx="0" cy="4754880"/>
          </a:xfrm>
          <a:prstGeom prst="line">
            <a:avLst/>
          </a:prstGeom>
          <a:ln w="9525">
            <a:solidFill>
              <a:srgbClr val="2A4760"/>
            </a:solidFill>
          </a:ln>
        </p:spPr>
      </p:cxnSp>
      <p:sp>
        <p:nvSpPr>
          <p:cNvPr id="5" name="TextBox 4"/>
          <p:cNvSpPr txBox="1"/>
          <p:nvPr/>
        </p:nvSpPr>
        <p:spPr>
          <a:xfrm>
            <a:off x="713232" y="841248"/>
            <a:ext cx="6949440" cy="27432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D9901A"/>
                </a:solidFill>
                <a:latin typeface="Arial"/>
              </a:rPr>
              <a:t>SUDAN  ·  JJA 2025</a:t>
            </a:r>
          </a:p>
        </p:txBody>
      </p:sp>
      <p:sp>
        <p:nvSpPr>
          <p:cNvPr id="6" name="TextBox 5"/>
          <p:cNvSpPr txBox="1"/>
          <p:nvPr/>
        </p:nvSpPr>
        <p:spPr>
          <a:xfrm>
            <a:off x="676656" y="1298448"/>
            <a:ext cx="7269480" cy="1755648"/>
          </a:xfrm>
          <a:prstGeom prst="rect">
            <a:avLst/>
          </a:prstGeom>
          <a:noFill/>
        </p:spPr>
        <p:txBody>
          <a:bodyPr wrap="square" lIns="0" rIns="0" tIns="0" bIns="0" anchor="t">
            <a:spAutoFit/>
          </a:bodyPr>
          <a:lstStyle/>
          <a:p>
            <a:pPr algn="l">
              <a:lnSpc>
                <a:spcPct val="92000"/>
              </a:lnSpc>
              <a:spcBef>
                <a:spcPts val="0"/>
              </a:spcBef>
              <a:spcAft>
                <a:spcPts val="0"/>
              </a:spcAft>
            </a:pPr>
            <a:r>
              <a:rPr sz="4200" b="1" i="0">
                <a:solidFill>
                  <a:srgbClr val="FFFFFF"/>
                </a:solidFill>
                <a:latin typeface="Arial"/>
              </a:rPr>
              <a:t>Did the forecast warn</a:t>
            </a:r>
          </a:p>
          <a:p>
            <a:pPr algn="l">
              <a:lnSpc>
                <a:spcPct val="92000"/>
              </a:lnSpc>
              <a:spcBef>
                <a:spcPts val="0"/>
              </a:spcBef>
              <a:spcAft>
                <a:spcPts val="0"/>
              </a:spcAft>
            </a:pPr>
            <a:r>
              <a:rPr sz="4200" b="1" i="0">
                <a:solidFill>
                  <a:srgbClr val="FFFFFF"/>
                </a:solidFill>
                <a:latin typeface="Arial"/>
              </a:rPr>
              <a:t>of extreme rain?</a:t>
            </a:r>
          </a:p>
        </p:txBody>
      </p:sp>
      <p:sp>
        <p:nvSpPr>
          <p:cNvPr id="7" name="TextBox 6"/>
          <p:cNvSpPr txBox="1"/>
          <p:nvPr/>
        </p:nvSpPr>
        <p:spPr>
          <a:xfrm>
            <a:off x="713232" y="3200400"/>
            <a:ext cx="6812280" cy="1188720"/>
          </a:xfrm>
          <a:prstGeom prst="rect">
            <a:avLst/>
          </a:prstGeom>
          <a:noFill/>
        </p:spPr>
        <p:txBody>
          <a:bodyPr wrap="square" lIns="0" rIns="0" tIns="0" bIns="0" anchor="t">
            <a:spAutoFit/>
          </a:bodyPr>
          <a:lstStyle/>
          <a:p>
            <a:pPr algn="l">
              <a:lnSpc>
                <a:spcPct val="108000"/>
              </a:lnSpc>
              <a:spcBef>
                <a:spcPts val="0"/>
              </a:spcBef>
              <a:spcAft>
                <a:spcPts val="0"/>
              </a:spcAft>
            </a:pPr>
            <a:r>
              <a:rPr sz="1700" b="0" i="0">
                <a:solidFill>
                  <a:srgbClr val="D9E2E8"/>
                </a:solidFill>
                <a:latin typeface="Arial"/>
              </a:rPr>
              <a:t>Local thresholds, ensemble signals, and the when-and-where of risk in five Sudanese towns.</a:t>
            </a:r>
          </a:p>
        </p:txBody>
      </p:sp>
      <p:sp>
        <p:nvSpPr>
          <p:cNvPr id="8" name="TextBox 7"/>
          <p:cNvSpPr txBox="1"/>
          <p:nvPr/>
        </p:nvSpPr>
        <p:spPr>
          <a:xfrm>
            <a:off x="713232" y="4590288"/>
            <a:ext cx="6949440" cy="310896"/>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9FB1BF"/>
                </a:solidFill>
                <a:latin typeface="Arial"/>
              </a:rPr>
              <a:t>AFRICAN SUMMER SCHOOL ON AI FOR WEATHER AND CLIMATE MODELLING 2026</a:t>
            </a:r>
          </a:p>
        </p:txBody>
      </p:sp>
      <p:sp>
        <p:nvSpPr>
          <p:cNvPr id="9" name="TextBox 8"/>
          <p:cNvSpPr txBox="1"/>
          <p:nvPr/>
        </p:nvSpPr>
        <p:spPr>
          <a:xfrm>
            <a:off x="713232" y="4956048"/>
            <a:ext cx="5486400" cy="256032"/>
          </a:xfrm>
          <a:prstGeom prst="rect">
            <a:avLst/>
          </a:prstGeom>
          <a:noFill/>
        </p:spPr>
        <p:txBody>
          <a:bodyPr wrap="square" lIns="0" rIns="0" tIns="0" bIns="0" anchor="t">
            <a:spAutoFit/>
          </a:bodyPr>
          <a:lstStyle/>
          <a:p>
            <a:pPr algn="l">
              <a:lnSpc>
                <a:spcPct val="100000"/>
              </a:lnSpc>
              <a:spcBef>
                <a:spcPts val="0"/>
              </a:spcBef>
              <a:spcAft>
                <a:spcPts val="0"/>
              </a:spcAft>
            </a:pPr>
            <a:r>
              <a:rPr sz="1100" b="0" i="0">
                <a:solidFill>
                  <a:srgbClr val="C7D2DC"/>
                </a:solidFill>
                <a:latin typeface="Arial"/>
              </a:rPr>
              <a:t>Group project · October 2026</a:t>
            </a:r>
          </a:p>
        </p:txBody>
      </p:sp>
      <p:sp>
        <p:nvSpPr>
          <p:cNvPr id="10" name="TextBox 9"/>
          <p:cNvSpPr txBox="1"/>
          <p:nvPr/>
        </p:nvSpPr>
        <p:spPr>
          <a:xfrm>
            <a:off x="8522208" y="1143000"/>
            <a:ext cx="2834640" cy="237744"/>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D9901A"/>
                </a:solidFill>
                <a:latin typeface="Arial"/>
              </a:rPr>
              <a:t>FIVE TOWNS</a:t>
            </a:r>
          </a:p>
        </p:txBody>
      </p:sp>
      <p:sp>
        <p:nvSpPr>
          <p:cNvPr id="11" name="TextBox 10"/>
          <p:cNvSpPr txBox="1"/>
          <p:nvPr/>
        </p:nvSpPr>
        <p:spPr>
          <a:xfrm>
            <a:off x="8522208" y="1664208"/>
            <a:ext cx="347472"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F879A"/>
                </a:solidFill>
                <a:latin typeface="Arial"/>
              </a:rPr>
              <a:t>01</a:t>
            </a:r>
          </a:p>
        </p:txBody>
      </p:sp>
      <p:sp>
        <p:nvSpPr>
          <p:cNvPr id="12" name="TextBox 11"/>
          <p:cNvSpPr txBox="1"/>
          <p:nvPr/>
        </p:nvSpPr>
        <p:spPr>
          <a:xfrm>
            <a:off x="8915400" y="1645920"/>
            <a:ext cx="24231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FFFFFF"/>
                </a:solidFill>
                <a:latin typeface="Arial"/>
              </a:rPr>
              <a:t>KHARTOUM</a:t>
            </a:r>
          </a:p>
        </p:txBody>
      </p:sp>
      <p:cxnSp>
        <p:nvCxnSpPr>
          <p:cNvPr id="13" name="Connector 12"/>
          <p:cNvCxnSpPr/>
          <p:nvPr/>
        </p:nvCxnSpPr>
        <p:spPr>
          <a:xfrm>
            <a:off x="8522208" y="2020824"/>
            <a:ext cx="2633472" cy="0"/>
          </a:xfrm>
          <a:prstGeom prst="line">
            <a:avLst/>
          </a:prstGeom>
          <a:ln w="6350">
            <a:solidFill>
              <a:srgbClr val="234058"/>
            </a:solidFill>
          </a:ln>
        </p:spPr>
      </p:cxnSp>
      <p:sp>
        <p:nvSpPr>
          <p:cNvPr id="14" name="TextBox 13"/>
          <p:cNvSpPr txBox="1"/>
          <p:nvPr/>
        </p:nvSpPr>
        <p:spPr>
          <a:xfrm>
            <a:off x="8522208" y="2267712"/>
            <a:ext cx="347472"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F879A"/>
                </a:solidFill>
                <a:latin typeface="Arial"/>
              </a:rPr>
              <a:t>02</a:t>
            </a:r>
          </a:p>
        </p:txBody>
      </p:sp>
      <p:sp>
        <p:nvSpPr>
          <p:cNvPr id="15" name="TextBox 14"/>
          <p:cNvSpPr txBox="1"/>
          <p:nvPr/>
        </p:nvSpPr>
        <p:spPr>
          <a:xfrm>
            <a:off x="8915400" y="2249424"/>
            <a:ext cx="24231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FFFFFF"/>
                </a:solidFill>
                <a:latin typeface="Arial"/>
              </a:rPr>
              <a:t>KASSALA</a:t>
            </a:r>
          </a:p>
        </p:txBody>
      </p:sp>
      <p:cxnSp>
        <p:nvCxnSpPr>
          <p:cNvPr id="16" name="Connector 15"/>
          <p:cNvCxnSpPr/>
          <p:nvPr/>
        </p:nvCxnSpPr>
        <p:spPr>
          <a:xfrm>
            <a:off x="8522208" y="2624328"/>
            <a:ext cx="2633472" cy="0"/>
          </a:xfrm>
          <a:prstGeom prst="line">
            <a:avLst/>
          </a:prstGeom>
          <a:ln w="6350">
            <a:solidFill>
              <a:srgbClr val="234058"/>
            </a:solidFill>
          </a:ln>
        </p:spPr>
      </p:cxnSp>
      <p:sp>
        <p:nvSpPr>
          <p:cNvPr id="17" name="TextBox 16"/>
          <p:cNvSpPr txBox="1"/>
          <p:nvPr/>
        </p:nvSpPr>
        <p:spPr>
          <a:xfrm>
            <a:off x="8522208" y="2871216"/>
            <a:ext cx="347472"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F879A"/>
                </a:solidFill>
                <a:latin typeface="Arial"/>
              </a:rPr>
              <a:t>03</a:t>
            </a:r>
          </a:p>
        </p:txBody>
      </p:sp>
      <p:sp>
        <p:nvSpPr>
          <p:cNvPr id="18" name="TextBox 17"/>
          <p:cNvSpPr txBox="1"/>
          <p:nvPr/>
        </p:nvSpPr>
        <p:spPr>
          <a:xfrm>
            <a:off x="8915400" y="2852928"/>
            <a:ext cx="24231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FFFFFF"/>
                </a:solidFill>
                <a:latin typeface="Arial"/>
              </a:rPr>
              <a:t>GEDAREF</a:t>
            </a:r>
          </a:p>
        </p:txBody>
      </p:sp>
      <p:cxnSp>
        <p:nvCxnSpPr>
          <p:cNvPr id="19" name="Connector 18"/>
          <p:cNvCxnSpPr/>
          <p:nvPr/>
        </p:nvCxnSpPr>
        <p:spPr>
          <a:xfrm>
            <a:off x="8522208" y="3227832"/>
            <a:ext cx="2633472" cy="0"/>
          </a:xfrm>
          <a:prstGeom prst="line">
            <a:avLst/>
          </a:prstGeom>
          <a:ln w="6350">
            <a:solidFill>
              <a:srgbClr val="234058"/>
            </a:solidFill>
          </a:ln>
        </p:spPr>
      </p:cxnSp>
      <p:sp>
        <p:nvSpPr>
          <p:cNvPr id="20" name="TextBox 19"/>
          <p:cNvSpPr txBox="1"/>
          <p:nvPr/>
        </p:nvSpPr>
        <p:spPr>
          <a:xfrm>
            <a:off x="8522208" y="3474720"/>
            <a:ext cx="347472"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F879A"/>
                </a:solidFill>
                <a:latin typeface="Arial"/>
              </a:rPr>
              <a:t>04</a:t>
            </a:r>
          </a:p>
        </p:txBody>
      </p:sp>
      <p:sp>
        <p:nvSpPr>
          <p:cNvPr id="21" name="TextBox 20"/>
          <p:cNvSpPr txBox="1"/>
          <p:nvPr/>
        </p:nvSpPr>
        <p:spPr>
          <a:xfrm>
            <a:off x="8915400" y="3456432"/>
            <a:ext cx="24231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FFFFFF"/>
                </a:solidFill>
                <a:latin typeface="Arial"/>
              </a:rPr>
              <a:t>EL OBEID</a:t>
            </a:r>
          </a:p>
        </p:txBody>
      </p:sp>
      <p:cxnSp>
        <p:nvCxnSpPr>
          <p:cNvPr id="22" name="Connector 21"/>
          <p:cNvCxnSpPr/>
          <p:nvPr/>
        </p:nvCxnSpPr>
        <p:spPr>
          <a:xfrm>
            <a:off x="8522208" y="3831335"/>
            <a:ext cx="2633472" cy="0"/>
          </a:xfrm>
          <a:prstGeom prst="line">
            <a:avLst/>
          </a:prstGeom>
          <a:ln w="6350">
            <a:solidFill>
              <a:srgbClr val="234058"/>
            </a:solidFill>
          </a:ln>
        </p:spPr>
      </p:cxnSp>
      <p:sp>
        <p:nvSpPr>
          <p:cNvPr id="23" name="TextBox 22"/>
          <p:cNvSpPr txBox="1"/>
          <p:nvPr/>
        </p:nvSpPr>
        <p:spPr>
          <a:xfrm>
            <a:off x="8522208" y="4078224"/>
            <a:ext cx="347472"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F879A"/>
                </a:solidFill>
                <a:latin typeface="Arial"/>
              </a:rPr>
              <a:t>05</a:t>
            </a:r>
          </a:p>
        </p:txBody>
      </p:sp>
      <p:sp>
        <p:nvSpPr>
          <p:cNvPr id="24" name="TextBox 23"/>
          <p:cNvSpPr txBox="1"/>
          <p:nvPr/>
        </p:nvSpPr>
        <p:spPr>
          <a:xfrm>
            <a:off x="8915400" y="4059936"/>
            <a:ext cx="24231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FFFFFF"/>
                </a:solidFill>
                <a:latin typeface="Arial"/>
              </a:rPr>
              <a:t>NYALA</a:t>
            </a:r>
          </a:p>
        </p:txBody>
      </p:sp>
      <p:sp>
        <p:nvSpPr>
          <p:cNvPr id="25" name="TextBox 24"/>
          <p:cNvSpPr txBox="1"/>
          <p:nvPr/>
        </p:nvSpPr>
        <p:spPr>
          <a:xfrm>
            <a:off x="8522208" y="5102352"/>
            <a:ext cx="2697480" cy="475488"/>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9FB1BF"/>
                </a:solidFill>
                <a:latin typeface="Arial"/>
              </a:rPr>
              <a:t>24.25–37.0°E</a:t>
            </a:r>
          </a:p>
          <a:p>
            <a:pPr algn="l">
              <a:lnSpc>
                <a:spcPct val="120000"/>
              </a:lnSpc>
              <a:spcBef>
                <a:spcPts val="0"/>
              </a:spcBef>
              <a:spcAft>
                <a:spcPts val="0"/>
              </a:spcAft>
            </a:pPr>
            <a:r>
              <a:rPr sz="950" b="0" i="0">
                <a:solidFill>
                  <a:srgbClr val="9FB1BF"/>
                </a:solidFill>
                <a:latin typeface="Arial"/>
              </a:rPr>
              <a:t>11.5–16.25°N</a:t>
            </a:r>
          </a:p>
        </p:txBody>
      </p:sp>
      <p:sp>
        <p:nvSpPr>
          <p:cNvPr id="26" name="TextBox 25"/>
          <p:cNvSpPr txBox="1"/>
          <p:nvPr/>
        </p:nvSpPr>
        <p:spPr>
          <a:xfrm>
            <a:off x="713232" y="5961888"/>
            <a:ext cx="5120640" cy="237744"/>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7F95A7"/>
                </a:solidFill>
                <a:latin typeface="Arial"/>
              </a:rPr>
              <a:t>ECMWF IFS 49r1  ·  CMORPH 1998–2024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01 / THE PLACE</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Five towns across Sudan's rainfall gradient</a:t>
            </a:r>
          </a:p>
        </p:txBody>
      </p:sp>
      <p:cxnSp>
        <p:nvCxnSpPr>
          <p:cNvPr id="5" name="Connector 4"/>
          <p:cNvCxnSpPr/>
          <p:nvPr/>
        </p:nvCxnSpPr>
        <p:spPr>
          <a:xfrm>
            <a:off x="594360" y="1307592"/>
            <a:ext cx="11000232" cy="0"/>
          </a:xfrm>
          <a:prstGeom prst="line">
            <a:avLst/>
          </a:prstGeom>
          <a:ln w="9525">
            <a:solidFill>
              <a:srgbClr val="DDD6C8"/>
            </a:solidFill>
          </a:ln>
        </p:spPr>
      </p:cxnSp>
      <p:pic>
        <p:nvPicPr>
          <p:cNvPr id="6" name="Picture 5" descr="Map of the Sudan study region with five towns and the CMORPH 24-hour 10-year rainfall level."/>
          <p:cNvPicPr>
            <a:picLocks noChangeAspect="1"/>
          </p:cNvPicPr>
          <p:nvPr/>
        </p:nvPicPr>
        <p:blipFill>
          <a:blip r:embed="rId2"/>
          <a:stretch>
            <a:fillRect/>
          </a:stretch>
        </p:blipFill>
        <p:spPr>
          <a:xfrm>
            <a:off x="635508" y="1417320"/>
            <a:ext cx="6364224" cy="3182112"/>
          </a:xfrm>
          <a:prstGeom prst="rect">
            <a:avLst/>
          </a:prstGeom>
        </p:spPr>
      </p:pic>
      <p:sp>
        <p:nvSpPr>
          <p:cNvPr id="7" name="Rectangle 6"/>
          <p:cNvSpPr/>
          <p:nvPr/>
        </p:nvSpPr>
        <p:spPr>
          <a:xfrm>
            <a:off x="635508" y="1417320"/>
            <a:ext cx="6364224" cy="3182112"/>
          </a:xfrm>
          <a:prstGeom prst="rect">
            <a:avLst/>
          </a:prstGeom>
          <a:noFill/>
          <a:ln w="9525">
            <a:solidFill>
              <a:srgbClr val="DDD6C8"/>
            </a:solidFill>
          </a:ln>
          <a:effectLst/>
        </p:spPr>
        <p:txBody>
          <a:bodyPr rtlCol="0" anchor="ctr"/>
          <a:lstStyle/>
          <a:p>
            <a:pPr algn="ctr"/>
          </a:p>
        </p:txBody>
      </p:sp>
      <p:sp>
        <p:nvSpPr>
          <p:cNvPr id="8" name="TextBox 7"/>
          <p:cNvSpPr txBox="1"/>
          <p:nvPr/>
        </p:nvSpPr>
        <p:spPr>
          <a:xfrm>
            <a:off x="621792" y="4645152"/>
            <a:ext cx="6355080"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Background: CMORPH 24-hour 10-year level; dots mark the nearest CMORPH pixel to each town.</a:t>
            </a:r>
          </a:p>
        </p:txBody>
      </p:sp>
      <p:sp>
        <p:nvSpPr>
          <p:cNvPr id="9" name="Rounded Rectangle 8"/>
          <p:cNvSpPr/>
          <p:nvPr/>
        </p:nvSpPr>
        <p:spPr>
          <a:xfrm>
            <a:off x="7269480" y="1417320"/>
            <a:ext cx="4279392" cy="3291840"/>
          </a:xfrm>
          <a:prstGeom prst="roundRect">
            <a:avLst>
              <a:gd name="adj" fmla="val 4000"/>
            </a:avLst>
          </a:prstGeom>
          <a:solidFill>
            <a:srgbClr val="FFFFFF"/>
          </a:solidFill>
          <a:ln w="9525">
            <a:solidFill>
              <a:srgbClr val="DDD6C8"/>
            </a:solidFill>
          </a:ln>
          <a:effectLst/>
        </p:spPr>
        <p:txBody>
          <a:bodyPr rtlCol="0" anchor="ctr"/>
          <a:lstStyle/>
          <a:p>
            <a:pPr algn="ctr"/>
          </a:p>
        </p:txBody>
      </p:sp>
      <p:sp>
        <p:nvSpPr>
          <p:cNvPr id="10" name="TextBox 9"/>
          <p:cNvSpPr txBox="1"/>
          <p:nvPr/>
        </p:nvSpPr>
        <p:spPr>
          <a:xfrm>
            <a:off x="7470648" y="1581912"/>
            <a:ext cx="2651760" cy="219456"/>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A96500"/>
                </a:solidFill>
                <a:latin typeface="Arial"/>
              </a:rPr>
              <a:t>24-HOUR 2-YEAR LEVEL</a:t>
            </a:r>
          </a:p>
        </p:txBody>
      </p:sp>
      <p:sp>
        <p:nvSpPr>
          <p:cNvPr id="11" name="TextBox 10"/>
          <p:cNvSpPr txBox="1"/>
          <p:nvPr/>
        </p:nvSpPr>
        <p:spPr>
          <a:xfrm>
            <a:off x="7470648" y="1920240"/>
            <a:ext cx="1325880" cy="219456"/>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Khartoum</a:t>
            </a:r>
          </a:p>
        </p:txBody>
      </p:sp>
      <p:sp>
        <p:nvSpPr>
          <p:cNvPr id="12" name="TextBox 11"/>
          <p:cNvSpPr txBox="1"/>
          <p:nvPr/>
        </p:nvSpPr>
        <p:spPr>
          <a:xfrm>
            <a:off x="8787384" y="1892808"/>
            <a:ext cx="822960" cy="256032"/>
          </a:xfrm>
          <a:prstGeom prst="rect">
            <a:avLst/>
          </a:prstGeom>
          <a:noFill/>
        </p:spPr>
        <p:txBody>
          <a:bodyPr wrap="square" lIns="0" rIns="0" tIns="0" bIns="0" anchor="t">
            <a:spAutoFit/>
          </a:bodyPr>
          <a:lstStyle/>
          <a:p>
            <a:pPr algn="r">
              <a:lnSpc>
                <a:spcPct val="100000"/>
              </a:lnSpc>
              <a:spcBef>
                <a:spcPts val="0"/>
              </a:spcBef>
              <a:spcAft>
                <a:spcPts val="0"/>
              </a:spcAft>
            </a:pPr>
            <a:r>
              <a:rPr sz="1350" b="1" i="0">
                <a:solidFill>
                  <a:srgbClr val="A96500"/>
                </a:solidFill>
                <a:latin typeface="Arial"/>
              </a:rPr>
              <a:t>23.8</a:t>
            </a:r>
          </a:p>
        </p:txBody>
      </p:sp>
      <p:sp>
        <p:nvSpPr>
          <p:cNvPr id="13" name="TextBox 12"/>
          <p:cNvSpPr txBox="1"/>
          <p:nvPr/>
        </p:nvSpPr>
        <p:spPr>
          <a:xfrm>
            <a:off x="9628632" y="1938528"/>
            <a:ext cx="1600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mm/day</a:t>
            </a:r>
          </a:p>
        </p:txBody>
      </p:sp>
      <p:sp>
        <p:nvSpPr>
          <p:cNvPr id="14" name="TextBox 13"/>
          <p:cNvSpPr txBox="1"/>
          <p:nvPr/>
        </p:nvSpPr>
        <p:spPr>
          <a:xfrm>
            <a:off x="7470648" y="2148840"/>
            <a:ext cx="2103120" cy="182880"/>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capital · Nile confluence</a:t>
            </a:r>
          </a:p>
        </p:txBody>
      </p:sp>
      <p:cxnSp>
        <p:nvCxnSpPr>
          <p:cNvPr id="15" name="Connector 14"/>
          <p:cNvCxnSpPr/>
          <p:nvPr/>
        </p:nvCxnSpPr>
        <p:spPr>
          <a:xfrm>
            <a:off x="7470648" y="2359152"/>
            <a:ext cx="3867912" cy="0"/>
          </a:xfrm>
          <a:prstGeom prst="line">
            <a:avLst/>
          </a:prstGeom>
          <a:ln w="6350">
            <a:solidFill>
              <a:srgbClr val="EEE9DE"/>
            </a:solidFill>
          </a:ln>
        </p:spPr>
      </p:cxnSp>
      <p:sp>
        <p:nvSpPr>
          <p:cNvPr id="16" name="TextBox 15"/>
          <p:cNvSpPr txBox="1"/>
          <p:nvPr/>
        </p:nvSpPr>
        <p:spPr>
          <a:xfrm>
            <a:off x="7470648" y="2432304"/>
            <a:ext cx="1325880" cy="219456"/>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Kassala</a:t>
            </a:r>
          </a:p>
        </p:txBody>
      </p:sp>
      <p:sp>
        <p:nvSpPr>
          <p:cNvPr id="17" name="TextBox 16"/>
          <p:cNvSpPr txBox="1"/>
          <p:nvPr/>
        </p:nvSpPr>
        <p:spPr>
          <a:xfrm>
            <a:off x="8787384" y="2404872"/>
            <a:ext cx="822960" cy="256032"/>
          </a:xfrm>
          <a:prstGeom prst="rect">
            <a:avLst/>
          </a:prstGeom>
          <a:noFill/>
        </p:spPr>
        <p:txBody>
          <a:bodyPr wrap="square" lIns="0" rIns="0" tIns="0" bIns="0" anchor="t">
            <a:spAutoFit/>
          </a:bodyPr>
          <a:lstStyle/>
          <a:p>
            <a:pPr algn="r">
              <a:lnSpc>
                <a:spcPct val="100000"/>
              </a:lnSpc>
              <a:spcBef>
                <a:spcPts val="0"/>
              </a:spcBef>
              <a:spcAft>
                <a:spcPts val="0"/>
              </a:spcAft>
            </a:pPr>
            <a:r>
              <a:rPr sz="1350" b="1" i="0">
                <a:solidFill>
                  <a:srgbClr val="A96500"/>
                </a:solidFill>
                <a:latin typeface="Arial"/>
              </a:rPr>
              <a:t>37.9</a:t>
            </a:r>
          </a:p>
        </p:txBody>
      </p:sp>
      <p:sp>
        <p:nvSpPr>
          <p:cNvPr id="18" name="TextBox 17"/>
          <p:cNvSpPr txBox="1"/>
          <p:nvPr/>
        </p:nvSpPr>
        <p:spPr>
          <a:xfrm>
            <a:off x="9628632" y="2450592"/>
            <a:ext cx="1600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mm/day</a:t>
            </a:r>
          </a:p>
        </p:txBody>
      </p:sp>
      <p:sp>
        <p:nvSpPr>
          <p:cNvPr id="19" name="TextBox 18"/>
          <p:cNvSpPr txBox="1"/>
          <p:nvPr/>
        </p:nvSpPr>
        <p:spPr>
          <a:xfrm>
            <a:off x="7470648" y="2660904"/>
            <a:ext cx="2103120" cy="182880"/>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eastern border · Gash</a:t>
            </a:r>
          </a:p>
        </p:txBody>
      </p:sp>
      <p:cxnSp>
        <p:nvCxnSpPr>
          <p:cNvPr id="20" name="Connector 19"/>
          <p:cNvCxnSpPr/>
          <p:nvPr/>
        </p:nvCxnSpPr>
        <p:spPr>
          <a:xfrm>
            <a:off x="7470648" y="2871216"/>
            <a:ext cx="3867912" cy="0"/>
          </a:xfrm>
          <a:prstGeom prst="line">
            <a:avLst/>
          </a:prstGeom>
          <a:ln w="6350">
            <a:solidFill>
              <a:srgbClr val="EEE9DE"/>
            </a:solidFill>
          </a:ln>
        </p:spPr>
      </p:cxnSp>
      <p:sp>
        <p:nvSpPr>
          <p:cNvPr id="21" name="TextBox 20"/>
          <p:cNvSpPr txBox="1"/>
          <p:nvPr/>
        </p:nvSpPr>
        <p:spPr>
          <a:xfrm>
            <a:off x="7470648" y="2944368"/>
            <a:ext cx="1325880" cy="219456"/>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Gedaref</a:t>
            </a:r>
          </a:p>
        </p:txBody>
      </p:sp>
      <p:sp>
        <p:nvSpPr>
          <p:cNvPr id="22" name="TextBox 21"/>
          <p:cNvSpPr txBox="1"/>
          <p:nvPr/>
        </p:nvSpPr>
        <p:spPr>
          <a:xfrm>
            <a:off x="8787384" y="2916936"/>
            <a:ext cx="822960" cy="256032"/>
          </a:xfrm>
          <a:prstGeom prst="rect">
            <a:avLst/>
          </a:prstGeom>
          <a:noFill/>
        </p:spPr>
        <p:txBody>
          <a:bodyPr wrap="square" lIns="0" rIns="0" tIns="0" bIns="0" anchor="t">
            <a:spAutoFit/>
          </a:bodyPr>
          <a:lstStyle/>
          <a:p>
            <a:pPr algn="r">
              <a:lnSpc>
                <a:spcPct val="100000"/>
              </a:lnSpc>
              <a:spcBef>
                <a:spcPts val="0"/>
              </a:spcBef>
              <a:spcAft>
                <a:spcPts val="0"/>
              </a:spcAft>
            </a:pPr>
            <a:r>
              <a:rPr sz="1350" b="1" i="0">
                <a:solidFill>
                  <a:srgbClr val="A96500"/>
                </a:solidFill>
                <a:latin typeface="Arial"/>
              </a:rPr>
              <a:t>53.0</a:t>
            </a:r>
          </a:p>
        </p:txBody>
      </p:sp>
      <p:sp>
        <p:nvSpPr>
          <p:cNvPr id="23" name="TextBox 22"/>
          <p:cNvSpPr txBox="1"/>
          <p:nvPr/>
        </p:nvSpPr>
        <p:spPr>
          <a:xfrm>
            <a:off x="9628632" y="2962656"/>
            <a:ext cx="1600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mm/day</a:t>
            </a:r>
          </a:p>
        </p:txBody>
      </p:sp>
      <p:sp>
        <p:nvSpPr>
          <p:cNvPr id="24" name="TextBox 23"/>
          <p:cNvSpPr txBox="1"/>
          <p:nvPr/>
        </p:nvSpPr>
        <p:spPr>
          <a:xfrm>
            <a:off x="7470648" y="3172968"/>
            <a:ext cx="2103120" cy="182880"/>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rain-fed agriculture</a:t>
            </a:r>
          </a:p>
        </p:txBody>
      </p:sp>
      <p:cxnSp>
        <p:nvCxnSpPr>
          <p:cNvPr id="25" name="Connector 24"/>
          <p:cNvCxnSpPr/>
          <p:nvPr/>
        </p:nvCxnSpPr>
        <p:spPr>
          <a:xfrm>
            <a:off x="7470648" y="3383280"/>
            <a:ext cx="3867912" cy="0"/>
          </a:xfrm>
          <a:prstGeom prst="line">
            <a:avLst/>
          </a:prstGeom>
          <a:ln w="6350">
            <a:solidFill>
              <a:srgbClr val="EEE9DE"/>
            </a:solidFill>
          </a:ln>
        </p:spPr>
      </p:cxnSp>
      <p:sp>
        <p:nvSpPr>
          <p:cNvPr id="26" name="TextBox 25"/>
          <p:cNvSpPr txBox="1"/>
          <p:nvPr/>
        </p:nvSpPr>
        <p:spPr>
          <a:xfrm>
            <a:off x="7470648" y="3456432"/>
            <a:ext cx="1325880" cy="219456"/>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El Obeid</a:t>
            </a:r>
          </a:p>
        </p:txBody>
      </p:sp>
      <p:sp>
        <p:nvSpPr>
          <p:cNvPr id="27" name="TextBox 26"/>
          <p:cNvSpPr txBox="1"/>
          <p:nvPr/>
        </p:nvSpPr>
        <p:spPr>
          <a:xfrm>
            <a:off x="8787384" y="3429000"/>
            <a:ext cx="822960" cy="256032"/>
          </a:xfrm>
          <a:prstGeom prst="rect">
            <a:avLst/>
          </a:prstGeom>
          <a:noFill/>
        </p:spPr>
        <p:txBody>
          <a:bodyPr wrap="square" lIns="0" rIns="0" tIns="0" bIns="0" anchor="t">
            <a:spAutoFit/>
          </a:bodyPr>
          <a:lstStyle/>
          <a:p>
            <a:pPr algn="r">
              <a:lnSpc>
                <a:spcPct val="100000"/>
              </a:lnSpc>
              <a:spcBef>
                <a:spcPts val="0"/>
              </a:spcBef>
              <a:spcAft>
                <a:spcPts val="0"/>
              </a:spcAft>
            </a:pPr>
            <a:r>
              <a:rPr sz="1350" b="1" i="0">
                <a:solidFill>
                  <a:srgbClr val="A96500"/>
                </a:solidFill>
                <a:latin typeface="Arial"/>
              </a:rPr>
              <a:t>37.2</a:t>
            </a:r>
          </a:p>
        </p:txBody>
      </p:sp>
      <p:sp>
        <p:nvSpPr>
          <p:cNvPr id="28" name="TextBox 27"/>
          <p:cNvSpPr txBox="1"/>
          <p:nvPr/>
        </p:nvSpPr>
        <p:spPr>
          <a:xfrm>
            <a:off x="9628632" y="3474720"/>
            <a:ext cx="1600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mm/day</a:t>
            </a:r>
          </a:p>
        </p:txBody>
      </p:sp>
      <p:sp>
        <p:nvSpPr>
          <p:cNvPr id="29" name="TextBox 28"/>
          <p:cNvSpPr txBox="1"/>
          <p:nvPr/>
        </p:nvSpPr>
        <p:spPr>
          <a:xfrm>
            <a:off x="7470648" y="3685032"/>
            <a:ext cx="2103120" cy="182880"/>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central savanna</a:t>
            </a:r>
          </a:p>
        </p:txBody>
      </p:sp>
      <p:cxnSp>
        <p:nvCxnSpPr>
          <p:cNvPr id="30" name="Connector 29"/>
          <p:cNvCxnSpPr/>
          <p:nvPr/>
        </p:nvCxnSpPr>
        <p:spPr>
          <a:xfrm>
            <a:off x="7470648" y="3895344"/>
            <a:ext cx="3867912" cy="0"/>
          </a:xfrm>
          <a:prstGeom prst="line">
            <a:avLst/>
          </a:prstGeom>
          <a:ln w="6350">
            <a:solidFill>
              <a:srgbClr val="EEE9DE"/>
            </a:solidFill>
          </a:ln>
        </p:spPr>
      </p:cxnSp>
      <p:sp>
        <p:nvSpPr>
          <p:cNvPr id="31" name="TextBox 30"/>
          <p:cNvSpPr txBox="1"/>
          <p:nvPr/>
        </p:nvSpPr>
        <p:spPr>
          <a:xfrm>
            <a:off x="7470648" y="3968496"/>
            <a:ext cx="1325880" cy="219456"/>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Nyala</a:t>
            </a:r>
          </a:p>
        </p:txBody>
      </p:sp>
      <p:sp>
        <p:nvSpPr>
          <p:cNvPr id="32" name="TextBox 31"/>
          <p:cNvSpPr txBox="1"/>
          <p:nvPr/>
        </p:nvSpPr>
        <p:spPr>
          <a:xfrm>
            <a:off x="8787384" y="3941063"/>
            <a:ext cx="822960" cy="256032"/>
          </a:xfrm>
          <a:prstGeom prst="rect">
            <a:avLst/>
          </a:prstGeom>
          <a:noFill/>
        </p:spPr>
        <p:txBody>
          <a:bodyPr wrap="square" lIns="0" rIns="0" tIns="0" bIns="0" anchor="t">
            <a:spAutoFit/>
          </a:bodyPr>
          <a:lstStyle/>
          <a:p>
            <a:pPr algn="r">
              <a:lnSpc>
                <a:spcPct val="100000"/>
              </a:lnSpc>
              <a:spcBef>
                <a:spcPts val="0"/>
              </a:spcBef>
              <a:spcAft>
                <a:spcPts val="0"/>
              </a:spcAft>
            </a:pPr>
            <a:r>
              <a:rPr sz="1350" b="1" i="0">
                <a:solidFill>
                  <a:srgbClr val="A96500"/>
                </a:solidFill>
                <a:latin typeface="Arial"/>
              </a:rPr>
              <a:t>32.3</a:t>
            </a:r>
          </a:p>
        </p:txBody>
      </p:sp>
      <p:sp>
        <p:nvSpPr>
          <p:cNvPr id="33" name="TextBox 32"/>
          <p:cNvSpPr txBox="1"/>
          <p:nvPr/>
        </p:nvSpPr>
        <p:spPr>
          <a:xfrm>
            <a:off x="9628632" y="3986783"/>
            <a:ext cx="1600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mm/day</a:t>
            </a:r>
          </a:p>
        </p:txBody>
      </p:sp>
      <p:sp>
        <p:nvSpPr>
          <p:cNvPr id="34" name="TextBox 33"/>
          <p:cNvSpPr txBox="1"/>
          <p:nvPr/>
        </p:nvSpPr>
        <p:spPr>
          <a:xfrm>
            <a:off x="7470648" y="4197096"/>
            <a:ext cx="2103120" cy="182880"/>
          </a:xfrm>
          <a:prstGeom prst="rect">
            <a:avLst/>
          </a:prstGeom>
          <a:noFill/>
        </p:spPr>
        <p:txBody>
          <a:bodyPr wrap="square" lIns="0" rIns="0" tIns="0" bIns="0" anchor="t">
            <a:spAutoFit/>
          </a:bodyPr>
          <a:lstStyle/>
          <a:p>
            <a:pPr algn="l">
              <a:lnSpc>
                <a:spcPct val="100000"/>
              </a:lnSpc>
              <a:spcBef>
                <a:spcPts val="0"/>
              </a:spcBef>
              <a:spcAft>
                <a:spcPts val="0"/>
              </a:spcAft>
            </a:pPr>
            <a:r>
              <a:rPr sz="819" b="0" i="0">
                <a:solidFill>
                  <a:srgbClr val="5B6B7C"/>
                </a:solidFill>
                <a:latin typeface="Arial"/>
              </a:rPr>
              <a:t>western Darfur</a:t>
            </a:r>
          </a:p>
        </p:txBody>
      </p:sp>
      <p:sp>
        <p:nvSpPr>
          <p:cNvPr id="35" name="Rounded Rectangle 34"/>
          <p:cNvSpPr/>
          <p:nvPr/>
        </p:nvSpPr>
        <p:spPr>
          <a:xfrm>
            <a:off x="594360" y="5029200"/>
            <a:ext cx="10972800" cy="1152144"/>
          </a:xfrm>
          <a:prstGeom prst="roundRect">
            <a:avLst>
              <a:gd name="adj" fmla="val 3500"/>
            </a:avLst>
          </a:prstGeom>
          <a:solidFill>
            <a:srgbClr val="0B1F33"/>
          </a:solidFill>
          <a:ln>
            <a:noFill/>
          </a:ln>
          <a:effectLst/>
        </p:spPr>
        <p:txBody>
          <a:bodyPr rtlCol="0" anchor="ctr"/>
          <a:lstStyle/>
          <a:p>
            <a:pPr algn="ctr"/>
          </a:p>
        </p:txBody>
      </p:sp>
      <p:sp>
        <p:nvSpPr>
          <p:cNvPr id="36" name="TextBox 35"/>
          <p:cNvSpPr txBox="1"/>
          <p:nvPr/>
        </p:nvSpPr>
        <p:spPr>
          <a:xfrm>
            <a:off x="813816" y="5175504"/>
            <a:ext cx="2057400" cy="256032"/>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D9901A"/>
                </a:solidFill>
                <a:latin typeface="Arial"/>
              </a:rPr>
              <a:t>WHY THESE TOWNS?</a:t>
            </a:r>
          </a:p>
        </p:txBody>
      </p:sp>
      <p:sp>
        <p:nvSpPr>
          <p:cNvPr id="37" name="TextBox 36"/>
          <p:cNvSpPr txBox="1"/>
          <p:nvPr/>
        </p:nvSpPr>
        <p:spPr>
          <a:xfrm>
            <a:off x="813816" y="5458968"/>
            <a:ext cx="3200400" cy="457200"/>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FFFFFF"/>
                </a:solidFill>
                <a:latin typeface="Arial"/>
              </a:rPr>
              <a:t>The capital and four state capitals: people, markets, roads.</a:t>
            </a:r>
          </a:p>
        </p:txBody>
      </p:sp>
      <p:sp>
        <p:nvSpPr>
          <p:cNvPr id="38" name="TextBox 37"/>
          <p:cNvSpPr txBox="1"/>
          <p:nvPr/>
        </p:nvSpPr>
        <p:spPr>
          <a:xfrm>
            <a:off x="4114800" y="5458968"/>
            <a:ext cx="3200400" cy="457200"/>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FFFFFF"/>
                </a:solidFill>
                <a:latin typeface="Arial"/>
              </a:rPr>
              <a:t>Rain-fed agriculture and local flood exposure.</a:t>
            </a:r>
          </a:p>
        </p:txBody>
      </p:sp>
      <p:sp>
        <p:nvSpPr>
          <p:cNvPr id="39" name="TextBox 38"/>
          <p:cNvSpPr txBox="1"/>
          <p:nvPr/>
        </p:nvSpPr>
        <p:spPr>
          <a:xfrm>
            <a:off x="7424927" y="5458968"/>
            <a:ext cx="3858768" cy="457200"/>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FFFFFF"/>
                </a:solidFill>
                <a:latin typeface="Arial"/>
              </a:rPr>
              <a:t>A 2.2× spread in the local 2-year level: 23.8–53.0 mm/day.</a:t>
            </a:r>
          </a:p>
        </p:txBody>
      </p:sp>
      <p:cxnSp>
        <p:nvCxnSpPr>
          <p:cNvPr id="40" name="Connector 39"/>
          <p:cNvCxnSpPr/>
          <p:nvPr/>
        </p:nvCxnSpPr>
        <p:spPr>
          <a:xfrm>
            <a:off x="594360" y="6437376"/>
            <a:ext cx="11000232" cy="0"/>
          </a:xfrm>
          <a:prstGeom prst="line">
            <a:avLst/>
          </a:prstGeom>
          <a:ln w="9525">
            <a:solidFill>
              <a:srgbClr val="DDD6C8"/>
            </a:solidFill>
          </a:ln>
        </p:spPr>
      </p:cxnSp>
      <p:sp>
        <p:nvSpPr>
          <p:cNvPr id="41" name="TextBox 40"/>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42" name="TextBox 41"/>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02 / DATA</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Two stores, one comparison frame</a:t>
            </a:r>
          </a:p>
        </p:txBody>
      </p:sp>
      <p:cxnSp>
        <p:nvCxnSpPr>
          <p:cNvPr id="5" name="Connector 4"/>
          <p:cNvCxnSpPr/>
          <p:nvPr/>
        </p:nvCxnSpPr>
        <p:spPr>
          <a:xfrm>
            <a:off x="594360" y="1307592"/>
            <a:ext cx="11000232" cy="0"/>
          </a:xfrm>
          <a:prstGeom prst="line">
            <a:avLst/>
          </a:prstGeom>
          <a:ln w="9525">
            <a:solidFill>
              <a:srgbClr val="DDD6C8"/>
            </a:solidFill>
          </a:ln>
        </p:spPr>
      </p:cxnSp>
      <p:sp>
        <p:nvSpPr>
          <p:cNvPr id="6" name="Rounded Rectangle 5"/>
          <p:cNvSpPr/>
          <p:nvPr/>
        </p:nvSpPr>
        <p:spPr>
          <a:xfrm>
            <a:off x="594360" y="1417320"/>
            <a:ext cx="5440680" cy="388620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7" name="Rectangle 6"/>
          <p:cNvSpPr/>
          <p:nvPr/>
        </p:nvSpPr>
        <p:spPr>
          <a:xfrm>
            <a:off x="594360" y="1417320"/>
            <a:ext cx="73152" cy="3886200"/>
          </a:xfrm>
          <a:prstGeom prst="rect">
            <a:avLst/>
          </a:prstGeom>
          <a:solidFill>
            <a:srgbClr val="D9901A"/>
          </a:solidFill>
          <a:ln>
            <a:noFill/>
          </a:ln>
          <a:effectLst/>
        </p:spPr>
        <p:txBody>
          <a:bodyPr rtlCol="0" anchor="ctr"/>
          <a:lstStyle/>
          <a:p>
            <a:pPr algn="ctr"/>
          </a:p>
        </p:txBody>
      </p:sp>
      <p:sp>
        <p:nvSpPr>
          <p:cNvPr id="8" name="TextBox 7"/>
          <p:cNvSpPr txBox="1"/>
          <p:nvPr/>
        </p:nvSpPr>
        <p:spPr>
          <a:xfrm>
            <a:off x="850392" y="1572768"/>
            <a:ext cx="4389120" cy="219456"/>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A96500"/>
                </a:solidFill>
                <a:latin typeface="Arial"/>
              </a:rPr>
              <a:t>FORECAST</a:t>
            </a:r>
          </a:p>
        </p:txBody>
      </p:sp>
      <p:sp>
        <p:nvSpPr>
          <p:cNvPr id="9" name="TextBox 8"/>
          <p:cNvSpPr txBox="1"/>
          <p:nvPr/>
        </p:nvSpPr>
        <p:spPr>
          <a:xfrm>
            <a:off x="850392" y="1801368"/>
            <a:ext cx="4480560" cy="329184"/>
          </a:xfrm>
          <a:prstGeom prst="rect">
            <a:avLst/>
          </a:prstGeom>
          <a:noFill/>
        </p:spPr>
        <p:txBody>
          <a:bodyPr wrap="square" lIns="0" rIns="0" tIns="0" bIns="0" anchor="t">
            <a:spAutoFit/>
          </a:bodyPr>
          <a:lstStyle/>
          <a:p>
            <a:pPr algn="l">
              <a:lnSpc>
                <a:spcPct val="100000"/>
              </a:lnSpc>
              <a:spcBef>
                <a:spcPts val="0"/>
              </a:spcBef>
              <a:spcAft>
                <a:spcPts val="0"/>
              </a:spcAft>
            </a:pPr>
            <a:r>
              <a:rPr sz="1800" b="1" i="0">
                <a:solidFill>
                  <a:srgbClr val="0B1F33"/>
                </a:solidFill>
                <a:latin typeface="Arial"/>
              </a:rPr>
              <a:t>ECMWF IFS ensemble</a:t>
            </a:r>
          </a:p>
        </p:txBody>
      </p:sp>
      <p:sp>
        <p:nvSpPr>
          <p:cNvPr id="10" name="TextBox 9"/>
          <p:cNvSpPr txBox="1"/>
          <p:nvPr/>
        </p:nvSpPr>
        <p:spPr>
          <a:xfrm>
            <a:off x="850392" y="2139696"/>
            <a:ext cx="4526280" cy="219456"/>
          </a:xfrm>
          <a:prstGeom prst="rect">
            <a:avLst/>
          </a:prstGeom>
          <a:noFill/>
        </p:spPr>
        <p:txBody>
          <a:bodyPr wrap="square" lIns="0" rIns="0" tIns="0" bIns="0" anchor="t">
            <a:spAutoFit/>
          </a:bodyPr>
          <a:lstStyle/>
          <a:p>
            <a:pPr algn="l">
              <a:lnSpc>
                <a:spcPct val="100000"/>
              </a:lnSpc>
              <a:spcBef>
                <a:spcPts val="0"/>
              </a:spcBef>
              <a:spcAft>
                <a:spcPts val="0"/>
              </a:spcAft>
            </a:pPr>
            <a:r>
              <a:rPr sz="950" b="0" i="0">
                <a:solidFill>
                  <a:srgbClr val="5B6B7C"/>
                </a:solidFill>
                <a:latin typeface="Arial"/>
              </a:rPr>
              <a:t>49r1 · JJA 2025 realized store</a:t>
            </a:r>
          </a:p>
        </p:txBody>
      </p:sp>
      <p:sp>
        <p:nvSpPr>
          <p:cNvPr id="11" name="TextBox 10"/>
          <p:cNvSpPr txBox="1"/>
          <p:nvPr/>
        </p:nvSpPr>
        <p:spPr>
          <a:xfrm>
            <a:off x="850392" y="2551176"/>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MEMBERS</a:t>
            </a:r>
          </a:p>
        </p:txBody>
      </p:sp>
      <p:sp>
        <p:nvSpPr>
          <p:cNvPr id="12" name="TextBox 11"/>
          <p:cNvSpPr txBox="1"/>
          <p:nvPr/>
        </p:nvSpPr>
        <p:spPr>
          <a:xfrm>
            <a:off x="1975104" y="2532888"/>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182A3A"/>
                </a:solidFill>
                <a:latin typeface="Arial"/>
              </a:rPr>
              <a:t>51</a:t>
            </a:r>
          </a:p>
        </p:txBody>
      </p:sp>
      <p:sp>
        <p:nvSpPr>
          <p:cNvPr id="13" name="TextBox 12"/>
          <p:cNvSpPr txBox="1"/>
          <p:nvPr/>
        </p:nvSpPr>
        <p:spPr>
          <a:xfrm>
            <a:off x="850392" y="2990088"/>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DAILY STARTS</a:t>
            </a:r>
          </a:p>
        </p:txBody>
      </p:sp>
      <p:sp>
        <p:nvSpPr>
          <p:cNvPr id="14" name="TextBox 13"/>
          <p:cNvSpPr txBox="1"/>
          <p:nvPr/>
        </p:nvSpPr>
        <p:spPr>
          <a:xfrm>
            <a:off x="1975104" y="2971800"/>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92  ·  1 Jun–31 Aug 2025</a:t>
            </a:r>
          </a:p>
        </p:txBody>
      </p:sp>
      <p:sp>
        <p:nvSpPr>
          <p:cNvPr id="15" name="TextBox 14"/>
          <p:cNvSpPr txBox="1"/>
          <p:nvPr/>
        </p:nvSpPr>
        <p:spPr>
          <a:xfrm>
            <a:off x="850392" y="3429000"/>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LEAD TIMES</a:t>
            </a:r>
          </a:p>
        </p:txBody>
      </p:sp>
      <p:sp>
        <p:nvSpPr>
          <p:cNvPr id="16" name="TextBox 15"/>
          <p:cNvSpPr txBox="1"/>
          <p:nvPr/>
        </p:nvSpPr>
        <p:spPr>
          <a:xfrm>
            <a:off x="1975104" y="3410712"/>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0–240 h  ·  65 steps</a:t>
            </a:r>
          </a:p>
        </p:txBody>
      </p:sp>
      <p:sp>
        <p:nvSpPr>
          <p:cNvPr id="17" name="TextBox 16"/>
          <p:cNvSpPr txBox="1"/>
          <p:nvPr/>
        </p:nvSpPr>
        <p:spPr>
          <a:xfrm>
            <a:off x="850392" y="3867912"/>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GRID</a:t>
            </a:r>
          </a:p>
        </p:txBody>
      </p:sp>
      <p:sp>
        <p:nvSpPr>
          <p:cNvPr id="18" name="TextBox 17"/>
          <p:cNvSpPr txBox="1"/>
          <p:nvPr/>
        </p:nvSpPr>
        <p:spPr>
          <a:xfrm>
            <a:off x="1975104" y="3849624"/>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0.25° (~28 km)  ·  321×261</a:t>
            </a:r>
          </a:p>
        </p:txBody>
      </p:sp>
      <p:sp>
        <p:nvSpPr>
          <p:cNvPr id="19" name="TextBox 18"/>
          <p:cNvSpPr txBox="1"/>
          <p:nvPr/>
        </p:nvSpPr>
        <p:spPr>
          <a:xfrm>
            <a:off x="850392" y="4306824"/>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VARIABLE</a:t>
            </a:r>
          </a:p>
        </p:txBody>
      </p:sp>
      <p:sp>
        <p:nvSpPr>
          <p:cNvPr id="20" name="TextBox 19"/>
          <p:cNvSpPr txBox="1"/>
          <p:nvPr/>
        </p:nvSpPr>
        <p:spPr>
          <a:xfrm>
            <a:off x="1975104" y="4288536"/>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tp cumulative, m → mm</a:t>
            </a:r>
          </a:p>
        </p:txBody>
      </p:sp>
      <p:sp>
        <p:nvSpPr>
          <p:cNvPr id="21" name="TextBox 20"/>
          <p:cNvSpPr txBox="1"/>
          <p:nvPr/>
        </p:nvSpPr>
        <p:spPr>
          <a:xfrm>
            <a:off x="850392" y="4745736"/>
            <a:ext cx="1078992"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SNAPSHOT</a:t>
            </a:r>
          </a:p>
        </p:txBody>
      </p:sp>
      <p:sp>
        <p:nvSpPr>
          <p:cNvPr id="22" name="TextBox 21"/>
          <p:cNvSpPr txBox="1"/>
          <p:nvPr/>
        </p:nvSpPr>
        <p:spPr>
          <a:xfrm>
            <a:off x="1975104" y="4727448"/>
            <a:ext cx="3822191" cy="237744"/>
          </a:xfrm>
          <a:prstGeom prst="rect">
            <a:avLst/>
          </a:prstGeom>
          <a:noFill/>
        </p:spPr>
        <p:txBody>
          <a:bodyPr wrap="square" lIns="0" rIns="0" tIns="0" bIns="0" anchor="t">
            <a:spAutoFit/>
          </a:bodyPr>
          <a:lstStyle/>
          <a:p>
            <a:pPr algn="l">
              <a:lnSpc>
                <a:spcPct val="100000"/>
              </a:lnSpc>
              <a:spcBef>
                <a:spcPts val="0"/>
              </a:spcBef>
              <a:spcAft>
                <a:spcPts val="0"/>
              </a:spcAft>
            </a:pPr>
            <a:r>
              <a:rPr sz="790" b="0" i="0">
                <a:solidFill>
                  <a:srgbClr val="182A3A"/>
                </a:solidFill>
                <a:latin typeface="Courier New"/>
              </a:rPr>
              <a:t>212QY6MDW3RZ7PWD7A2G</a:t>
            </a:r>
          </a:p>
        </p:txBody>
      </p:sp>
      <p:sp>
        <p:nvSpPr>
          <p:cNvPr id="23" name="Rounded Rectangle 22"/>
          <p:cNvSpPr/>
          <p:nvPr/>
        </p:nvSpPr>
        <p:spPr>
          <a:xfrm>
            <a:off x="6199632" y="1417320"/>
            <a:ext cx="5394960" cy="388620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24" name="Rectangle 23"/>
          <p:cNvSpPr/>
          <p:nvPr/>
        </p:nvSpPr>
        <p:spPr>
          <a:xfrm>
            <a:off x="6199632" y="1417320"/>
            <a:ext cx="73152" cy="3886200"/>
          </a:xfrm>
          <a:prstGeom prst="rect">
            <a:avLst/>
          </a:prstGeom>
          <a:solidFill>
            <a:srgbClr val="0F766E"/>
          </a:solidFill>
          <a:ln>
            <a:noFill/>
          </a:ln>
          <a:effectLst/>
        </p:spPr>
        <p:txBody>
          <a:bodyPr rtlCol="0" anchor="ctr"/>
          <a:lstStyle/>
          <a:p>
            <a:pPr algn="ctr"/>
          </a:p>
        </p:txBody>
      </p:sp>
      <p:sp>
        <p:nvSpPr>
          <p:cNvPr id="25" name="TextBox 24"/>
          <p:cNvSpPr txBox="1"/>
          <p:nvPr/>
        </p:nvSpPr>
        <p:spPr>
          <a:xfrm>
            <a:off x="6455664" y="1572768"/>
            <a:ext cx="4389120" cy="219456"/>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0F766E"/>
                </a:solidFill>
                <a:latin typeface="Arial"/>
              </a:rPr>
              <a:t>OBSERVED REFERENCE</a:t>
            </a:r>
          </a:p>
        </p:txBody>
      </p:sp>
      <p:sp>
        <p:nvSpPr>
          <p:cNvPr id="26" name="TextBox 25"/>
          <p:cNvSpPr txBox="1"/>
          <p:nvPr/>
        </p:nvSpPr>
        <p:spPr>
          <a:xfrm>
            <a:off x="6455664" y="1801368"/>
            <a:ext cx="4480560" cy="329184"/>
          </a:xfrm>
          <a:prstGeom prst="rect">
            <a:avLst/>
          </a:prstGeom>
          <a:noFill/>
        </p:spPr>
        <p:txBody>
          <a:bodyPr wrap="square" lIns="0" rIns="0" tIns="0" bIns="0" anchor="t">
            <a:spAutoFit/>
          </a:bodyPr>
          <a:lstStyle/>
          <a:p>
            <a:pPr algn="l">
              <a:lnSpc>
                <a:spcPct val="100000"/>
              </a:lnSpc>
              <a:spcBef>
                <a:spcPts val="0"/>
              </a:spcBef>
              <a:spcAft>
                <a:spcPts val="0"/>
              </a:spcAft>
            </a:pPr>
            <a:r>
              <a:rPr sz="1800" b="1" i="0">
                <a:solidFill>
                  <a:srgbClr val="0B1F33"/>
                </a:solidFill>
                <a:latin typeface="Arial"/>
              </a:rPr>
              <a:t>CMORPH return levels</a:t>
            </a:r>
          </a:p>
        </p:txBody>
      </p:sp>
      <p:sp>
        <p:nvSpPr>
          <p:cNvPr id="27" name="TextBox 26"/>
          <p:cNvSpPr txBox="1"/>
          <p:nvPr/>
        </p:nvSpPr>
        <p:spPr>
          <a:xfrm>
            <a:off x="6455664" y="2139696"/>
            <a:ext cx="4526280" cy="219456"/>
          </a:xfrm>
          <a:prstGeom prst="rect">
            <a:avLst/>
          </a:prstGeom>
          <a:noFill/>
        </p:spPr>
        <p:txBody>
          <a:bodyPr wrap="square" lIns="0" rIns="0" tIns="0" bIns="0" anchor="t">
            <a:spAutoFit/>
          </a:bodyPr>
          <a:lstStyle/>
          <a:p>
            <a:pPr algn="l">
              <a:lnSpc>
                <a:spcPct val="100000"/>
              </a:lnSpc>
              <a:spcBef>
                <a:spcPts val="0"/>
              </a:spcBef>
              <a:spcAft>
                <a:spcPts val="0"/>
              </a:spcAft>
            </a:pPr>
            <a:r>
              <a:rPr sz="950" b="0" i="0">
                <a:solidFill>
                  <a:srgbClr val="5B6B7C"/>
                </a:solidFill>
                <a:latin typeface="Arial"/>
              </a:rPr>
              <a:t>1998–2024 · 27 annual maxima</a:t>
            </a:r>
          </a:p>
        </p:txBody>
      </p:sp>
      <p:sp>
        <p:nvSpPr>
          <p:cNvPr id="28" name="TextBox 27"/>
          <p:cNvSpPr txBox="1"/>
          <p:nvPr/>
        </p:nvSpPr>
        <p:spPr>
          <a:xfrm>
            <a:off x="6455664" y="2551176"/>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RECORD</a:t>
            </a:r>
          </a:p>
        </p:txBody>
      </p:sp>
      <p:sp>
        <p:nvSpPr>
          <p:cNvPr id="29" name="TextBox 28"/>
          <p:cNvSpPr txBox="1"/>
          <p:nvPr/>
        </p:nvSpPr>
        <p:spPr>
          <a:xfrm>
            <a:off x="7479792" y="2532888"/>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1998–2024  ·  27 years</a:t>
            </a:r>
          </a:p>
        </p:txBody>
      </p:sp>
      <p:sp>
        <p:nvSpPr>
          <p:cNvPr id="30" name="TextBox 29"/>
          <p:cNvSpPr txBox="1"/>
          <p:nvPr/>
        </p:nvSpPr>
        <p:spPr>
          <a:xfrm>
            <a:off x="6455664" y="2990088"/>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PRODUCTS</a:t>
            </a:r>
          </a:p>
        </p:txBody>
      </p:sp>
      <p:sp>
        <p:nvSpPr>
          <p:cNvPr id="31" name="TextBox 30"/>
          <p:cNvSpPr txBox="1"/>
          <p:nvPr/>
        </p:nvSpPr>
        <p:spPr>
          <a:xfrm>
            <a:off x="7479792" y="2971800"/>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9 durations  ×  6 return periods</a:t>
            </a:r>
          </a:p>
        </p:txBody>
      </p:sp>
      <p:sp>
        <p:nvSpPr>
          <p:cNvPr id="32" name="TextBox 31"/>
          <p:cNvSpPr txBox="1"/>
          <p:nvPr/>
        </p:nvSpPr>
        <p:spPr>
          <a:xfrm>
            <a:off x="6455664" y="3429000"/>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GRID</a:t>
            </a:r>
          </a:p>
        </p:txBody>
      </p:sp>
      <p:sp>
        <p:nvSpPr>
          <p:cNvPr id="33" name="TextBox 32"/>
          <p:cNvSpPr txBox="1"/>
          <p:nvPr/>
        </p:nvSpPr>
        <p:spPr>
          <a:xfrm>
            <a:off x="7479792" y="3410712"/>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~8 km  ·  550×474  ·  lat ascending</a:t>
            </a:r>
          </a:p>
        </p:txBody>
      </p:sp>
      <p:sp>
        <p:nvSpPr>
          <p:cNvPr id="34" name="TextBox 33"/>
          <p:cNvSpPr txBox="1"/>
          <p:nvPr/>
        </p:nvSpPr>
        <p:spPr>
          <a:xfrm>
            <a:off x="6455664" y="3867912"/>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VARIABLE</a:t>
            </a:r>
          </a:p>
        </p:txBody>
      </p:sp>
      <p:sp>
        <p:nvSpPr>
          <p:cNvPr id="35" name="TextBox 34"/>
          <p:cNvSpPr txBox="1"/>
          <p:nvPr/>
        </p:nvSpPr>
        <p:spPr>
          <a:xfrm>
            <a:off x="7479792" y="3849624"/>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return_period_precip, mm</a:t>
            </a:r>
          </a:p>
        </p:txBody>
      </p:sp>
      <p:sp>
        <p:nvSpPr>
          <p:cNvPr id="36" name="TextBox 35"/>
          <p:cNvSpPr txBox="1"/>
          <p:nvPr/>
        </p:nvSpPr>
        <p:spPr>
          <a:xfrm>
            <a:off x="6455664" y="4306824"/>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THRESHOLDS</a:t>
            </a:r>
          </a:p>
        </p:txBody>
      </p:sp>
      <p:sp>
        <p:nvSpPr>
          <p:cNvPr id="37" name="TextBox 36"/>
          <p:cNvSpPr txBox="1"/>
          <p:nvPr/>
        </p:nvSpPr>
        <p:spPr>
          <a:xfrm>
            <a:off x="7479792" y="4288536"/>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182A3A"/>
                </a:solidFill>
                <a:latin typeface="Arial"/>
              </a:rPr>
              <a:t>2 / 10 / 50-year  ·  24 / 48 h</a:t>
            </a:r>
          </a:p>
        </p:txBody>
      </p:sp>
      <p:sp>
        <p:nvSpPr>
          <p:cNvPr id="38" name="TextBox 37"/>
          <p:cNvSpPr txBox="1"/>
          <p:nvPr/>
        </p:nvSpPr>
        <p:spPr>
          <a:xfrm>
            <a:off x="6455664" y="4745736"/>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20" b="1" i="0">
                <a:solidFill>
                  <a:srgbClr val="8A98A5"/>
                </a:solidFill>
                <a:latin typeface="Arial"/>
              </a:rPr>
              <a:t>SNAPSHOT</a:t>
            </a:r>
          </a:p>
        </p:txBody>
      </p:sp>
      <p:sp>
        <p:nvSpPr>
          <p:cNvPr id="39" name="TextBox 38"/>
          <p:cNvSpPr txBox="1"/>
          <p:nvPr/>
        </p:nvSpPr>
        <p:spPr>
          <a:xfrm>
            <a:off x="7479792" y="4727448"/>
            <a:ext cx="3931920" cy="237744"/>
          </a:xfrm>
          <a:prstGeom prst="rect">
            <a:avLst/>
          </a:prstGeom>
          <a:noFill/>
        </p:spPr>
        <p:txBody>
          <a:bodyPr wrap="square" lIns="0" rIns="0" tIns="0" bIns="0" anchor="t">
            <a:spAutoFit/>
          </a:bodyPr>
          <a:lstStyle/>
          <a:p>
            <a:pPr algn="l">
              <a:lnSpc>
                <a:spcPct val="100000"/>
              </a:lnSpc>
              <a:spcBef>
                <a:spcPts val="0"/>
              </a:spcBef>
              <a:spcAft>
                <a:spcPts val="0"/>
              </a:spcAft>
            </a:pPr>
            <a:r>
              <a:rPr sz="790" b="0" i="0">
                <a:solidFill>
                  <a:srgbClr val="182A3A"/>
                </a:solidFill>
                <a:latin typeface="Courier New"/>
              </a:rPr>
              <a:t>309ZYV7EMDMNPD0EDZK0</a:t>
            </a:r>
          </a:p>
        </p:txBody>
      </p:sp>
      <p:sp>
        <p:nvSpPr>
          <p:cNvPr id="40" name="Rounded Rectangle 39"/>
          <p:cNvSpPr/>
          <p:nvPr/>
        </p:nvSpPr>
        <p:spPr>
          <a:xfrm>
            <a:off x="594360" y="5486400"/>
            <a:ext cx="11000232" cy="859536"/>
          </a:xfrm>
          <a:prstGeom prst="roundRect">
            <a:avLst>
              <a:gd name="adj" fmla="val 3000"/>
            </a:avLst>
          </a:prstGeom>
          <a:solidFill>
            <a:srgbClr val="0B1F33"/>
          </a:solidFill>
          <a:ln>
            <a:noFill/>
          </a:ln>
          <a:effectLst/>
        </p:spPr>
        <p:txBody>
          <a:bodyPr rtlCol="0" anchor="ctr"/>
          <a:lstStyle/>
          <a:p>
            <a:pPr algn="ctr"/>
          </a:p>
        </p:txBody>
      </p:sp>
      <p:sp>
        <p:nvSpPr>
          <p:cNvPr id="41" name="TextBox 40"/>
          <p:cNvSpPr txBox="1"/>
          <p:nvPr/>
        </p:nvSpPr>
        <p:spPr>
          <a:xfrm>
            <a:off x="804672" y="5577840"/>
            <a:ext cx="2926080" cy="201168"/>
          </a:xfrm>
          <a:prstGeom prst="rect">
            <a:avLst/>
          </a:prstGeom>
          <a:noFill/>
        </p:spPr>
        <p:txBody>
          <a:bodyPr wrap="square" lIns="0" rIns="0" tIns="0" bIns="0" anchor="t">
            <a:spAutoFit/>
          </a:bodyPr>
          <a:lstStyle/>
          <a:p>
            <a:pPr algn="l">
              <a:lnSpc>
                <a:spcPct val="100000"/>
              </a:lnSpc>
              <a:spcBef>
                <a:spcPts val="0"/>
              </a:spcBef>
              <a:spcAft>
                <a:spcPts val="0"/>
              </a:spcAft>
            </a:pPr>
            <a:r>
              <a:rPr sz="830" b="1" i="0">
                <a:solidFill>
                  <a:srgbClr val="D9901A"/>
                </a:solidFill>
                <a:latin typeface="Arial"/>
              </a:rPr>
              <a:t>SHARED COMPARISON FRAME</a:t>
            </a:r>
          </a:p>
        </p:txBody>
      </p:sp>
      <p:sp>
        <p:nvSpPr>
          <p:cNvPr id="42" name="TextBox 41"/>
          <p:cNvSpPr txBox="1"/>
          <p:nvPr/>
        </p:nvSpPr>
        <p:spPr>
          <a:xfrm>
            <a:off x="804672" y="5797296"/>
            <a:ext cx="10515600" cy="219456"/>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FFFFFF"/>
                </a:solidFill>
                <a:latin typeface="Arial"/>
              </a:rPr>
              <a:t>24-hour totals  ·  mm  ·  strict &gt;  ·  nearest pixel  ·  local 2-year threshold for B/C/D</a:t>
            </a:r>
          </a:p>
        </p:txBody>
      </p:sp>
      <p:sp>
        <p:nvSpPr>
          <p:cNvPr id="43" name="TextBox 42"/>
          <p:cNvSpPr txBox="1"/>
          <p:nvPr/>
        </p:nvSpPr>
        <p:spPr>
          <a:xfrm>
            <a:off x="804672" y="6071616"/>
            <a:ext cx="10607040" cy="182880"/>
          </a:xfrm>
          <a:prstGeom prst="rect">
            <a:avLst/>
          </a:prstGeom>
          <a:noFill/>
        </p:spPr>
        <p:txBody>
          <a:bodyPr wrap="square" lIns="0" rIns="0" tIns="0" bIns="0" anchor="t">
            <a:spAutoFit/>
          </a:bodyPr>
          <a:lstStyle/>
          <a:p>
            <a:pPr algn="l">
              <a:lnSpc>
                <a:spcPct val="100000"/>
              </a:lnSpc>
              <a:spcBef>
                <a:spcPts val="0"/>
              </a:spcBef>
              <a:spcAft>
                <a:spcPts val="0"/>
              </a:spcAft>
            </a:pPr>
            <a:r>
              <a:rPr sz="750" b="0" i="0">
                <a:solidFill>
                  <a:srgbClr val="B9C7D2"/>
                </a:solidFill>
                <a:latin typeface="Arial"/>
              </a:rPr>
              <a:t>Source: data.source.coop/e4drr-project virtual stores. Only requested maps/steps are read.</a:t>
            </a:r>
          </a:p>
        </p:txBody>
      </p:sp>
      <p:cxnSp>
        <p:nvCxnSpPr>
          <p:cNvPr id="44" name="Connector 43"/>
          <p:cNvCxnSpPr/>
          <p:nvPr/>
        </p:nvCxnSpPr>
        <p:spPr>
          <a:xfrm>
            <a:off x="594360" y="6437376"/>
            <a:ext cx="11000232" cy="0"/>
          </a:xfrm>
          <a:prstGeom prst="line">
            <a:avLst/>
          </a:prstGeom>
          <a:ln w="9525">
            <a:solidFill>
              <a:srgbClr val="DDD6C8"/>
            </a:solidFill>
          </a:ln>
        </p:spPr>
      </p:cxnSp>
      <p:sp>
        <p:nvSpPr>
          <p:cNvPr id="45" name="TextBox 4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46" name="TextBox 4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03 / METHOD</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A common threshold, read four ways</a:t>
            </a:r>
          </a:p>
        </p:txBody>
      </p:sp>
      <p:cxnSp>
        <p:nvCxnSpPr>
          <p:cNvPr id="5" name="Connector 4"/>
          <p:cNvCxnSpPr/>
          <p:nvPr/>
        </p:nvCxnSpPr>
        <p:spPr>
          <a:xfrm>
            <a:off x="594360" y="1307592"/>
            <a:ext cx="11000232" cy="0"/>
          </a:xfrm>
          <a:prstGeom prst="line">
            <a:avLst/>
          </a:prstGeom>
          <a:ln w="9525">
            <a:solidFill>
              <a:srgbClr val="DDD6C8"/>
            </a:solidFill>
          </a:ln>
        </p:spPr>
      </p:cxnSp>
      <p:sp>
        <p:nvSpPr>
          <p:cNvPr id="6" name="Rounded Rectangle 5"/>
          <p:cNvSpPr/>
          <p:nvPr/>
        </p:nvSpPr>
        <p:spPr>
          <a:xfrm>
            <a:off x="594360" y="1417320"/>
            <a:ext cx="2606040" cy="3977639"/>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7" name="Rectangle 6"/>
          <p:cNvSpPr/>
          <p:nvPr/>
        </p:nvSpPr>
        <p:spPr>
          <a:xfrm>
            <a:off x="594360" y="1417320"/>
            <a:ext cx="2606040" cy="68580"/>
          </a:xfrm>
          <a:prstGeom prst="rect">
            <a:avLst/>
          </a:prstGeom>
          <a:solidFill>
            <a:srgbClr val="D9901A"/>
          </a:solidFill>
          <a:ln>
            <a:noFill/>
          </a:ln>
          <a:effectLst/>
        </p:spPr>
        <p:txBody>
          <a:bodyPr rtlCol="0" anchor="ctr"/>
          <a:lstStyle/>
          <a:p>
            <a:pPr algn="ctr"/>
          </a:p>
        </p:txBody>
      </p:sp>
      <p:sp>
        <p:nvSpPr>
          <p:cNvPr id="8" name="Oval 7"/>
          <p:cNvSpPr/>
          <p:nvPr/>
        </p:nvSpPr>
        <p:spPr>
          <a:xfrm>
            <a:off x="777240" y="1645920"/>
            <a:ext cx="475488" cy="475488"/>
          </a:xfrm>
          <a:prstGeom prst="ellipse">
            <a:avLst/>
          </a:prstGeom>
          <a:solidFill>
            <a:srgbClr val="D9901A"/>
          </a:solidFill>
          <a:ln>
            <a:noFill/>
          </a:ln>
          <a:effectLst/>
        </p:spPr>
        <p:txBody>
          <a:bodyPr rtlCol="0" anchor="ctr"/>
          <a:lstStyle/>
          <a:p>
            <a:pPr algn="ctr"/>
          </a:p>
        </p:txBody>
      </p:sp>
      <p:sp>
        <p:nvSpPr>
          <p:cNvPr id="9" name="TextBox 8"/>
          <p:cNvSpPr txBox="1"/>
          <p:nvPr/>
        </p:nvSpPr>
        <p:spPr>
          <a:xfrm>
            <a:off x="777240" y="1682496"/>
            <a:ext cx="475488" cy="384048"/>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Arial"/>
              </a:rPr>
              <a:t>A</a:t>
            </a:r>
          </a:p>
        </p:txBody>
      </p:sp>
      <p:sp>
        <p:nvSpPr>
          <p:cNvPr id="10" name="TextBox 9"/>
          <p:cNvSpPr txBox="1"/>
          <p:nvPr/>
        </p:nvSpPr>
        <p:spPr>
          <a:xfrm>
            <a:off x="1362456" y="1664208"/>
            <a:ext cx="1691640" cy="201168"/>
          </a:xfrm>
          <a:prstGeom prst="rect">
            <a:avLst/>
          </a:prstGeom>
          <a:noFill/>
        </p:spPr>
        <p:txBody>
          <a:bodyPr wrap="square" lIns="0" rIns="0" tIns="0" bIns="0" anchor="t">
            <a:spAutoFit/>
          </a:bodyPr>
          <a:lstStyle/>
          <a:p>
            <a:pPr algn="l">
              <a:lnSpc>
                <a:spcPct val="100000"/>
              </a:lnSpc>
              <a:spcBef>
                <a:spcPts val="0"/>
              </a:spcBef>
              <a:spcAft>
                <a:spcPts val="0"/>
              </a:spcAft>
            </a:pPr>
            <a:r>
              <a:rPr sz="780" b="1" i="0">
                <a:solidFill>
                  <a:srgbClr val="D9901A"/>
                </a:solidFill>
                <a:latin typeface="Arial"/>
              </a:rPr>
              <a:t>OBSERVED</a:t>
            </a:r>
          </a:p>
        </p:txBody>
      </p:sp>
      <p:sp>
        <p:nvSpPr>
          <p:cNvPr id="11" name="TextBox 10"/>
          <p:cNvSpPr txBox="1"/>
          <p:nvPr/>
        </p:nvSpPr>
        <p:spPr>
          <a:xfrm>
            <a:off x="1362456" y="1874519"/>
            <a:ext cx="1691640" cy="548640"/>
          </a:xfrm>
          <a:prstGeom prst="rect">
            <a:avLst/>
          </a:prstGeom>
          <a:noFill/>
        </p:spPr>
        <p:txBody>
          <a:bodyPr wrap="square" lIns="0" rIns="0" tIns="0" bIns="0" anchor="t">
            <a:spAutoFit/>
          </a:bodyPr>
          <a:lstStyle/>
          <a:p>
            <a:pPr algn="l">
              <a:lnSpc>
                <a:spcPct val="98000"/>
              </a:lnSpc>
              <a:spcBef>
                <a:spcPts val="0"/>
              </a:spcBef>
              <a:spcAft>
                <a:spcPts val="0"/>
              </a:spcAft>
            </a:pPr>
            <a:r>
              <a:rPr sz="1150" b="1" i="0">
                <a:solidFill>
                  <a:srgbClr val="0B1F33"/>
                </a:solidFill>
                <a:latin typeface="Arial"/>
              </a:rPr>
              <a:t>What is extreme?</a:t>
            </a:r>
          </a:p>
        </p:txBody>
      </p:sp>
      <p:sp>
        <p:nvSpPr>
          <p:cNvPr id="12" name="TextBox 11"/>
          <p:cNvSpPr txBox="1"/>
          <p:nvPr/>
        </p:nvSpPr>
        <p:spPr>
          <a:xfrm>
            <a:off x="777240" y="2606040"/>
            <a:ext cx="2240280" cy="1783080"/>
          </a:xfrm>
          <a:prstGeom prst="rect">
            <a:avLst/>
          </a:prstGeom>
          <a:noFill/>
        </p:spPr>
        <p:txBody>
          <a:bodyPr wrap="square" lIns="0" rIns="0" tIns="0" bIns="0" anchor="t">
            <a:spAutoFit/>
          </a:bodyPr>
          <a:lstStyle/>
          <a:p>
            <a:pPr algn="l">
              <a:lnSpc>
                <a:spcPct val="108000"/>
              </a:lnSpc>
              <a:spcBef>
                <a:spcPts val="0"/>
              </a:spcBef>
              <a:spcAft>
                <a:spcPts val="0"/>
              </a:spcAft>
            </a:pPr>
            <a:r>
              <a:rPr sz="980" b="0" i="0">
                <a:solidFill>
                  <a:srgbClr val="182A3A"/>
                </a:solidFill>
                <a:latin typeface="Arial"/>
              </a:rPr>
              <a:t>27 annual maxima → Gumbel fit → local 24-hour 2-year level. 10- and 50-year levels test sensitivity.</a:t>
            </a:r>
          </a:p>
        </p:txBody>
      </p:sp>
      <p:cxnSp>
        <p:nvCxnSpPr>
          <p:cNvPr id="13" name="Connector 12"/>
          <p:cNvCxnSpPr/>
          <p:nvPr/>
        </p:nvCxnSpPr>
        <p:spPr>
          <a:xfrm>
            <a:off x="777240" y="4005072"/>
            <a:ext cx="2240280" cy="0"/>
          </a:xfrm>
          <a:prstGeom prst="line">
            <a:avLst/>
          </a:prstGeom>
          <a:ln w="6350">
            <a:solidFill>
              <a:srgbClr val="DDD6C8"/>
            </a:solidFill>
          </a:ln>
        </p:spPr>
      </p:cxnSp>
      <p:sp>
        <p:nvSpPr>
          <p:cNvPr id="14" name="TextBox 13"/>
          <p:cNvSpPr txBox="1"/>
          <p:nvPr/>
        </p:nvSpPr>
        <p:spPr>
          <a:xfrm>
            <a:off x="777240" y="4160520"/>
            <a:ext cx="2212848" cy="182880"/>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8A98A5"/>
                </a:solidFill>
                <a:latin typeface="Arial"/>
              </a:rPr>
              <a:t>OUTPUT</a:t>
            </a:r>
          </a:p>
        </p:txBody>
      </p:sp>
      <p:sp>
        <p:nvSpPr>
          <p:cNvPr id="15" name="TextBox 14"/>
          <p:cNvSpPr txBox="1"/>
          <p:nvPr/>
        </p:nvSpPr>
        <p:spPr>
          <a:xfrm>
            <a:off x="777240" y="4334256"/>
            <a:ext cx="2212848" cy="384048"/>
          </a:xfrm>
          <a:prstGeom prst="rect">
            <a:avLst/>
          </a:prstGeom>
          <a:noFill/>
        </p:spPr>
        <p:txBody>
          <a:bodyPr wrap="square" lIns="0" rIns="0" tIns="0" bIns="0" anchor="t">
            <a:spAutoFit/>
          </a:bodyPr>
          <a:lstStyle/>
          <a:p>
            <a:pPr algn="l">
              <a:lnSpc>
                <a:spcPct val="98000"/>
              </a:lnSpc>
              <a:spcBef>
                <a:spcPts val="0"/>
              </a:spcBef>
              <a:spcAft>
                <a:spcPts val="0"/>
              </a:spcAft>
            </a:pPr>
            <a:r>
              <a:rPr sz="869" b="0" i="0">
                <a:solidFill>
                  <a:srgbClr val="5B6B7C"/>
                </a:solidFill>
                <a:latin typeface="Arial"/>
              </a:rPr>
              <a:t>local threshold table</a:t>
            </a:r>
          </a:p>
        </p:txBody>
      </p:sp>
      <p:sp>
        <p:nvSpPr>
          <p:cNvPr id="16" name="TextBox 15"/>
          <p:cNvSpPr txBox="1"/>
          <p:nvPr/>
        </p:nvSpPr>
        <p:spPr>
          <a:xfrm>
            <a:off x="777240" y="4882896"/>
            <a:ext cx="2212848" cy="365760"/>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A96500"/>
                </a:solidFill>
                <a:latin typeface="Arial"/>
              </a:rPr>
              <a:t>Feeds B, C and D</a:t>
            </a:r>
          </a:p>
        </p:txBody>
      </p:sp>
      <p:sp>
        <p:nvSpPr>
          <p:cNvPr id="17" name="Rounded Rectangle 16"/>
          <p:cNvSpPr/>
          <p:nvPr/>
        </p:nvSpPr>
        <p:spPr>
          <a:xfrm>
            <a:off x="3383279" y="1417320"/>
            <a:ext cx="2606040" cy="3977639"/>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8" name="Rectangle 17"/>
          <p:cNvSpPr/>
          <p:nvPr/>
        </p:nvSpPr>
        <p:spPr>
          <a:xfrm>
            <a:off x="3383279" y="1417320"/>
            <a:ext cx="2606040" cy="68580"/>
          </a:xfrm>
          <a:prstGeom prst="rect">
            <a:avLst/>
          </a:prstGeom>
          <a:solidFill>
            <a:srgbClr val="0F766E"/>
          </a:solidFill>
          <a:ln>
            <a:noFill/>
          </a:ln>
          <a:effectLst/>
        </p:spPr>
        <p:txBody>
          <a:bodyPr rtlCol="0" anchor="ctr"/>
          <a:lstStyle/>
          <a:p>
            <a:pPr algn="ctr"/>
          </a:p>
        </p:txBody>
      </p:sp>
      <p:sp>
        <p:nvSpPr>
          <p:cNvPr id="19" name="Oval 18"/>
          <p:cNvSpPr/>
          <p:nvPr/>
        </p:nvSpPr>
        <p:spPr>
          <a:xfrm>
            <a:off x="3566160" y="1645920"/>
            <a:ext cx="475488" cy="475488"/>
          </a:xfrm>
          <a:prstGeom prst="ellipse">
            <a:avLst/>
          </a:prstGeom>
          <a:solidFill>
            <a:srgbClr val="0F766E"/>
          </a:solidFill>
          <a:ln>
            <a:noFill/>
          </a:ln>
          <a:effectLst/>
        </p:spPr>
        <p:txBody>
          <a:bodyPr rtlCol="0" anchor="ctr"/>
          <a:lstStyle/>
          <a:p>
            <a:pPr algn="ctr"/>
          </a:p>
        </p:txBody>
      </p:sp>
      <p:sp>
        <p:nvSpPr>
          <p:cNvPr id="20" name="TextBox 19"/>
          <p:cNvSpPr txBox="1"/>
          <p:nvPr/>
        </p:nvSpPr>
        <p:spPr>
          <a:xfrm>
            <a:off x="3566160" y="1682496"/>
            <a:ext cx="475488" cy="384048"/>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Arial"/>
              </a:rPr>
              <a:t>B</a:t>
            </a:r>
          </a:p>
        </p:txBody>
      </p:sp>
      <p:sp>
        <p:nvSpPr>
          <p:cNvPr id="21" name="TextBox 20"/>
          <p:cNvSpPr txBox="1"/>
          <p:nvPr/>
        </p:nvSpPr>
        <p:spPr>
          <a:xfrm>
            <a:off x="4151376" y="1664208"/>
            <a:ext cx="1691640" cy="201168"/>
          </a:xfrm>
          <a:prstGeom prst="rect">
            <a:avLst/>
          </a:prstGeom>
          <a:noFill/>
        </p:spPr>
        <p:txBody>
          <a:bodyPr wrap="square" lIns="0" rIns="0" tIns="0" bIns="0" anchor="t">
            <a:spAutoFit/>
          </a:bodyPr>
          <a:lstStyle/>
          <a:p>
            <a:pPr algn="l">
              <a:lnSpc>
                <a:spcPct val="100000"/>
              </a:lnSpc>
              <a:spcBef>
                <a:spcPts val="0"/>
              </a:spcBef>
              <a:spcAft>
                <a:spcPts val="0"/>
              </a:spcAft>
            </a:pPr>
            <a:r>
              <a:rPr sz="780" b="1" i="0">
                <a:solidFill>
                  <a:srgbClr val="0F766E"/>
                </a:solidFill>
                <a:latin typeface="Arial"/>
              </a:rPr>
              <a:t>DEFINITION</a:t>
            </a:r>
          </a:p>
        </p:txBody>
      </p:sp>
      <p:sp>
        <p:nvSpPr>
          <p:cNvPr id="22" name="TextBox 21"/>
          <p:cNvSpPr txBox="1"/>
          <p:nvPr/>
        </p:nvSpPr>
        <p:spPr>
          <a:xfrm>
            <a:off x="4151376" y="1874519"/>
            <a:ext cx="1691640" cy="548640"/>
          </a:xfrm>
          <a:prstGeom prst="rect">
            <a:avLst/>
          </a:prstGeom>
          <a:noFill/>
        </p:spPr>
        <p:txBody>
          <a:bodyPr wrap="square" lIns="0" rIns="0" tIns="0" bIns="0" anchor="t">
            <a:spAutoFit/>
          </a:bodyPr>
          <a:lstStyle/>
          <a:p>
            <a:pPr algn="l">
              <a:lnSpc>
                <a:spcPct val="98000"/>
              </a:lnSpc>
              <a:spcBef>
                <a:spcPts val="0"/>
              </a:spcBef>
              <a:spcAft>
                <a:spcPts val="0"/>
              </a:spcAft>
            </a:pPr>
            <a:r>
              <a:rPr sz="1150" b="1" i="0">
                <a:solidFill>
                  <a:srgbClr val="0B1F33"/>
                </a:solidFill>
                <a:latin typeface="Arial"/>
              </a:rPr>
              <a:t>How much does the definition matter?</a:t>
            </a:r>
          </a:p>
        </p:txBody>
      </p:sp>
      <p:sp>
        <p:nvSpPr>
          <p:cNvPr id="23" name="TextBox 22"/>
          <p:cNvSpPr txBox="1"/>
          <p:nvPr/>
        </p:nvSpPr>
        <p:spPr>
          <a:xfrm>
            <a:off x="3566160" y="2606040"/>
            <a:ext cx="2240280" cy="1783080"/>
          </a:xfrm>
          <a:prstGeom prst="rect">
            <a:avLst/>
          </a:prstGeom>
          <a:noFill/>
        </p:spPr>
        <p:txBody>
          <a:bodyPr wrap="square" lIns="0" rIns="0" tIns="0" bIns="0" anchor="t">
            <a:spAutoFit/>
          </a:bodyPr>
          <a:lstStyle/>
          <a:p>
            <a:pPr algn="l">
              <a:lnSpc>
                <a:spcPct val="108000"/>
              </a:lnSpc>
              <a:spcBef>
                <a:spcPts val="0"/>
              </a:spcBef>
              <a:spcAft>
                <a:spcPts val="0"/>
              </a:spcAft>
            </a:pPr>
            <a:r>
              <a:rPr sz="980" b="0" i="0">
                <a:solidFill>
                  <a:srgbClr val="182A3A"/>
                </a:solidFill>
                <a:latin typeface="Arial"/>
              </a:rPr>
              <a:t>16 Jul start: fixed 20 mm vs local 2-year vs 10-year. Count member-days above each threshold.</a:t>
            </a:r>
          </a:p>
        </p:txBody>
      </p:sp>
      <p:cxnSp>
        <p:nvCxnSpPr>
          <p:cNvPr id="24" name="Connector 23"/>
          <p:cNvCxnSpPr/>
          <p:nvPr/>
        </p:nvCxnSpPr>
        <p:spPr>
          <a:xfrm>
            <a:off x="3566160" y="4005072"/>
            <a:ext cx="2240280" cy="0"/>
          </a:xfrm>
          <a:prstGeom prst="line">
            <a:avLst/>
          </a:prstGeom>
          <a:ln w="6350">
            <a:solidFill>
              <a:srgbClr val="DDD6C8"/>
            </a:solidFill>
          </a:ln>
        </p:spPr>
      </p:cxnSp>
      <p:sp>
        <p:nvSpPr>
          <p:cNvPr id="25" name="TextBox 24"/>
          <p:cNvSpPr txBox="1"/>
          <p:nvPr/>
        </p:nvSpPr>
        <p:spPr>
          <a:xfrm>
            <a:off x="3566160" y="4160520"/>
            <a:ext cx="2212848" cy="182880"/>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8A98A5"/>
                </a:solidFill>
                <a:latin typeface="Arial"/>
              </a:rPr>
              <a:t>OUTPUT</a:t>
            </a:r>
          </a:p>
        </p:txBody>
      </p:sp>
      <p:sp>
        <p:nvSpPr>
          <p:cNvPr id="26" name="TextBox 25"/>
          <p:cNvSpPr txBox="1"/>
          <p:nvPr/>
        </p:nvSpPr>
        <p:spPr>
          <a:xfrm>
            <a:off x="3566160" y="4334256"/>
            <a:ext cx="2212848" cy="384048"/>
          </a:xfrm>
          <a:prstGeom prst="rect">
            <a:avLst/>
          </a:prstGeom>
          <a:noFill/>
        </p:spPr>
        <p:txBody>
          <a:bodyPr wrap="square" lIns="0" rIns="0" tIns="0" bIns="0" anchor="t">
            <a:spAutoFit/>
          </a:bodyPr>
          <a:lstStyle/>
          <a:p>
            <a:pPr algn="l">
              <a:lnSpc>
                <a:spcPct val="98000"/>
              </a:lnSpc>
              <a:spcBef>
                <a:spcPts val="0"/>
              </a:spcBef>
              <a:spcAft>
                <a:spcPts val="0"/>
              </a:spcAft>
            </a:pPr>
            <a:r>
              <a:rPr sz="869" b="0" i="0">
                <a:solidFill>
                  <a:srgbClr val="5B6B7C"/>
                </a:solidFill>
                <a:latin typeface="Arial"/>
              </a:rPr>
              <a:t>member-day counts</a:t>
            </a:r>
          </a:p>
        </p:txBody>
      </p:sp>
      <p:sp>
        <p:nvSpPr>
          <p:cNvPr id="27" name="TextBox 26"/>
          <p:cNvSpPr txBox="1"/>
          <p:nvPr/>
        </p:nvSpPr>
        <p:spPr>
          <a:xfrm>
            <a:off x="3566160" y="4882896"/>
            <a:ext cx="2212848" cy="365760"/>
          </a:xfrm>
          <a:prstGeom prst="rect">
            <a:avLst/>
          </a:prstGeom>
          <a:noFill/>
        </p:spPr>
        <p:txBody>
          <a:bodyPr wrap="square" lIns="0" rIns="0" tIns="0" bIns="0" anchor="t">
            <a:spAutoFit/>
          </a:bodyPr>
          <a:lstStyle/>
          <a:p>
            <a:pPr algn="l">
              <a:lnSpc>
                <a:spcPct val="100000"/>
              </a:lnSpc>
              <a:spcBef>
                <a:spcPts val="0"/>
              </a:spcBef>
              <a:spcAft>
                <a:spcPts val="0"/>
              </a:spcAft>
            </a:pPr>
            <a:r>
              <a:rPr sz="840" b="0" i="0">
                <a:solidFill>
                  <a:srgbClr val="8A98A5"/>
                </a:solidFill>
                <a:latin typeface="Arial"/>
              </a:rPr>
              <a:t>Uses the A threshold</a:t>
            </a:r>
          </a:p>
        </p:txBody>
      </p:sp>
      <p:sp>
        <p:nvSpPr>
          <p:cNvPr id="28" name="Rounded Rectangle 27"/>
          <p:cNvSpPr/>
          <p:nvPr/>
        </p:nvSpPr>
        <p:spPr>
          <a:xfrm>
            <a:off x="6172200" y="1417320"/>
            <a:ext cx="2606040" cy="3977639"/>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29" name="Rectangle 28"/>
          <p:cNvSpPr/>
          <p:nvPr/>
        </p:nvSpPr>
        <p:spPr>
          <a:xfrm>
            <a:off x="6172200" y="1417320"/>
            <a:ext cx="2606040" cy="68580"/>
          </a:xfrm>
          <a:prstGeom prst="rect">
            <a:avLst/>
          </a:prstGeom>
          <a:solidFill>
            <a:srgbClr val="0B1F33"/>
          </a:solidFill>
          <a:ln>
            <a:noFill/>
          </a:ln>
          <a:effectLst/>
        </p:spPr>
        <p:txBody>
          <a:bodyPr rtlCol="0" anchor="ctr"/>
          <a:lstStyle/>
          <a:p>
            <a:pPr algn="ctr"/>
          </a:p>
        </p:txBody>
      </p:sp>
      <p:sp>
        <p:nvSpPr>
          <p:cNvPr id="30" name="Oval 29"/>
          <p:cNvSpPr/>
          <p:nvPr/>
        </p:nvSpPr>
        <p:spPr>
          <a:xfrm>
            <a:off x="6355080" y="1645920"/>
            <a:ext cx="475488" cy="475488"/>
          </a:xfrm>
          <a:prstGeom prst="ellipse">
            <a:avLst/>
          </a:prstGeom>
          <a:solidFill>
            <a:srgbClr val="0B1F33"/>
          </a:solidFill>
          <a:ln>
            <a:noFill/>
          </a:ln>
          <a:effectLst/>
        </p:spPr>
        <p:txBody>
          <a:bodyPr rtlCol="0" anchor="ctr"/>
          <a:lstStyle/>
          <a:p>
            <a:pPr algn="ctr"/>
          </a:p>
        </p:txBody>
      </p:sp>
      <p:sp>
        <p:nvSpPr>
          <p:cNvPr id="31" name="TextBox 30"/>
          <p:cNvSpPr txBox="1"/>
          <p:nvPr/>
        </p:nvSpPr>
        <p:spPr>
          <a:xfrm>
            <a:off x="6355080" y="1682496"/>
            <a:ext cx="475488" cy="384048"/>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Arial"/>
              </a:rPr>
              <a:t>C</a:t>
            </a:r>
          </a:p>
        </p:txBody>
      </p:sp>
      <p:sp>
        <p:nvSpPr>
          <p:cNvPr id="32" name="TextBox 31"/>
          <p:cNvSpPr txBox="1"/>
          <p:nvPr/>
        </p:nvSpPr>
        <p:spPr>
          <a:xfrm>
            <a:off x="6940296" y="1664208"/>
            <a:ext cx="1691640" cy="201168"/>
          </a:xfrm>
          <a:prstGeom prst="rect">
            <a:avLst/>
          </a:prstGeom>
          <a:noFill/>
        </p:spPr>
        <p:txBody>
          <a:bodyPr wrap="square" lIns="0" rIns="0" tIns="0" bIns="0" anchor="t">
            <a:spAutoFit/>
          </a:bodyPr>
          <a:lstStyle/>
          <a:p>
            <a:pPr algn="l">
              <a:lnSpc>
                <a:spcPct val="100000"/>
              </a:lnSpc>
              <a:spcBef>
                <a:spcPts val="0"/>
              </a:spcBef>
              <a:spcAft>
                <a:spcPts val="0"/>
              </a:spcAft>
            </a:pPr>
            <a:r>
              <a:rPr sz="780" b="1" i="0">
                <a:solidFill>
                  <a:srgbClr val="0B1F33"/>
                </a:solidFill>
                <a:latin typeface="Arial"/>
              </a:rPr>
              <a:t>TIME</a:t>
            </a:r>
          </a:p>
        </p:txBody>
      </p:sp>
      <p:sp>
        <p:nvSpPr>
          <p:cNvPr id="33" name="TextBox 32"/>
          <p:cNvSpPr txBox="1"/>
          <p:nvPr/>
        </p:nvSpPr>
        <p:spPr>
          <a:xfrm>
            <a:off x="6940296" y="1874519"/>
            <a:ext cx="1691640" cy="548640"/>
          </a:xfrm>
          <a:prstGeom prst="rect">
            <a:avLst/>
          </a:prstGeom>
          <a:noFill/>
        </p:spPr>
        <p:txBody>
          <a:bodyPr wrap="square" lIns="0" rIns="0" tIns="0" bIns="0" anchor="t">
            <a:spAutoFit/>
          </a:bodyPr>
          <a:lstStyle/>
          <a:p>
            <a:pPr algn="l">
              <a:lnSpc>
                <a:spcPct val="98000"/>
              </a:lnSpc>
              <a:spcBef>
                <a:spcPts val="0"/>
              </a:spcBef>
              <a:spcAft>
                <a:spcPts val="0"/>
              </a:spcAft>
            </a:pPr>
            <a:r>
              <a:rPr sz="1150" b="1" i="0">
                <a:solidFill>
                  <a:srgbClr val="0B1F33"/>
                </a:solidFill>
                <a:latin typeface="Arial"/>
              </a:rPr>
              <a:t>When did the signal appear?</a:t>
            </a:r>
          </a:p>
        </p:txBody>
      </p:sp>
      <p:sp>
        <p:nvSpPr>
          <p:cNvPr id="34" name="TextBox 33"/>
          <p:cNvSpPr txBox="1"/>
          <p:nvPr/>
        </p:nvSpPr>
        <p:spPr>
          <a:xfrm>
            <a:off x="6355080" y="2606040"/>
            <a:ext cx="2240280" cy="1783080"/>
          </a:xfrm>
          <a:prstGeom prst="rect">
            <a:avLst/>
          </a:prstGeom>
          <a:noFill/>
        </p:spPr>
        <p:txBody>
          <a:bodyPr wrap="square" lIns="0" rIns="0" tIns="0" bIns="0" anchor="t">
            <a:spAutoFit/>
          </a:bodyPr>
          <a:lstStyle/>
          <a:p>
            <a:pPr algn="l">
              <a:lnSpc>
                <a:spcPct val="108000"/>
              </a:lnSpc>
              <a:spcBef>
                <a:spcPts val="0"/>
              </a:spcBef>
              <a:spcAft>
                <a:spcPts val="0"/>
              </a:spcAft>
            </a:pPr>
            <a:r>
              <a:rPr sz="980" b="0" i="0">
                <a:solidFill>
                  <a:srgbClr val="182A3A"/>
                </a:solidFill>
                <a:latin typeface="Arial"/>
              </a:rPr>
              <a:t>21 daily starts, 1–21 Jul. Five towns; days 1–10; 51 members; count members above the local 2-year level.</a:t>
            </a:r>
          </a:p>
        </p:txBody>
      </p:sp>
      <p:cxnSp>
        <p:nvCxnSpPr>
          <p:cNvPr id="35" name="Connector 34"/>
          <p:cNvCxnSpPr/>
          <p:nvPr/>
        </p:nvCxnSpPr>
        <p:spPr>
          <a:xfrm>
            <a:off x="6355080" y="4005072"/>
            <a:ext cx="2240280" cy="0"/>
          </a:xfrm>
          <a:prstGeom prst="line">
            <a:avLst/>
          </a:prstGeom>
          <a:ln w="6350">
            <a:solidFill>
              <a:srgbClr val="DDD6C8"/>
            </a:solidFill>
          </a:ln>
        </p:spPr>
      </p:cxnSp>
      <p:sp>
        <p:nvSpPr>
          <p:cNvPr id="36" name="TextBox 35"/>
          <p:cNvSpPr txBox="1"/>
          <p:nvPr/>
        </p:nvSpPr>
        <p:spPr>
          <a:xfrm>
            <a:off x="6355080" y="4160520"/>
            <a:ext cx="2212848" cy="182880"/>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8A98A5"/>
                </a:solidFill>
                <a:latin typeface="Arial"/>
              </a:rPr>
              <a:t>OUTPUT</a:t>
            </a:r>
          </a:p>
        </p:txBody>
      </p:sp>
      <p:sp>
        <p:nvSpPr>
          <p:cNvPr id="37" name="TextBox 36"/>
          <p:cNvSpPr txBox="1"/>
          <p:nvPr/>
        </p:nvSpPr>
        <p:spPr>
          <a:xfrm>
            <a:off x="6355080" y="4334256"/>
            <a:ext cx="2212848" cy="384048"/>
          </a:xfrm>
          <a:prstGeom prst="rect">
            <a:avLst/>
          </a:prstGeom>
          <a:noFill/>
        </p:spPr>
        <p:txBody>
          <a:bodyPr wrap="square" lIns="0" rIns="0" tIns="0" bIns="0" anchor="t">
            <a:spAutoFit/>
          </a:bodyPr>
          <a:lstStyle/>
          <a:p>
            <a:pPr algn="l">
              <a:lnSpc>
                <a:spcPct val="98000"/>
              </a:lnSpc>
              <a:spcBef>
                <a:spcPts val="0"/>
              </a:spcBef>
              <a:spcAft>
                <a:spcPts val="0"/>
              </a:spcAft>
            </a:pPr>
            <a:r>
              <a:rPr sz="869" b="0" i="0">
                <a:solidFill>
                  <a:srgbClr val="5B6B7C"/>
                </a:solidFill>
                <a:latin typeface="Arial"/>
              </a:rPr>
              <a:t>start-date plume</a:t>
            </a:r>
          </a:p>
        </p:txBody>
      </p:sp>
      <p:sp>
        <p:nvSpPr>
          <p:cNvPr id="38" name="TextBox 37"/>
          <p:cNvSpPr txBox="1"/>
          <p:nvPr/>
        </p:nvSpPr>
        <p:spPr>
          <a:xfrm>
            <a:off x="6355080" y="4882896"/>
            <a:ext cx="2212848" cy="365760"/>
          </a:xfrm>
          <a:prstGeom prst="rect">
            <a:avLst/>
          </a:prstGeom>
          <a:noFill/>
        </p:spPr>
        <p:txBody>
          <a:bodyPr wrap="square" lIns="0" rIns="0" tIns="0" bIns="0" anchor="t">
            <a:spAutoFit/>
          </a:bodyPr>
          <a:lstStyle/>
          <a:p>
            <a:pPr algn="l">
              <a:lnSpc>
                <a:spcPct val="100000"/>
              </a:lnSpc>
              <a:spcBef>
                <a:spcPts val="0"/>
              </a:spcBef>
              <a:spcAft>
                <a:spcPts val="0"/>
              </a:spcAft>
            </a:pPr>
            <a:r>
              <a:rPr sz="840" b="0" i="0">
                <a:solidFill>
                  <a:srgbClr val="8A98A5"/>
                </a:solidFill>
                <a:latin typeface="Arial"/>
              </a:rPr>
              <a:t>Uses the A threshold</a:t>
            </a:r>
          </a:p>
        </p:txBody>
      </p:sp>
      <p:sp>
        <p:nvSpPr>
          <p:cNvPr id="39" name="Rounded Rectangle 38"/>
          <p:cNvSpPr/>
          <p:nvPr/>
        </p:nvSpPr>
        <p:spPr>
          <a:xfrm>
            <a:off x="8961119" y="1417320"/>
            <a:ext cx="2606040" cy="3977639"/>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40" name="Rectangle 39"/>
          <p:cNvSpPr/>
          <p:nvPr/>
        </p:nvSpPr>
        <p:spPr>
          <a:xfrm>
            <a:off x="8961119" y="1417320"/>
            <a:ext cx="2606040" cy="68580"/>
          </a:xfrm>
          <a:prstGeom prst="rect">
            <a:avLst/>
          </a:prstGeom>
          <a:solidFill>
            <a:srgbClr val="C2410C"/>
          </a:solidFill>
          <a:ln>
            <a:noFill/>
          </a:ln>
          <a:effectLst/>
        </p:spPr>
        <p:txBody>
          <a:bodyPr rtlCol="0" anchor="ctr"/>
          <a:lstStyle/>
          <a:p>
            <a:pPr algn="ctr"/>
          </a:p>
        </p:txBody>
      </p:sp>
      <p:sp>
        <p:nvSpPr>
          <p:cNvPr id="41" name="Oval 40"/>
          <p:cNvSpPr/>
          <p:nvPr/>
        </p:nvSpPr>
        <p:spPr>
          <a:xfrm>
            <a:off x="9143999" y="1645920"/>
            <a:ext cx="475488" cy="475488"/>
          </a:xfrm>
          <a:prstGeom prst="ellipse">
            <a:avLst/>
          </a:prstGeom>
          <a:solidFill>
            <a:srgbClr val="C2410C"/>
          </a:solidFill>
          <a:ln>
            <a:noFill/>
          </a:ln>
          <a:effectLst/>
        </p:spPr>
        <p:txBody>
          <a:bodyPr rtlCol="0" anchor="ctr"/>
          <a:lstStyle/>
          <a:p>
            <a:pPr algn="ctr"/>
          </a:p>
        </p:txBody>
      </p:sp>
      <p:sp>
        <p:nvSpPr>
          <p:cNvPr id="42" name="TextBox 41"/>
          <p:cNvSpPr txBox="1"/>
          <p:nvPr/>
        </p:nvSpPr>
        <p:spPr>
          <a:xfrm>
            <a:off x="9143999" y="1682496"/>
            <a:ext cx="475488" cy="384048"/>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Arial"/>
              </a:rPr>
              <a:t>D</a:t>
            </a:r>
          </a:p>
        </p:txBody>
      </p:sp>
      <p:sp>
        <p:nvSpPr>
          <p:cNvPr id="43" name="TextBox 42"/>
          <p:cNvSpPr txBox="1"/>
          <p:nvPr/>
        </p:nvSpPr>
        <p:spPr>
          <a:xfrm>
            <a:off x="9729215" y="1664208"/>
            <a:ext cx="1691640" cy="201168"/>
          </a:xfrm>
          <a:prstGeom prst="rect">
            <a:avLst/>
          </a:prstGeom>
          <a:noFill/>
        </p:spPr>
        <p:txBody>
          <a:bodyPr wrap="square" lIns="0" rIns="0" tIns="0" bIns="0" anchor="t">
            <a:spAutoFit/>
          </a:bodyPr>
          <a:lstStyle/>
          <a:p>
            <a:pPr algn="l">
              <a:lnSpc>
                <a:spcPct val="100000"/>
              </a:lnSpc>
              <a:spcBef>
                <a:spcPts val="0"/>
              </a:spcBef>
              <a:spcAft>
                <a:spcPts val="0"/>
              </a:spcAft>
            </a:pPr>
            <a:r>
              <a:rPr sz="780" b="1" i="0">
                <a:solidFill>
                  <a:srgbClr val="C2410C"/>
                </a:solidFill>
                <a:latin typeface="Arial"/>
              </a:rPr>
              <a:t>SPACE</a:t>
            </a:r>
          </a:p>
        </p:txBody>
      </p:sp>
      <p:sp>
        <p:nvSpPr>
          <p:cNvPr id="44" name="TextBox 43"/>
          <p:cNvSpPr txBox="1"/>
          <p:nvPr/>
        </p:nvSpPr>
        <p:spPr>
          <a:xfrm>
            <a:off x="9729215" y="1874519"/>
            <a:ext cx="1691640" cy="548640"/>
          </a:xfrm>
          <a:prstGeom prst="rect">
            <a:avLst/>
          </a:prstGeom>
          <a:noFill/>
        </p:spPr>
        <p:txBody>
          <a:bodyPr wrap="square" lIns="0" rIns="0" tIns="0" bIns="0" anchor="t">
            <a:spAutoFit/>
          </a:bodyPr>
          <a:lstStyle/>
          <a:p>
            <a:pPr algn="l">
              <a:lnSpc>
                <a:spcPct val="98000"/>
              </a:lnSpc>
              <a:spcBef>
                <a:spcPts val="0"/>
              </a:spcBef>
              <a:spcAft>
                <a:spcPts val="0"/>
              </a:spcAft>
            </a:pPr>
            <a:r>
              <a:rPr sz="1150" b="1" i="0">
                <a:solidFill>
                  <a:srgbClr val="0B1F33"/>
                </a:solidFill>
                <a:latin typeface="Arial"/>
              </a:rPr>
              <a:t>Where was the risk highest?</a:t>
            </a:r>
          </a:p>
        </p:txBody>
      </p:sp>
      <p:sp>
        <p:nvSpPr>
          <p:cNvPr id="45" name="TextBox 44"/>
          <p:cNvSpPr txBox="1"/>
          <p:nvPr/>
        </p:nvSpPr>
        <p:spPr>
          <a:xfrm>
            <a:off x="9143999" y="2606040"/>
            <a:ext cx="2240280" cy="1783080"/>
          </a:xfrm>
          <a:prstGeom prst="rect">
            <a:avLst/>
          </a:prstGeom>
          <a:noFill/>
        </p:spPr>
        <p:txBody>
          <a:bodyPr wrap="square" lIns="0" rIns="0" tIns="0" bIns="0" anchor="t">
            <a:spAutoFit/>
          </a:bodyPr>
          <a:lstStyle/>
          <a:p>
            <a:pPr algn="l">
              <a:lnSpc>
                <a:spcPct val="108000"/>
              </a:lnSpc>
              <a:spcBef>
                <a:spcPts val="0"/>
              </a:spcBef>
              <a:spcAft>
                <a:spcPts val="0"/>
              </a:spcAft>
            </a:pPr>
            <a:r>
              <a:rPr sz="980" b="0" i="0">
                <a:solidFill>
                  <a:srgbClr val="182A3A"/>
                </a:solidFill>
                <a:latin typeface="Arial"/>
              </a:rPr>
              <a:t>Every forecast grid point. Four stratified starts; days 1–5; probability and season-frequency maps.</a:t>
            </a:r>
          </a:p>
        </p:txBody>
      </p:sp>
      <p:cxnSp>
        <p:nvCxnSpPr>
          <p:cNvPr id="46" name="Connector 45"/>
          <p:cNvCxnSpPr/>
          <p:nvPr/>
        </p:nvCxnSpPr>
        <p:spPr>
          <a:xfrm>
            <a:off x="9143999" y="4005072"/>
            <a:ext cx="2240281" cy="0"/>
          </a:xfrm>
          <a:prstGeom prst="line">
            <a:avLst/>
          </a:prstGeom>
          <a:ln w="6350">
            <a:solidFill>
              <a:srgbClr val="DDD6C8"/>
            </a:solidFill>
          </a:ln>
        </p:spPr>
      </p:cxnSp>
      <p:sp>
        <p:nvSpPr>
          <p:cNvPr id="47" name="TextBox 46"/>
          <p:cNvSpPr txBox="1"/>
          <p:nvPr/>
        </p:nvSpPr>
        <p:spPr>
          <a:xfrm>
            <a:off x="9143999" y="4160520"/>
            <a:ext cx="2212848" cy="182880"/>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8A98A5"/>
                </a:solidFill>
                <a:latin typeface="Arial"/>
              </a:rPr>
              <a:t>OUTPUT</a:t>
            </a:r>
          </a:p>
        </p:txBody>
      </p:sp>
      <p:sp>
        <p:nvSpPr>
          <p:cNvPr id="48" name="TextBox 47"/>
          <p:cNvSpPr txBox="1"/>
          <p:nvPr/>
        </p:nvSpPr>
        <p:spPr>
          <a:xfrm>
            <a:off x="9143999" y="4334256"/>
            <a:ext cx="2212848" cy="384048"/>
          </a:xfrm>
          <a:prstGeom prst="rect">
            <a:avLst/>
          </a:prstGeom>
          <a:noFill/>
        </p:spPr>
        <p:txBody>
          <a:bodyPr wrap="square" lIns="0" rIns="0" tIns="0" bIns="0" anchor="t">
            <a:spAutoFit/>
          </a:bodyPr>
          <a:lstStyle/>
          <a:p>
            <a:pPr algn="l">
              <a:lnSpc>
                <a:spcPct val="98000"/>
              </a:lnSpc>
              <a:spcBef>
                <a:spcPts val="0"/>
              </a:spcBef>
              <a:spcAft>
                <a:spcPts val="0"/>
              </a:spcAft>
            </a:pPr>
            <a:r>
              <a:rPr sz="869" b="0" i="0">
                <a:solidFill>
                  <a:srgbClr val="5B6B7C"/>
                </a:solidFill>
                <a:latin typeface="Arial"/>
              </a:rPr>
              <a:t>probability + frequency maps</a:t>
            </a:r>
          </a:p>
        </p:txBody>
      </p:sp>
      <p:sp>
        <p:nvSpPr>
          <p:cNvPr id="49" name="TextBox 48"/>
          <p:cNvSpPr txBox="1"/>
          <p:nvPr/>
        </p:nvSpPr>
        <p:spPr>
          <a:xfrm>
            <a:off x="9143999" y="4882896"/>
            <a:ext cx="2212848" cy="365760"/>
          </a:xfrm>
          <a:prstGeom prst="rect">
            <a:avLst/>
          </a:prstGeom>
          <a:noFill/>
        </p:spPr>
        <p:txBody>
          <a:bodyPr wrap="square" lIns="0" rIns="0" tIns="0" bIns="0" anchor="t">
            <a:spAutoFit/>
          </a:bodyPr>
          <a:lstStyle/>
          <a:p>
            <a:pPr algn="l">
              <a:lnSpc>
                <a:spcPct val="100000"/>
              </a:lnSpc>
              <a:spcBef>
                <a:spcPts val="0"/>
              </a:spcBef>
              <a:spcAft>
                <a:spcPts val="0"/>
              </a:spcAft>
            </a:pPr>
            <a:r>
              <a:rPr sz="840" b="0" i="0">
                <a:solidFill>
                  <a:srgbClr val="8A98A5"/>
                </a:solidFill>
                <a:latin typeface="Arial"/>
              </a:rPr>
              <a:t>Uses the A threshold</a:t>
            </a:r>
          </a:p>
        </p:txBody>
      </p:sp>
      <p:sp>
        <p:nvSpPr>
          <p:cNvPr id="50" name="Rounded Rectangle 49"/>
          <p:cNvSpPr/>
          <p:nvPr/>
        </p:nvSpPr>
        <p:spPr>
          <a:xfrm>
            <a:off x="594360" y="5605272"/>
            <a:ext cx="11000232" cy="512064"/>
          </a:xfrm>
          <a:prstGeom prst="roundRect">
            <a:avLst>
              <a:gd name="adj" fmla="val 5000"/>
            </a:avLst>
          </a:prstGeom>
          <a:solidFill>
            <a:srgbClr val="FBF0DB"/>
          </a:solidFill>
          <a:ln>
            <a:noFill/>
          </a:ln>
          <a:effectLst/>
        </p:spPr>
        <p:txBody>
          <a:bodyPr rtlCol="0" anchor="ctr"/>
          <a:lstStyle/>
          <a:p>
            <a:pPr algn="ctr"/>
          </a:p>
        </p:txBody>
      </p:sp>
      <p:sp>
        <p:nvSpPr>
          <p:cNvPr id="51" name="TextBox 50"/>
          <p:cNvSpPr txBox="1"/>
          <p:nvPr/>
        </p:nvSpPr>
        <p:spPr>
          <a:xfrm>
            <a:off x="804672" y="5696712"/>
            <a:ext cx="10607040" cy="237744"/>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182A3A"/>
                </a:solidFill>
                <a:latin typeface="Arial"/>
              </a:rPr>
              <a:t>A sets the reference; B tests the definition; C adds time; D adds space.</a:t>
            </a:r>
          </a:p>
        </p:txBody>
      </p:sp>
      <p:cxnSp>
        <p:nvCxnSpPr>
          <p:cNvPr id="52" name="Connector 51"/>
          <p:cNvCxnSpPr/>
          <p:nvPr/>
        </p:nvCxnSpPr>
        <p:spPr>
          <a:xfrm>
            <a:off x="594360" y="6437376"/>
            <a:ext cx="11000232" cy="0"/>
          </a:xfrm>
          <a:prstGeom prst="line">
            <a:avLst/>
          </a:prstGeom>
          <a:ln w="9525">
            <a:solidFill>
              <a:srgbClr val="DDD6C8"/>
            </a:solidFill>
          </a:ln>
        </p:spPr>
      </p:cxnSp>
      <p:sp>
        <p:nvSpPr>
          <p:cNvPr id="53" name="TextBox 52"/>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54" name="TextBox 53"/>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04 / LINEAGE</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Borrowed patterns, rewritten for Sudan</a:t>
            </a:r>
          </a:p>
        </p:txBody>
      </p:sp>
      <p:cxnSp>
        <p:nvCxnSpPr>
          <p:cNvPr id="5" name="Connector 4"/>
          <p:cNvCxnSpPr/>
          <p:nvPr/>
        </p:nvCxnSpPr>
        <p:spPr>
          <a:xfrm>
            <a:off x="594360" y="1307592"/>
            <a:ext cx="11000232" cy="0"/>
          </a:xfrm>
          <a:prstGeom prst="line">
            <a:avLst/>
          </a:prstGeom>
          <a:ln w="9525">
            <a:solidFill>
              <a:srgbClr val="DDD6C8"/>
            </a:solidFill>
          </a:ln>
        </p:spPr>
      </p:cxnSp>
      <p:sp>
        <p:nvSpPr>
          <p:cNvPr id="6" name="Rounded Rectangle 5"/>
          <p:cNvSpPr/>
          <p:nvPr/>
        </p:nvSpPr>
        <p:spPr>
          <a:xfrm>
            <a:off x="594360" y="1417320"/>
            <a:ext cx="3035808" cy="3520440"/>
          </a:xfrm>
          <a:prstGeom prst="roundRect">
            <a:avLst>
              <a:gd name="adj" fmla="val 3500"/>
            </a:avLst>
          </a:prstGeom>
          <a:solidFill>
            <a:srgbClr val="0B1F33"/>
          </a:solidFill>
          <a:ln>
            <a:noFill/>
          </a:ln>
          <a:effectLst/>
        </p:spPr>
        <p:txBody>
          <a:bodyPr rtlCol="0" anchor="ctr"/>
          <a:lstStyle/>
          <a:p>
            <a:pPr algn="ctr"/>
          </a:p>
        </p:txBody>
      </p:sp>
      <p:sp>
        <p:nvSpPr>
          <p:cNvPr id="7" name="TextBox 6"/>
          <p:cNvSpPr txBox="1"/>
          <p:nvPr/>
        </p:nvSpPr>
        <p:spPr>
          <a:xfrm>
            <a:off x="804672" y="1591056"/>
            <a:ext cx="2194560" cy="219456"/>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D9901A"/>
                </a:solidFill>
                <a:latin typeface="Arial"/>
              </a:rPr>
              <a:t>WORKSHOP SOURCE</a:t>
            </a:r>
          </a:p>
        </p:txBody>
      </p:sp>
      <p:sp>
        <p:nvSpPr>
          <p:cNvPr id="8" name="TextBox 7"/>
          <p:cNvSpPr txBox="1"/>
          <p:nvPr/>
        </p:nvSpPr>
        <p:spPr>
          <a:xfrm>
            <a:off x="804672" y="1847088"/>
            <a:ext cx="2560320" cy="502920"/>
          </a:xfrm>
          <a:prstGeom prst="rect">
            <a:avLst/>
          </a:prstGeom>
          <a:noFill/>
        </p:spPr>
        <p:txBody>
          <a:bodyPr wrap="square" lIns="0" rIns="0" tIns="0" bIns="0" anchor="t">
            <a:spAutoFit/>
          </a:bodyPr>
          <a:lstStyle/>
          <a:p>
            <a:pPr algn="l">
              <a:lnSpc>
                <a:spcPct val="100000"/>
              </a:lnSpc>
              <a:spcBef>
                <a:spcPts val="0"/>
              </a:spcBef>
              <a:spcAft>
                <a:spcPts val="0"/>
              </a:spcAft>
            </a:pPr>
            <a:r>
              <a:rPr sz="2800" b="1" i="0">
                <a:solidFill>
                  <a:srgbClr val="FFFFFF"/>
                </a:solidFill>
                <a:latin typeface="Arial"/>
              </a:rPr>
              <a:t>E1–E8</a:t>
            </a:r>
          </a:p>
        </p:txBody>
      </p:sp>
      <p:sp>
        <p:nvSpPr>
          <p:cNvPr id="9" name="TextBox 8"/>
          <p:cNvSpPr txBox="1"/>
          <p:nvPr/>
        </p:nvSpPr>
        <p:spPr>
          <a:xfrm>
            <a:off x="804672" y="2395728"/>
            <a:ext cx="2377440" cy="274320"/>
          </a:xfrm>
          <a:prstGeom prst="rect">
            <a:avLst/>
          </a:prstGeom>
          <a:noFill/>
        </p:spPr>
        <p:txBody>
          <a:bodyPr wrap="square" lIns="0" rIns="0" tIns="0" bIns="0" anchor="t">
            <a:spAutoFit/>
          </a:bodyPr>
          <a:lstStyle/>
          <a:p>
            <a:pPr algn="l">
              <a:lnSpc>
                <a:spcPct val="100000"/>
              </a:lnSpc>
              <a:spcBef>
                <a:spcPts val="0"/>
              </a:spcBef>
              <a:spcAft>
                <a:spcPts val="0"/>
              </a:spcAft>
            </a:pPr>
            <a:r>
              <a:rPr sz="950" b="0" i="0">
                <a:solidFill>
                  <a:srgbClr val="C7D2DC"/>
                </a:solidFill>
                <a:latin typeface="Arial"/>
              </a:rPr>
              <a:t>Day 2 · python-workshop</a:t>
            </a:r>
          </a:p>
        </p:txBody>
      </p:sp>
      <p:sp>
        <p:nvSpPr>
          <p:cNvPr id="10" name="TextBox 9"/>
          <p:cNvSpPr txBox="1"/>
          <p:nvPr/>
        </p:nvSpPr>
        <p:spPr>
          <a:xfrm>
            <a:off x="804672" y="2798064"/>
            <a:ext cx="2423160" cy="1691640"/>
          </a:xfrm>
          <a:prstGeom prst="rect">
            <a:avLst/>
          </a:prstGeom>
          <a:noFill/>
        </p:spPr>
        <p:txBody>
          <a:bodyPr wrap="square" lIns="0" rIns="0" tIns="0" bIns="0" anchor="t">
            <a:spAutoFit/>
          </a:bodyPr>
          <a:lstStyle/>
          <a:p>
            <a:pPr algn="l" marL="182880" indent="-182880">
              <a:lnSpc>
                <a:spcPct val="100000"/>
              </a:lnSpc>
              <a:spcBef>
                <a:spcPts val="0"/>
              </a:spcBef>
              <a:spcAft>
                <a:spcPts val="600"/>
              </a:spcAft>
            </a:pPr>
            <a:r>
              <a:rPr sz="960" b="1">
                <a:solidFill>
                  <a:srgbClr val="D9901A"/>
                </a:solidFill>
                <a:latin typeface="Arial"/>
              </a:rPr>
              <a:t>•  </a:t>
            </a:r>
            <a:r>
              <a:rPr sz="960">
                <a:solidFill>
                  <a:srgbClr val="FFFFFF"/>
                </a:solidFill>
                <a:latin typeface="Arial"/>
              </a:rPr>
              <a:t>Examples were read-only inspiration.</a:t>
            </a:r>
          </a:p>
          <a:p>
            <a:pPr algn="l" marL="182880" indent="-182880">
              <a:lnSpc>
                <a:spcPct val="100000"/>
              </a:lnSpc>
              <a:spcBef>
                <a:spcPts val="0"/>
              </a:spcBef>
              <a:spcAft>
                <a:spcPts val="600"/>
              </a:spcAft>
            </a:pPr>
            <a:r>
              <a:rPr sz="960" b="1">
                <a:solidFill>
                  <a:srgbClr val="D9901A"/>
                </a:solidFill>
                <a:latin typeface="Arial"/>
              </a:rPr>
              <a:t>•  </a:t>
            </a:r>
            <a:r>
              <a:rPr sz="960">
                <a:solidFill>
                  <a:srgbClr val="FFFFFF"/>
                </a:solidFill>
                <a:latin typeface="Arial"/>
              </a:rPr>
              <a:t>Analysis scripts live in this repo's scripts/ folder.</a:t>
            </a:r>
          </a:p>
          <a:p>
            <a:pPr algn="l" marL="182880" indent="-182880">
              <a:lnSpc>
                <a:spcPct val="100000"/>
              </a:lnSpc>
              <a:spcBef>
                <a:spcPts val="0"/>
              </a:spcBef>
              <a:spcAft>
                <a:spcPts val="600"/>
              </a:spcAft>
            </a:pPr>
            <a:r>
              <a:rPr sz="960" b="1">
                <a:solidFill>
                  <a:srgbClr val="D9901A"/>
                </a:solidFill>
                <a:latin typeface="Arial"/>
              </a:rPr>
              <a:t>•  </a:t>
            </a:r>
            <a:r>
              <a:rPr sz="960">
                <a:solidFill>
                  <a:srgbClr val="FFFFFF"/>
                </a:solidFill>
                <a:latin typeface="Arial"/>
              </a:rPr>
              <a:t>Every figure comes from a committed script.</a:t>
            </a:r>
          </a:p>
        </p:txBody>
      </p:sp>
      <p:sp>
        <p:nvSpPr>
          <p:cNvPr id="11" name="TextBox 10"/>
          <p:cNvSpPr txBox="1"/>
          <p:nvPr/>
        </p:nvSpPr>
        <p:spPr>
          <a:xfrm>
            <a:off x="804672" y="4617720"/>
            <a:ext cx="2331720" cy="228600"/>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D9901A"/>
                </a:solidFill>
                <a:latin typeface="Arial"/>
              </a:rPr>
              <a:t>Adapted, not copied.</a:t>
            </a:r>
          </a:p>
        </p:txBody>
      </p:sp>
      <p:sp>
        <p:nvSpPr>
          <p:cNvPr id="12" name="Rectangle 11"/>
          <p:cNvSpPr/>
          <p:nvPr/>
        </p:nvSpPr>
        <p:spPr>
          <a:xfrm>
            <a:off x="3858768" y="1417320"/>
            <a:ext cx="841248" cy="411480"/>
          </a:xfrm>
          <a:prstGeom prst="rect">
            <a:avLst/>
          </a:prstGeom>
          <a:solidFill>
            <a:srgbClr val="0B1F33"/>
          </a:solidFill>
          <a:ln>
            <a:noFill/>
          </a:ln>
          <a:effectLst/>
        </p:spPr>
        <p:txBody>
          <a:bodyPr rtlCol="0" anchor="ctr"/>
          <a:lstStyle/>
          <a:p>
            <a:pPr algn="ctr"/>
          </a:p>
        </p:txBody>
      </p:sp>
      <p:sp>
        <p:nvSpPr>
          <p:cNvPr id="13" name="TextBox 12"/>
          <p:cNvSpPr txBox="1"/>
          <p:nvPr/>
        </p:nvSpPr>
        <p:spPr>
          <a:xfrm>
            <a:off x="3950207" y="1536192"/>
            <a:ext cx="676656" cy="182880"/>
          </a:xfrm>
          <a:prstGeom prst="rect">
            <a:avLst/>
          </a:prstGeom>
          <a:noFill/>
        </p:spPr>
        <p:txBody>
          <a:bodyPr wrap="square" lIns="0" rIns="0" tIns="0" bIns="0" anchor="t">
            <a:spAutoFit/>
          </a:bodyPr>
          <a:lstStyle/>
          <a:p>
            <a:pPr algn="l">
              <a:lnSpc>
                <a:spcPct val="100000"/>
              </a:lnSpc>
              <a:spcBef>
                <a:spcPts val="0"/>
              </a:spcBef>
              <a:spcAft>
                <a:spcPts val="0"/>
              </a:spcAft>
            </a:pPr>
            <a:r>
              <a:rPr sz="770" b="1" i="0">
                <a:solidFill>
                  <a:srgbClr val="FFFFFF"/>
                </a:solidFill>
                <a:latin typeface="Arial"/>
              </a:rPr>
              <a:t>EXERCISE</a:t>
            </a:r>
          </a:p>
        </p:txBody>
      </p:sp>
      <p:sp>
        <p:nvSpPr>
          <p:cNvPr id="14" name="Rectangle 13"/>
          <p:cNvSpPr/>
          <p:nvPr/>
        </p:nvSpPr>
        <p:spPr>
          <a:xfrm>
            <a:off x="4700016" y="1417320"/>
            <a:ext cx="3822191" cy="411480"/>
          </a:xfrm>
          <a:prstGeom prst="rect">
            <a:avLst/>
          </a:prstGeom>
          <a:solidFill>
            <a:srgbClr val="0B1F33"/>
          </a:solidFill>
          <a:ln>
            <a:noFill/>
          </a:ln>
          <a:effectLst/>
        </p:spPr>
        <p:txBody>
          <a:bodyPr rtlCol="0" anchor="ctr"/>
          <a:lstStyle/>
          <a:p>
            <a:pPr algn="ctr"/>
          </a:p>
        </p:txBody>
      </p:sp>
      <p:sp>
        <p:nvSpPr>
          <p:cNvPr id="15" name="TextBox 14"/>
          <p:cNvSpPr txBox="1"/>
          <p:nvPr/>
        </p:nvSpPr>
        <p:spPr>
          <a:xfrm>
            <a:off x="4791455" y="1536192"/>
            <a:ext cx="3657599" cy="182880"/>
          </a:xfrm>
          <a:prstGeom prst="rect">
            <a:avLst/>
          </a:prstGeom>
          <a:noFill/>
        </p:spPr>
        <p:txBody>
          <a:bodyPr wrap="square" lIns="0" rIns="0" tIns="0" bIns="0" anchor="t">
            <a:spAutoFit/>
          </a:bodyPr>
          <a:lstStyle/>
          <a:p>
            <a:pPr algn="l">
              <a:lnSpc>
                <a:spcPct val="100000"/>
              </a:lnSpc>
              <a:spcBef>
                <a:spcPts val="0"/>
              </a:spcBef>
              <a:spcAft>
                <a:spcPts val="0"/>
              </a:spcAft>
            </a:pPr>
            <a:r>
              <a:rPr sz="770" b="1" i="0">
                <a:solidFill>
                  <a:srgbClr val="FFFFFF"/>
                </a:solidFill>
                <a:latin typeface="Arial"/>
              </a:rPr>
              <a:t>WHAT WE BORROWED</a:t>
            </a:r>
          </a:p>
        </p:txBody>
      </p:sp>
      <p:sp>
        <p:nvSpPr>
          <p:cNvPr id="16" name="Rectangle 15"/>
          <p:cNvSpPr/>
          <p:nvPr/>
        </p:nvSpPr>
        <p:spPr>
          <a:xfrm>
            <a:off x="8522208" y="1417320"/>
            <a:ext cx="2743200" cy="411480"/>
          </a:xfrm>
          <a:prstGeom prst="rect">
            <a:avLst/>
          </a:prstGeom>
          <a:solidFill>
            <a:srgbClr val="0B1F33"/>
          </a:solidFill>
          <a:ln>
            <a:noFill/>
          </a:ln>
          <a:effectLst/>
        </p:spPr>
        <p:txBody>
          <a:bodyPr rtlCol="0" anchor="ctr"/>
          <a:lstStyle/>
          <a:p>
            <a:pPr algn="ctr"/>
          </a:p>
        </p:txBody>
      </p:sp>
      <p:sp>
        <p:nvSpPr>
          <p:cNvPr id="17" name="TextBox 16"/>
          <p:cNvSpPr txBox="1"/>
          <p:nvPr/>
        </p:nvSpPr>
        <p:spPr>
          <a:xfrm>
            <a:off x="8613648" y="1536192"/>
            <a:ext cx="2578608" cy="182880"/>
          </a:xfrm>
          <a:prstGeom prst="rect">
            <a:avLst/>
          </a:prstGeom>
          <a:noFill/>
        </p:spPr>
        <p:txBody>
          <a:bodyPr wrap="square" lIns="0" rIns="0" tIns="0" bIns="0" anchor="t">
            <a:spAutoFit/>
          </a:bodyPr>
          <a:lstStyle/>
          <a:p>
            <a:pPr algn="l">
              <a:lnSpc>
                <a:spcPct val="100000"/>
              </a:lnSpc>
              <a:spcBef>
                <a:spcPts val="0"/>
              </a:spcBef>
              <a:spcAft>
                <a:spcPts val="0"/>
              </a:spcAft>
            </a:pPr>
            <a:r>
              <a:rPr sz="770" b="1" i="0">
                <a:solidFill>
                  <a:srgbClr val="FFFFFF"/>
                </a:solidFill>
                <a:latin typeface="Arial"/>
              </a:rPr>
              <a:t>WHERE IT LANDED</a:t>
            </a:r>
          </a:p>
        </p:txBody>
      </p:sp>
      <p:sp>
        <p:nvSpPr>
          <p:cNvPr id="18" name="Rectangle 17"/>
          <p:cNvSpPr/>
          <p:nvPr/>
        </p:nvSpPr>
        <p:spPr>
          <a:xfrm>
            <a:off x="3858768" y="1828800"/>
            <a:ext cx="841248" cy="489204"/>
          </a:xfrm>
          <a:prstGeom prst="rect">
            <a:avLst/>
          </a:prstGeom>
          <a:solidFill>
            <a:srgbClr val="FFFFFF"/>
          </a:solidFill>
          <a:ln>
            <a:noFill/>
          </a:ln>
          <a:effectLst/>
        </p:spPr>
        <p:txBody>
          <a:bodyPr rtlCol="0" anchor="ctr"/>
          <a:lstStyle/>
          <a:p>
            <a:pPr algn="ctr"/>
          </a:p>
        </p:txBody>
      </p:sp>
      <p:sp>
        <p:nvSpPr>
          <p:cNvPr id="19" name="Rectangle 18"/>
          <p:cNvSpPr/>
          <p:nvPr/>
        </p:nvSpPr>
        <p:spPr>
          <a:xfrm>
            <a:off x="4700016" y="1828800"/>
            <a:ext cx="3822191" cy="489204"/>
          </a:xfrm>
          <a:prstGeom prst="rect">
            <a:avLst/>
          </a:prstGeom>
          <a:solidFill>
            <a:srgbClr val="FFFFFF"/>
          </a:solidFill>
          <a:ln>
            <a:noFill/>
          </a:ln>
          <a:effectLst/>
        </p:spPr>
        <p:txBody>
          <a:bodyPr rtlCol="0" anchor="ctr"/>
          <a:lstStyle/>
          <a:p>
            <a:pPr algn="ctr"/>
          </a:p>
        </p:txBody>
      </p:sp>
      <p:sp>
        <p:nvSpPr>
          <p:cNvPr id="20" name="Rectangle 19"/>
          <p:cNvSpPr/>
          <p:nvPr/>
        </p:nvSpPr>
        <p:spPr>
          <a:xfrm>
            <a:off x="8522208" y="1828800"/>
            <a:ext cx="2743200" cy="489204"/>
          </a:xfrm>
          <a:prstGeom prst="rect">
            <a:avLst/>
          </a:prstGeom>
          <a:solidFill>
            <a:srgbClr val="FFFFFF"/>
          </a:solidFill>
          <a:ln>
            <a:noFill/>
          </a:ln>
          <a:effectLst/>
        </p:spPr>
        <p:txBody>
          <a:bodyPr rtlCol="0" anchor="ctr"/>
          <a:lstStyle/>
          <a:p>
            <a:pPr algn="ctr"/>
          </a:p>
        </p:txBody>
      </p:sp>
      <p:cxnSp>
        <p:nvCxnSpPr>
          <p:cNvPr id="21" name="Connector 20"/>
          <p:cNvCxnSpPr/>
          <p:nvPr/>
        </p:nvCxnSpPr>
        <p:spPr>
          <a:xfrm>
            <a:off x="3858768" y="2318004"/>
            <a:ext cx="7406640" cy="0"/>
          </a:xfrm>
          <a:prstGeom prst="line">
            <a:avLst/>
          </a:prstGeom>
          <a:ln w="6350">
            <a:solidFill>
              <a:srgbClr val="DDD6C8"/>
            </a:solidFill>
          </a:ln>
        </p:spPr>
      </p:cxnSp>
      <p:sp>
        <p:nvSpPr>
          <p:cNvPr id="22" name="TextBox 21"/>
          <p:cNvSpPr txBox="1"/>
          <p:nvPr/>
        </p:nvSpPr>
        <p:spPr>
          <a:xfrm>
            <a:off x="3950207" y="1984248"/>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E1–E2</a:t>
            </a:r>
          </a:p>
        </p:txBody>
      </p:sp>
      <p:sp>
        <p:nvSpPr>
          <p:cNvPr id="23" name="TextBox 22"/>
          <p:cNvSpPr txBox="1"/>
          <p:nvPr/>
        </p:nvSpPr>
        <p:spPr>
          <a:xfrm>
            <a:off x="4791455" y="1947672"/>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Open a virtual store; read a realized plume</a:t>
            </a:r>
          </a:p>
        </p:txBody>
      </p:sp>
      <p:sp>
        <p:nvSpPr>
          <p:cNvPr id="24" name="TextBox 23"/>
          <p:cNvSpPr txBox="1"/>
          <p:nvPr/>
        </p:nvSpPr>
        <p:spPr>
          <a:xfrm>
            <a:off x="8613648" y="1947672"/>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Store access; member reads</a:t>
            </a:r>
          </a:p>
        </p:txBody>
      </p:sp>
      <p:sp>
        <p:nvSpPr>
          <p:cNvPr id="25" name="Rectangle 24"/>
          <p:cNvSpPr/>
          <p:nvPr/>
        </p:nvSpPr>
        <p:spPr>
          <a:xfrm>
            <a:off x="3858768" y="2318004"/>
            <a:ext cx="841248" cy="489204"/>
          </a:xfrm>
          <a:prstGeom prst="rect">
            <a:avLst/>
          </a:prstGeom>
          <a:solidFill>
            <a:srgbClr val="F4F0E7"/>
          </a:solidFill>
          <a:ln>
            <a:noFill/>
          </a:ln>
          <a:effectLst/>
        </p:spPr>
        <p:txBody>
          <a:bodyPr rtlCol="0" anchor="ctr"/>
          <a:lstStyle/>
          <a:p>
            <a:pPr algn="ctr"/>
          </a:p>
        </p:txBody>
      </p:sp>
      <p:sp>
        <p:nvSpPr>
          <p:cNvPr id="26" name="Rectangle 25"/>
          <p:cNvSpPr/>
          <p:nvPr/>
        </p:nvSpPr>
        <p:spPr>
          <a:xfrm>
            <a:off x="4700016" y="2318004"/>
            <a:ext cx="3822191" cy="489204"/>
          </a:xfrm>
          <a:prstGeom prst="rect">
            <a:avLst/>
          </a:prstGeom>
          <a:solidFill>
            <a:srgbClr val="F4F0E7"/>
          </a:solidFill>
          <a:ln>
            <a:noFill/>
          </a:ln>
          <a:effectLst/>
        </p:spPr>
        <p:txBody>
          <a:bodyPr rtlCol="0" anchor="ctr"/>
          <a:lstStyle/>
          <a:p>
            <a:pPr algn="ctr"/>
          </a:p>
        </p:txBody>
      </p:sp>
      <p:sp>
        <p:nvSpPr>
          <p:cNvPr id="27" name="Rectangle 26"/>
          <p:cNvSpPr/>
          <p:nvPr/>
        </p:nvSpPr>
        <p:spPr>
          <a:xfrm>
            <a:off x="8522208" y="2318004"/>
            <a:ext cx="2743200" cy="489204"/>
          </a:xfrm>
          <a:prstGeom prst="rect">
            <a:avLst/>
          </a:prstGeom>
          <a:solidFill>
            <a:srgbClr val="F4F0E7"/>
          </a:solidFill>
          <a:ln>
            <a:noFill/>
          </a:ln>
          <a:effectLst/>
        </p:spPr>
        <p:txBody>
          <a:bodyPr rtlCol="0" anchor="ctr"/>
          <a:lstStyle/>
          <a:p>
            <a:pPr algn="ctr"/>
          </a:p>
        </p:txBody>
      </p:sp>
      <p:cxnSp>
        <p:nvCxnSpPr>
          <p:cNvPr id="28" name="Connector 27"/>
          <p:cNvCxnSpPr/>
          <p:nvPr/>
        </p:nvCxnSpPr>
        <p:spPr>
          <a:xfrm>
            <a:off x="3858768" y="2807208"/>
            <a:ext cx="7406640" cy="0"/>
          </a:xfrm>
          <a:prstGeom prst="line">
            <a:avLst/>
          </a:prstGeom>
          <a:ln w="6350">
            <a:solidFill>
              <a:srgbClr val="DDD6C8"/>
            </a:solidFill>
          </a:ln>
        </p:spPr>
      </p:cxnSp>
      <p:sp>
        <p:nvSpPr>
          <p:cNvPr id="29" name="TextBox 28"/>
          <p:cNvSpPr txBox="1"/>
          <p:nvPr/>
        </p:nvSpPr>
        <p:spPr>
          <a:xfrm>
            <a:off x="3950207" y="2473452"/>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E3</a:t>
            </a:r>
          </a:p>
        </p:txBody>
      </p:sp>
      <p:sp>
        <p:nvSpPr>
          <p:cNvPr id="30" name="TextBox 29"/>
          <p:cNvSpPr txBox="1"/>
          <p:nvPr/>
        </p:nvSpPr>
        <p:spPr>
          <a:xfrm>
            <a:off x="4791455" y="2436876"/>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Pan vs pencil chunk reads</a:t>
            </a:r>
          </a:p>
        </p:txBody>
      </p:sp>
      <p:sp>
        <p:nvSpPr>
          <p:cNvPr id="31" name="TextBox 30"/>
          <p:cNvSpPr txBox="1"/>
          <p:nvPr/>
        </p:nvSpPr>
        <p:spPr>
          <a:xfrm>
            <a:off x="8613648" y="2436876"/>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D: crop region/steps before compute</a:t>
            </a:r>
          </a:p>
        </p:txBody>
      </p:sp>
      <p:sp>
        <p:nvSpPr>
          <p:cNvPr id="32" name="Rectangle 31"/>
          <p:cNvSpPr/>
          <p:nvPr/>
        </p:nvSpPr>
        <p:spPr>
          <a:xfrm>
            <a:off x="3858768" y="2807208"/>
            <a:ext cx="841248" cy="489204"/>
          </a:xfrm>
          <a:prstGeom prst="rect">
            <a:avLst/>
          </a:prstGeom>
          <a:solidFill>
            <a:srgbClr val="FFFFFF"/>
          </a:solidFill>
          <a:ln>
            <a:noFill/>
          </a:ln>
          <a:effectLst/>
        </p:spPr>
        <p:txBody>
          <a:bodyPr rtlCol="0" anchor="ctr"/>
          <a:lstStyle/>
          <a:p>
            <a:pPr algn="ctr"/>
          </a:p>
        </p:txBody>
      </p:sp>
      <p:sp>
        <p:nvSpPr>
          <p:cNvPr id="33" name="Rectangle 32"/>
          <p:cNvSpPr/>
          <p:nvPr/>
        </p:nvSpPr>
        <p:spPr>
          <a:xfrm>
            <a:off x="4700016" y="2807208"/>
            <a:ext cx="3822191" cy="489204"/>
          </a:xfrm>
          <a:prstGeom prst="rect">
            <a:avLst/>
          </a:prstGeom>
          <a:solidFill>
            <a:srgbClr val="FFFFFF"/>
          </a:solidFill>
          <a:ln>
            <a:noFill/>
          </a:ln>
          <a:effectLst/>
        </p:spPr>
        <p:txBody>
          <a:bodyPr rtlCol="0" anchor="ctr"/>
          <a:lstStyle/>
          <a:p>
            <a:pPr algn="ctr"/>
          </a:p>
        </p:txBody>
      </p:sp>
      <p:sp>
        <p:nvSpPr>
          <p:cNvPr id="34" name="Rectangle 33"/>
          <p:cNvSpPr/>
          <p:nvPr/>
        </p:nvSpPr>
        <p:spPr>
          <a:xfrm>
            <a:off x="8522208" y="2807208"/>
            <a:ext cx="2743200" cy="489204"/>
          </a:xfrm>
          <a:prstGeom prst="rect">
            <a:avLst/>
          </a:prstGeom>
          <a:solidFill>
            <a:srgbClr val="FFFFFF"/>
          </a:solidFill>
          <a:ln>
            <a:noFill/>
          </a:ln>
          <a:effectLst/>
        </p:spPr>
        <p:txBody>
          <a:bodyPr rtlCol="0" anchor="ctr"/>
          <a:lstStyle/>
          <a:p>
            <a:pPr algn="ctr"/>
          </a:p>
        </p:txBody>
      </p:sp>
      <p:cxnSp>
        <p:nvCxnSpPr>
          <p:cNvPr id="35" name="Connector 34"/>
          <p:cNvCxnSpPr/>
          <p:nvPr/>
        </p:nvCxnSpPr>
        <p:spPr>
          <a:xfrm>
            <a:off x="3858768" y="3296412"/>
            <a:ext cx="7406640" cy="0"/>
          </a:xfrm>
          <a:prstGeom prst="line">
            <a:avLst/>
          </a:prstGeom>
          <a:ln w="6350">
            <a:solidFill>
              <a:srgbClr val="DDD6C8"/>
            </a:solidFill>
          </a:ln>
        </p:spPr>
      </p:cxnSp>
      <p:sp>
        <p:nvSpPr>
          <p:cNvPr id="36" name="TextBox 35"/>
          <p:cNvSpPr txBox="1"/>
          <p:nvPr/>
        </p:nvSpPr>
        <p:spPr>
          <a:xfrm>
            <a:off x="3950207" y="2962656"/>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E4</a:t>
            </a:r>
          </a:p>
        </p:txBody>
      </p:sp>
      <p:sp>
        <p:nvSpPr>
          <p:cNvPr id="37" name="TextBox 36"/>
          <p:cNvSpPr txBox="1"/>
          <p:nvPr/>
        </p:nvSpPr>
        <p:spPr>
          <a:xfrm>
            <a:off x="4791455" y="2926080"/>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CMORPH return periods and Gumbel fit</a:t>
            </a:r>
          </a:p>
        </p:txBody>
      </p:sp>
      <p:sp>
        <p:nvSpPr>
          <p:cNvPr id="38" name="TextBox 37"/>
          <p:cNvSpPr txBox="1"/>
          <p:nvPr/>
        </p:nvSpPr>
        <p:spPr>
          <a:xfrm>
            <a:off x="8613648" y="2926080"/>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A: local thresholds</a:t>
            </a:r>
          </a:p>
        </p:txBody>
      </p:sp>
      <p:sp>
        <p:nvSpPr>
          <p:cNvPr id="39" name="Rectangle 38"/>
          <p:cNvSpPr/>
          <p:nvPr/>
        </p:nvSpPr>
        <p:spPr>
          <a:xfrm>
            <a:off x="3858768" y="3296412"/>
            <a:ext cx="841248" cy="489204"/>
          </a:xfrm>
          <a:prstGeom prst="rect">
            <a:avLst/>
          </a:prstGeom>
          <a:solidFill>
            <a:srgbClr val="F4F0E7"/>
          </a:solidFill>
          <a:ln>
            <a:noFill/>
          </a:ln>
          <a:effectLst/>
        </p:spPr>
        <p:txBody>
          <a:bodyPr rtlCol="0" anchor="ctr"/>
          <a:lstStyle/>
          <a:p>
            <a:pPr algn="ctr"/>
          </a:p>
        </p:txBody>
      </p:sp>
      <p:sp>
        <p:nvSpPr>
          <p:cNvPr id="40" name="Rectangle 39"/>
          <p:cNvSpPr/>
          <p:nvPr/>
        </p:nvSpPr>
        <p:spPr>
          <a:xfrm>
            <a:off x="4700016" y="3296412"/>
            <a:ext cx="3822191" cy="489204"/>
          </a:xfrm>
          <a:prstGeom prst="rect">
            <a:avLst/>
          </a:prstGeom>
          <a:solidFill>
            <a:srgbClr val="F4F0E7"/>
          </a:solidFill>
          <a:ln>
            <a:noFill/>
          </a:ln>
          <a:effectLst/>
        </p:spPr>
        <p:txBody>
          <a:bodyPr rtlCol="0" anchor="ctr"/>
          <a:lstStyle/>
          <a:p>
            <a:pPr algn="ctr"/>
          </a:p>
        </p:txBody>
      </p:sp>
      <p:sp>
        <p:nvSpPr>
          <p:cNvPr id="41" name="Rectangle 40"/>
          <p:cNvSpPr/>
          <p:nvPr/>
        </p:nvSpPr>
        <p:spPr>
          <a:xfrm>
            <a:off x="8522208" y="3296412"/>
            <a:ext cx="2743200" cy="489204"/>
          </a:xfrm>
          <a:prstGeom prst="rect">
            <a:avLst/>
          </a:prstGeom>
          <a:solidFill>
            <a:srgbClr val="F4F0E7"/>
          </a:solidFill>
          <a:ln>
            <a:noFill/>
          </a:ln>
          <a:effectLst/>
        </p:spPr>
        <p:txBody>
          <a:bodyPr rtlCol="0" anchor="ctr"/>
          <a:lstStyle/>
          <a:p>
            <a:pPr algn="ctr"/>
          </a:p>
        </p:txBody>
      </p:sp>
      <p:cxnSp>
        <p:nvCxnSpPr>
          <p:cNvPr id="42" name="Connector 41"/>
          <p:cNvCxnSpPr/>
          <p:nvPr/>
        </p:nvCxnSpPr>
        <p:spPr>
          <a:xfrm>
            <a:off x="3858768" y="3785615"/>
            <a:ext cx="7406640" cy="0"/>
          </a:xfrm>
          <a:prstGeom prst="line">
            <a:avLst/>
          </a:prstGeom>
          <a:ln w="6350">
            <a:solidFill>
              <a:srgbClr val="DDD6C8"/>
            </a:solidFill>
          </a:ln>
        </p:spPr>
      </p:cxnSp>
      <p:sp>
        <p:nvSpPr>
          <p:cNvPr id="43" name="TextBox 42"/>
          <p:cNvSpPr txBox="1"/>
          <p:nvPr/>
        </p:nvSpPr>
        <p:spPr>
          <a:xfrm>
            <a:off x="3950207" y="3451860"/>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E5–E6</a:t>
            </a:r>
          </a:p>
        </p:txBody>
      </p:sp>
      <p:sp>
        <p:nvSpPr>
          <p:cNvPr id="44" name="TextBox 43"/>
          <p:cNvSpPr txBox="1"/>
          <p:nvPr/>
        </p:nvSpPr>
        <p:spPr>
          <a:xfrm>
            <a:off x="4791455" y="3415284"/>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xclim heavy days; forecast vs local extremes</a:t>
            </a:r>
          </a:p>
        </p:txBody>
      </p:sp>
      <p:sp>
        <p:nvSpPr>
          <p:cNvPr id="45" name="TextBox 44"/>
          <p:cNvSpPr txBox="1"/>
          <p:nvPr/>
        </p:nvSpPr>
        <p:spPr>
          <a:xfrm>
            <a:off x="8613648" y="3415284"/>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B/C: member counts</a:t>
            </a:r>
          </a:p>
        </p:txBody>
      </p:sp>
      <p:sp>
        <p:nvSpPr>
          <p:cNvPr id="46" name="Rectangle 45"/>
          <p:cNvSpPr/>
          <p:nvPr/>
        </p:nvSpPr>
        <p:spPr>
          <a:xfrm>
            <a:off x="3858768" y="3785616"/>
            <a:ext cx="841248" cy="489204"/>
          </a:xfrm>
          <a:prstGeom prst="rect">
            <a:avLst/>
          </a:prstGeom>
          <a:solidFill>
            <a:srgbClr val="FFFFFF"/>
          </a:solidFill>
          <a:ln>
            <a:noFill/>
          </a:ln>
          <a:effectLst/>
        </p:spPr>
        <p:txBody>
          <a:bodyPr rtlCol="0" anchor="ctr"/>
          <a:lstStyle/>
          <a:p>
            <a:pPr algn="ctr"/>
          </a:p>
        </p:txBody>
      </p:sp>
      <p:sp>
        <p:nvSpPr>
          <p:cNvPr id="47" name="Rectangle 46"/>
          <p:cNvSpPr/>
          <p:nvPr/>
        </p:nvSpPr>
        <p:spPr>
          <a:xfrm>
            <a:off x="4700016" y="3785616"/>
            <a:ext cx="3822191" cy="489204"/>
          </a:xfrm>
          <a:prstGeom prst="rect">
            <a:avLst/>
          </a:prstGeom>
          <a:solidFill>
            <a:srgbClr val="FFFFFF"/>
          </a:solidFill>
          <a:ln>
            <a:noFill/>
          </a:ln>
          <a:effectLst/>
        </p:spPr>
        <p:txBody>
          <a:bodyPr rtlCol="0" anchor="ctr"/>
          <a:lstStyle/>
          <a:p>
            <a:pPr algn="ctr"/>
          </a:p>
        </p:txBody>
      </p:sp>
      <p:sp>
        <p:nvSpPr>
          <p:cNvPr id="48" name="Rectangle 47"/>
          <p:cNvSpPr/>
          <p:nvPr/>
        </p:nvSpPr>
        <p:spPr>
          <a:xfrm>
            <a:off x="8522208" y="3785616"/>
            <a:ext cx="2743200" cy="489204"/>
          </a:xfrm>
          <a:prstGeom prst="rect">
            <a:avLst/>
          </a:prstGeom>
          <a:solidFill>
            <a:srgbClr val="FFFFFF"/>
          </a:solidFill>
          <a:ln>
            <a:noFill/>
          </a:ln>
          <a:effectLst/>
        </p:spPr>
        <p:txBody>
          <a:bodyPr rtlCol="0" anchor="ctr"/>
          <a:lstStyle/>
          <a:p>
            <a:pPr algn="ctr"/>
          </a:p>
        </p:txBody>
      </p:sp>
      <p:cxnSp>
        <p:nvCxnSpPr>
          <p:cNvPr id="49" name="Connector 48"/>
          <p:cNvCxnSpPr/>
          <p:nvPr/>
        </p:nvCxnSpPr>
        <p:spPr>
          <a:xfrm>
            <a:off x="3858768" y="4274820"/>
            <a:ext cx="7406640" cy="0"/>
          </a:xfrm>
          <a:prstGeom prst="line">
            <a:avLst/>
          </a:prstGeom>
          <a:ln w="6350">
            <a:solidFill>
              <a:srgbClr val="DDD6C8"/>
            </a:solidFill>
          </a:ln>
        </p:spPr>
      </p:cxnSp>
      <p:sp>
        <p:nvSpPr>
          <p:cNvPr id="50" name="TextBox 49"/>
          <p:cNvSpPr txBox="1"/>
          <p:nvPr/>
        </p:nvSpPr>
        <p:spPr>
          <a:xfrm>
            <a:off x="3950207" y="3941064"/>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E7</a:t>
            </a:r>
          </a:p>
        </p:txBody>
      </p:sp>
      <p:sp>
        <p:nvSpPr>
          <p:cNvPr id="51" name="TextBox 50"/>
          <p:cNvSpPr txBox="1"/>
          <p:nvPr/>
        </p:nvSpPr>
        <p:spPr>
          <a:xfrm>
            <a:off x="4791455" y="3904488"/>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Review before push</a:t>
            </a:r>
          </a:p>
        </p:txBody>
      </p:sp>
      <p:sp>
        <p:nvSpPr>
          <p:cNvPr id="52" name="TextBox 51"/>
          <p:cNvSpPr txBox="1"/>
          <p:nvPr/>
        </p:nvSpPr>
        <p:spPr>
          <a:xfrm>
            <a:off x="8613648" y="3904488"/>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Git checks and reproducibility</a:t>
            </a:r>
          </a:p>
        </p:txBody>
      </p:sp>
      <p:sp>
        <p:nvSpPr>
          <p:cNvPr id="53" name="Rectangle 52"/>
          <p:cNvSpPr/>
          <p:nvPr/>
        </p:nvSpPr>
        <p:spPr>
          <a:xfrm>
            <a:off x="3858768" y="4274820"/>
            <a:ext cx="841248" cy="489204"/>
          </a:xfrm>
          <a:prstGeom prst="rect">
            <a:avLst/>
          </a:prstGeom>
          <a:solidFill>
            <a:srgbClr val="F4F0E7"/>
          </a:solidFill>
          <a:ln>
            <a:noFill/>
          </a:ln>
          <a:effectLst/>
        </p:spPr>
        <p:txBody>
          <a:bodyPr rtlCol="0" anchor="ctr"/>
          <a:lstStyle/>
          <a:p>
            <a:pPr algn="ctr"/>
          </a:p>
        </p:txBody>
      </p:sp>
      <p:sp>
        <p:nvSpPr>
          <p:cNvPr id="54" name="Rectangle 53"/>
          <p:cNvSpPr/>
          <p:nvPr/>
        </p:nvSpPr>
        <p:spPr>
          <a:xfrm>
            <a:off x="4700016" y="4274820"/>
            <a:ext cx="3822191" cy="489204"/>
          </a:xfrm>
          <a:prstGeom prst="rect">
            <a:avLst/>
          </a:prstGeom>
          <a:solidFill>
            <a:srgbClr val="F4F0E7"/>
          </a:solidFill>
          <a:ln>
            <a:noFill/>
          </a:ln>
          <a:effectLst/>
        </p:spPr>
        <p:txBody>
          <a:bodyPr rtlCol="0" anchor="ctr"/>
          <a:lstStyle/>
          <a:p>
            <a:pPr algn="ctr"/>
          </a:p>
        </p:txBody>
      </p:sp>
      <p:sp>
        <p:nvSpPr>
          <p:cNvPr id="55" name="Rectangle 54"/>
          <p:cNvSpPr/>
          <p:nvPr/>
        </p:nvSpPr>
        <p:spPr>
          <a:xfrm>
            <a:off x="8522208" y="4274820"/>
            <a:ext cx="2743200" cy="489204"/>
          </a:xfrm>
          <a:prstGeom prst="rect">
            <a:avLst/>
          </a:prstGeom>
          <a:solidFill>
            <a:srgbClr val="F4F0E7"/>
          </a:solidFill>
          <a:ln>
            <a:noFill/>
          </a:ln>
          <a:effectLst/>
        </p:spPr>
        <p:txBody>
          <a:bodyPr rtlCol="0" anchor="ctr"/>
          <a:lstStyle/>
          <a:p>
            <a:pPr algn="ctr"/>
          </a:p>
        </p:txBody>
      </p:sp>
      <p:cxnSp>
        <p:nvCxnSpPr>
          <p:cNvPr id="56" name="Connector 55"/>
          <p:cNvCxnSpPr/>
          <p:nvPr/>
        </p:nvCxnSpPr>
        <p:spPr>
          <a:xfrm>
            <a:off x="3858768" y="4764024"/>
            <a:ext cx="7406640" cy="0"/>
          </a:xfrm>
          <a:prstGeom prst="line">
            <a:avLst/>
          </a:prstGeom>
          <a:ln w="6350">
            <a:solidFill>
              <a:srgbClr val="DDD6C8"/>
            </a:solidFill>
          </a:ln>
        </p:spPr>
      </p:cxnSp>
      <p:sp>
        <p:nvSpPr>
          <p:cNvPr id="57" name="TextBox 56"/>
          <p:cNvSpPr txBox="1"/>
          <p:nvPr/>
        </p:nvSpPr>
        <p:spPr>
          <a:xfrm>
            <a:off x="3950207" y="4430268"/>
            <a:ext cx="731520" cy="201168"/>
          </a:xfrm>
          <a:prstGeom prst="rect">
            <a:avLst/>
          </a:prstGeom>
          <a:noFill/>
        </p:spPr>
        <p:txBody>
          <a:bodyPr wrap="square" lIns="0" rIns="0" tIns="0" bIns="0" anchor="t">
            <a:spAutoFit/>
          </a:bodyPr>
          <a:lstStyle/>
          <a:p>
            <a:pPr algn="l">
              <a:lnSpc>
                <a:spcPct val="100000"/>
              </a:lnSpc>
              <a:spcBef>
                <a:spcPts val="0"/>
              </a:spcBef>
              <a:spcAft>
                <a:spcPts val="0"/>
              </a:spcAft>
            </a:pPr>
            <a:r>
              <a:rPr sz="930" b="1" i="0">
                <a:solidFill>
                  <a:srgbClr val="A96500"/>
                </a:solidFill>
                <a:latin typeface="Arial"/>
              </a:rPr>
              <a:t>E8</a:t>
            </a:r>
          </a:p>
        </p:txBody>
      </p:sp>
      <p:sp>
        <p:nvSpPr>
          <p:cNvPr id="58" name="TextBox 57"/>
          <p:cNvSpPr txBox="1"/>
          <p:nvPr/>
        </p:nvSpPr>
        <p:spPr>
          <a:xfrm>
            <a:off x="4791455" y="4393692"/>
            <a:ext cx="3657599"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182A3A"/>
                </a:solidFill>
                <a:latin typeface="Arial"/>
              </a:rPr>
              <a:t>Local-threshold probability map</a:t>
            </a:r>
          </a:p>
        </p:txBody>
      </p:sp>
      <p:sp>
        <p:nvSpPr>
          <p:cNvPr id="59" name="TextBox 58"/>
          <p:cNvSpPr txBox="1"/>
          <p:nvPr/>
        </p:nvSpPr>
        <p:spPr>
          <a:xfrm>
            <a:off x="8613648" y="4393692"/>
            <a:ext cx="2578608" cy="347472"/>
          </a:xfrm>
          <a:prstGeom prst="rect">
            <a:avLst/>
          </a:prstGeom>
          <a:noFill/>
        </p:spPr>
        <p:txBody>
          <a:bodyPr wrap="square" lIns="0" rIns="0" tIns="0" bIns="0" anchor="t">
            <a:spAutoFit/>
          </a:bodyPr>
          <a:lstStyle/>
          <a:p>
            <a:pPr algn="l">
              <a:lnSpc>
                <a:spcPct val="95000"/>
              </a:lnSpc>
              <a:spcBef>
                <a:spcPts val="0"/>
              </a:spcBef>
              <a:spcAft>
                <a:spcPts val="0"/>
              </a:spcAft>
            </a:pPr>
            <a:r>
              <a:rPr sz="869" b="0" i="0">
                <a:solidFill>
                  <a:srgbClr val="5B6B7C"/>
                </a:solidFill>
                <a:latin typeface="Arial"/>
              </a:rPr>
              <a:t>D: regional risk maps</a:t>
            </a:r>
          </a:p>
        </p:txBody>
      </p:sp>
      <p:sp>
        <p:nvSpPr>
          <p:cNvPr id="60" name="Rounded Rectangle 59"/>
          <p:cNvSpPr/>
          <p:nvPr/>
        </p:nvSpPr>
        <p:spPr>
          <a:xfrm>
            <a:off x="594360" y="5102352"/>
            <a:ext cx="11000232" cy="749808"/>
          </a:xfrm>
          <a:prstGeom prst="roundRect">
            <a:avLst>
              <a:gd name="adj" fmla="val 3000"/>
            </a:avLst>
          </a:prstGeom>
          <a:solidFill>
            <a:srgbClr val="FFFFFF"/>
          </a:solidFill>
          <a:ln w="9525">
            <a:solidFill>
              <a:srgbClr val="DDD6C8"/>
            </a:solidFill>
          </a:ln>
          <a:effectLst/>
        </p:spPr>
        <p:txBody>
          <a:bodyPr rtlCol="0" anchor="ctr"/>
          <a:lstStyle/>
          <a:p>
            <a:pPr algn="ctr"/>
          </a:p>
        </p:txBody>
      </p:sp>
      <p:sp>
        <p:nvSpPr>
          <p:cNvPr id="61" name="TextBox 60"/>
          <p:cNvSpPr txBox="1"/>
          <p:nvPr/>
        </p:nvSpPr>
        <p:spPr>
          <a:xfrm>
            <a:off x="804672" y="5193792"/>
            <a:ext cx="1828800" cy="182880"/>
          </a:xfrm>
          <a:prstGeom prst="rect">
            <a:avLst/>
          </a:prstGeom>
          <a:noFill/>
        </p:spPr>
        <p:txBody>
          <a:bodyPr wrap="square" lIns="0" rIns="0" tIns="0" bIns="0" anchor="t">
            <a:spAutoFit/>
          </a:bodyPr>
          <a:lstStyle/>
          <a:p>
            <a:pPr algn="l">
              <a:lnSpc>
                <a:spcPct val="100000"/>
              </a:lnSpc>
              <a:spcBef>
                <a:spcPts val="0"/>
              </a:spcBef>
              <a:spcAft>
                <a:spcPts val="0"/>
              </a:spcAft>
            </a:pPr>
            <a:r>
              <a:rPr sz="770" b="1" i="0">
                <a:solidFill>
                  <a:srgbClr val="A96500"/>
                </a:solidFill>
                <a:latin typeface="Arial"/>
              </a:rPr>
              <a:t>REPO SCRIPTS</a:t>
            </a:r>
          </a:p>
        </p:txBody>
      </p:sp>
      <p:sp>
        <p:nvSpPr>
          <p:cNvPr id="62" name="TextBox 61"/>
          <p:cNvSpPr txBox="1"/>
          <p:nvPr/>
        </p:nvSpPr>
        <p:spPr>
          <a:xfrm>
            <a:off x="804672" y="5431536"/>
            <a:ext cx="10515600" cy="274320"/>
          </a:xfrm>
          <a:prstGeom prst="rect">
            <a:avLst/>
          </a:prstGeom>
          <a:noFill/>
        </p:spPr>
        <p:txBody>
          <a:bodyPr wrap="square" lIns="0" rIns="0" tIns="0" bIns="0" anchor="t">
            <a:spAutoFit/>
          </a:bodyPr>
          <a:lstStyle/>
          <a:p>
            <a:pPr algn="l">
              <a:lnSpc>
                <a:spcPct val="100000"/>
              </a:lnSpc>
              <a:spcBef>
                <a:spcPts val="0"/>
              </a:spcBef>
              <a:spcAft>
                <a:spcPts val="0"/>
              </a:spcAft>
            </a:pPr>
            <a:r>
              <a:rPr sz="800" b="0" i="0">
                <a:solidFill>
                  <a:srgbClr val="182A3A"/>
                </a:solidFill>
                <a:latin typeface="Courier New"/>
              </a:rPr>
              <a:t>scripts/rainfall_thresholds.py  ·  forecast_threshold_counts.py  ·  forecast_signal_leadtime.py  ·  region_risk_maps.py</a:t>
            </a:r>
          </a:p>
        </p:txBody>
      </p:sp>
      <p:sp>
        <p:nvSpPr>
          <p:cNvPr id="63" name="TextBox 62"/>
          <p:cNvSpPr txBox="1"/>
          <p:nvPr/>
        </p:nvSpPr>
        <p:spPr>
          <a:xfrm>
            <a:off x="804672" y="5669280"/>
            <a:ext cx="10607040" cy="164592"/>
          </a:xfrm>
          <a:prstGeom prst="rect">
            <a:avLst/>
          </a:prstGeom>
          <a:noFill/>
        </p:spPr>
        <p:txBody>
          <a:bodyPr wrap="square" lIns="0" rIns="0" tIns="0" bIns="0" anchor="t">
            <a:spAutoFit/>
          </a:bodyPr>
          <a:lstStyle/>
          <a:p>
            <a:pPr algn="l">
              <a:lnSpc>
                <a:spcPct val="100000"/>
              </a:lnSpc>
              <a:spcBef>
                <a:spcPts val="0"/>
              </a:spcBef>
              <a:spcAft>
                <a:spcPts val="0"/>
              </a:spcAft>
            </a:pPr>
            <a:r>
              <a:rPr sz="780" b="0" i="0">
                <a:solidFill>
                  <a:srgbClr val="5B6B7C"/>
                </a:solidFill>
                <a:latin typeface="Arial"/>
              </a:rPr>
              <a:t>Examples inspired the pattern; the Sudan scripts, settings, tests and outputs are ours.</a:t>
            </a:r>
          </a:p>
        </p:txBody>
      </p:sp>
      <p:cxnSp>
        <p:nvCxnSpPr>
          <p:cNvPr id="64" name="Connector 63"/>
          <p:cNvCxnSpPr/>
          <p:nvPr/>
        </p:nvCxnSpPr>
        <p:spPr>
          <a:xfrm>
            <a:off x="594360" y="6437376"/>
            <a:ext cx="11000232" cy="0"/>
          </a:xfrm>
          <a:prstGeom prst="line">
            <a:avLst/>
          </a:prstGeom>
          <a:ln w="9525">
            <a:solidFill>
              <a:srgbClr val="DDD6C8"/>
            </a:solidFill>
          </a:ln>
        </p:spPr>
      </p:cxnSp>
      <p:sp>
        <p:nvSpPr>
          <p:cNvPr id="65" name="TextBox 6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66" name="TextBox 6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05 / FINDING A</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What counts as extreme? It depends where you are.</a:t>
            </a:r>
          </a:p>
        </p:txBody>
      </p:sp>
      <p:cxnSp>
        <p:nvCxnSpPr>
          <p:cNvPr id="5" name="Connector 4"/>
          <p:cNvCxnSpPr/>
          <p:nvPr/>
        </p:nvCxnSpPr>
        <p:spPr>
          <a:xfrm>
            <a:off x="594360" y="1307592"/>
            <a:ext cx="11000232" cy="0"/>
          </a:xfrm>
          <a:prstGeom prst="line">
            <a:avLst/>
          </a:prstGeom>
          <a:ln w="9525">
            <a:solidFill>
              <a:srgbClr val="DDD6C8"/>
            </a:solidFill>
          </a:ln>
        </p:spPr>
      </p:cxnSp>
      <p:pic>
        <p:nvPicPr>
          <p:cNvPr id="6" name="Picture 5" descr="Grouped bar chart of 24-hour 2-, 10- and 50-year rainfall thresholds for the five towns."/>
          <p:cNvPicPr>
            <a:picLocks noChangeAspect="1"/>
          </p:cNvPicPr>
          <p:nvPr/>
        </p:nvPicPr>
        <p:blipFill>
          <a:blip r:embed="rId2"/>
          <a:stretch>
            <a:fillRect/>
          </a:stretch>
        </p:blipFill>
        <p:spPr>
          <a:xfrm>
            <a:off x="594360" y="1454826"/>
            <a:ext cx="6812280" cy="3536866"/>
          </a:xfrm>
          <a:prstGeom prst="rect">
            <a:avLst/>
          </a:prstGeom>
        </p:spPr>
      </p:pic>
      <p:sp>
        <p:nvSpPr>
          <p:cNvPr id="7" name="TextBox 6"/>
          <p:cNvSpPr txBox="1"/>
          <p:nvPr/>
        </p:nvSpPr>
        <p:spPr>
          <a:xfrm>
            <a:off x="621792" y="5074920"/>
            <a:ext cx="6766560"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24-hour levels, mm. The 2-year level is the primary threshold used in B–D.</a:t>
            </a:r>
          </a:p>
        </p:txBody>
      </p:sp>
      <p:sp>
        <p:nvSpPr>
          <p:cNvPr id="8" name="TextBox 7"/>
          <p:cNvSpPr txBox="1"/>
          <p:nvPr/>
        </p:nvSpPr>
        <p:spPr>
          <a:xfrm>
            <a:off x="7662672" y="1444752"/>
            <a:ext cx="2011680" cy="219456"/>
          </a:xfrm>
          <a:prstGeom prst="rect">
            <a:avLst/>
          </a:prstGeom>
          <a:noFill/>
        </p:spPr>
        <p:txBody>
          <a:bodyPr wrap="square" lIns="0" rIns="0" tIns="0" bIns="0" anchor="t">
            <a:spAutoFit/>
          </a:bodyPr>
          <a:lstStyle/>
          <a:p>
            <a:pPr algn="l">
              <a:lnSpc>
                <a:spcPct val="100000"/>
              </a:lnSpc>
              <a:spcBef>
                <a:spcPts val="0"/>
              </a:spcBef>
              <a:spcAft>
                <a:spcPts val="0"/>
              </a:spcAft>
            </a:pPr>
            <a:r>
              <a:rPr sz="830" b="1" i="0">
                <a:solidFill>
                  <a:srgbClr val="A96500"/>
                </a:solidFill>
                <a:latin typeface="Arial"/>
              </a:rPr>
              <a:t>24-HOUR 2-YEAR LEVEL</a:t>
            </a:r>
          </a:p>
        </p:txBody>
      </p:sp>
      <p:sp>
        <p:nvSpPr>
          <p:cNvPr id="9" name="TextBox 8"/>
          <p:cNvSpPr txBox="1"/>
          <p:nvPr/>
        </p:nvSpPr>
        <p:spPr>
          <a:xfrm>
            <a:off x="7635240" y="1664208"/>
            <a:ext cx="3749039"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B1F33"/>
                </a:solidFill>
                <a:latin typeface="Arial"/>
              </a:rPr>
              <a:t>23.8–53.0</a:t>
            </a:r>
          </a:p>
        </p:txBody>
      </p:sp>
      <p:sp>
        <p:nvSpPr>
          <p:cNvPr id="10" name="TextBox 9"/>
          <p:cNvSpPr txBox="1"/>
          <p:nvPr/>
        </p:nvSpPr>
        <p:spPr>
          <a:xfrm>
            <a:off x="7680960" y="2176272"/>
            <a:ext cx="3474720" cy="219456"/>
          </a:xfrm>
          <a:prstGeom prst="rect">
            <a:avLst/>
          </a:prstGeom>
          <a:noFill/>
        </p:spPr>
        <p:txBody>
          <a:bodyPr wrap="square" lIns="0" rIns="0" tIns="0" bIns="0" anchor="t">
            <a:spAutoFit/>
          </a:bodyPr>
          <a:lstStyle/>
          <a:p>
            <a:pPr algn="l">
              <a:lnSpc>
                <a:spcPct val="100000"/>
              </a:lnSpc>
              <a:spcBef>
                <a:spcPts val="0"/>
              </a:spcBef>
              <a:spcAft>
                <a:spcPts val="0"/>
              </a:spcAft>
            </a:pPr>
            <a:r>
              <a:rPr sz="1019" b="0" i="0">
                <a:solidFill>
                  <a:srgbClr val="5B6B7C"/>
                </a:solidFill>
                <a:latin typeface="Arial"/>
              </a:rPr>
              <a:t>mm/day across the five towns</a:t>
            </a:r>
          </a:p>
        </p:txBody>
      </p:sp>
      <p:sp>
        <p:nvSpPr>
          <p:cNvPr id="11" name="TextBox 10"/>
          <p:cNvSpPr txBox="1"/>
          <p:nvPr/>
        </p:nvSpPr>
        <p:spPr>
          <a:xfrm>
            <a:off x="7662672" y="2542032"/>
            <a:ext cx="3703320" cy="2304288"/>
          </a:xfrm>
          <a:prstGeom prst="rect">
            <a:avLst/>
          </a:prstGeom>
          <a:noFill/>
        </p:spPr>
        <p:txBody>
          <a:bodyPr wrap="square" lIns="0" rIns="0" tIns="0" bIns="0" anchor="t">
            <a:spAutoFit/>
          </a:bodyPr>
          <a:lstStyle/>
          <a:p>
            <a:pPr algn="l" marL="182880" indent="-182880">
              <a:lnSpc>
                <a:spcPct val="100000"/>
              </a:lnSpc>
              <a:spcBef>
                <a:spcPts val="0"/>
              </a:spcBef>
              <a:spcAft>
                <a:spcPts val="700"/>
              </a:spcAft>
            </a:pPr>
            <a:r>
              <a:rPr sz="1090" b="1">
                <a:solidFill>
                  <a:srgbClr val="D9901A"/>
                </a:solidFill>
                <a:latin typeface="Arial"/>
              </a:rPr>
              <a:t>•  </a:t>
            </a:r>
            <a:r>
              <a:rPr sz="1090" b="1">
                <a:solidFill>
                  <a:srgbClr val="182A3A"/>
                </a:solidFill>
                <a:latin typeface="Arial"/>
              </a:rPr>
              <a:t>Gedaref is highest; </a:t>
            </a:r>
            <a:r>
              <a:rPr sz="1090">
                <a:solidFill>
                  <a:srgbClr val="182A3A"/>
                </a:solidFill>
                <a:latin typeface="Arial"/>
              </a:rPr>
              <a:t>Khartoum is lowest at the 2-year level.</a:t>
            </a:r>
          </a:p>
          <a:p>
            <a:pPr algn="l" marL="182880" indent="-182880">
              <a:lnSpc>
                <a:spcPct val="100000"/>
              </a:lnSpc>
              <a:spcBef>
                <a:spcPts val="0"/>
              </a:spcBef>
              <a:spcAft>
                <a:spcPts val="700"/>
              </a:spcAft>
            </a:pPr>
            <a:r>
              <a:rPr sz="1090" b="1">
                <a:solidFill>
                  <a:srgbClr val="D9901A"/>
                </a:solidFill>
                <a:latin typeface="Arial"/>
              </a:rPr>
              <a:t>•  </a:t>
            </a:r>
            <a:r>
              <a:rPr sz="1090" b="1">
                <a:solidFill>
                  <a:srgbClr val="182A3A"/>
                </a:solidFill>
                <a:latin typeface="Arial"/>
              </a:rPr>
              <a:t>50-year levels: </a:t>
            </a:r>
            <a:r>
              <a:rPr sz="1090">
                <a:solidFill>
                  <a:srgbClr val="182A3A"/>
                </a:solidFill>
                <a:latin typeface="Arial"/>
              </a:rPr>
              <a:t>65.8–90.3 mm/day.</a:t>
            </a:r>
          </a:p>
          <a:p>
            <a:pPr algn="l" marL="182880" indent="-182880">
              <a:lnSpc>
                <a:spcPct val="100000"/>
              </a:lnSpc>
              <a:spcBef>
                <a:spcPts val="0"/>
              </a:spcBef>
              <a:spcAft>
                <a:spcPts val="700"/>
              </a:spcAft>
            </a:pPr>
            <a:r>
              <a:rPr sz="1090" b="1">
                <a:solidFill>
                  <a:srgbClr val="D9901A"/>
                </a:solidFill>
                <a:latin typeface="Arial"/>
              </a:rPr>
              <a:t>•  </a:t>
            </a:r>
            <a:r>
              <a:rPr sz="1090" b="1">
                <a:solidFill>
                  <a:srgbClr val="182A3A"/>
                </a:solidFill>
                <a:latin typeface="Arial"/>
              </a:rPr>
              <a:t>Fit sensitivity: </a:t>
            </a:r>
            <a:r>
              <a:rPr sz="1090">
                <a:solidFill>
                  <a:srgbClr val="182A3A"/>
                </a:solidFill>
                <a:latin typeface="Arial"/>
              </a:rPr>
              <a:t>removing the largest year changes the 50-year fit by 3–9%.</a:t>
            </a:r>
          </a:p>
        </p:txBody>
      </p:sp>
      <p:sp>
        <p:nvSpPr>
          <p:cNvPr id="12" name="Rounded Rectangle 11"/>
          <p:cNvSpPr/>
          <p:nvPr/>
        </p:nvSpPr>
        <p:spPr>
          <a:xfrm>
            <a:off x="7662672" y="4956048"/>
            <a:ext cx="3703320" cy="786384"/>
          </a:xfrm>
          <a:prstGeom prst="roundRect">
            <a:avLst>
              <a:gd name="adj" fmla="val 4000"/>
            </a:avLst>
          </a:prstGeom>
          <a:solidFill>
            <a:srgbClr val="FBF0DB"/>
          </a:solidFill>
          <a:ln>
            <a:noFill/>
          </a:ln>
          <a:effectLst/>
        </p:spPr>
        <p:txBody>
          <a:bodyPr rtlCol="0" anchor="ctr"/>
          <a:lstStyle/>
          <a:p>
            <a:pPr algn="ctr"/>
          </a:p>
        </p:txBody>
      </p:sp>
      <p:sp>
        <p:nvSpPr>
          <p:cNvPr id="13" name="TextBox 12"/>
          <p:cNvSpPr txBox="1"/>
          <p:nvPr/>
        </p:nvSpPr>
        <p:spPr>
          <a:xfrm>
            <a:off x="7818120" y="5056632"/>
            <a:ext cx="3383280" cy="585216"/>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182A3A"/>
                </a:solidFill>
                <a:latin typeface="Arial"/>
              </a:rPr>
              <a:t>A fixed national threshold would misread both ends of this gradient.</a:t>
            </a:r>
          </a:p>
        </p:txBody>
      </p:sp>
      <p:cxnSp>
        <p:nvCxnSpPr>
          <p:cNvPr id="14" name="Connector 13"/>
          <p:cNvCxnSpPr/>
          <p:nvPr/>
        </p:nvCxnSpPr>
        <p:spPr>
          <a:xfrm>
            <a:off x="594360" y="6437376"/>
            <a:ext cx="11000232" cy="0"/>
          </a:xfrm>
          <a:prstGeom prst="line">
            <a:avLst/>
          </a:prstGeom>
          <a:ln w="9525">
            <a:solidFill>
              <a:srgbClr val="DDD6C8"/>
            </a:solidFill>
          </a:ln>
        </p:spPr>
      </p:cxnSp>
      <p:sp>
        <p:nvSpPr>
          <p:cNvPr id="15" name="TextBox 1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16" name="TextBox 1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06 / FINDING B</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How much does the threshold definition matter?</a:t>
            </a:r>
          </a:p>
        </p:txBody>
      </p:sp>
      <p:cxnSp>
        <p:nvCxnSpPr>
          <p:cNvPr id="5" name="Connector 4"/>
          <p:cNvCxnSpPr/>
          <p:nvPr/>
        </p:nvCxnSpPr>
        <p:spPr>
          <a:xfrm>
            <a:off x="594360" y="1307592"/>
            <a:ext cx="11000232" cy="0"/>
          </a:xfrm>
          <a:prstGeom prst="line">
            <a:avLst/>
          </a:prstGeom>
          <a:ln w="9525">
            <a:solidFill>
              <a:srgbClr val="DDD6C8"/>
            </a:solidFill>
          </a:ln>
        </p:spPr>
      </p:cxnSp>
      <p:pic>
        <p:nvPicPr>
          <p:cNvPr id="6" name="Picture 5" descr="Grouped bar chart of member-days above fixed 20 mm, local 2-year and 10-year thresholds."/>
          <p:cNvPicPr>
            <a:picLocks noChangeAspect="1"/>
          </p:cNvPicPr>
          <p:nvPr/>
        </p:nvPicPr>
        <p:blipFill>
          <a:blip r:embed="rId2"/>
          <a:stretch>
            <a:fillRect/>
          </a:stretch>
        </p:blipFill>
        <p:spPr>
          <a:xfrm>
            <a:off x="594360" y="1474799"/>
            <a:ext cx="6812280" cy="3496921"/>
          </a:xfrm>
          <a:prstGeom prst="rect">
            <a:avLst/>
          </a:prstGeom>
        </p:spPr>
      </p:pic>
      <p:sp>
        <p:nvSpPr>
          <p:cNvPr id="7" name="TextBox 6"/>
          <p:cNvSpPr txBox="1"/>
          <p:nvPr/>
        </p:nvSpPr>
        <p:spPr>
          <a:xfrm>
            <a:off x="621792" y="5074920"/>
            <a:ext cx="6766560"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One 16 July 2025 initialization; member-days summed over forecast days 1–10.</a:t>
            </a:r>
          </a:p>
        </p:txBody>
      </p:sp>
      <p:sp>
        <p:nvSpPr>
          <p:cNvPr id="8" name="TextBox 7"/>
          <p:cNvSpPr txBox="1"/>
          <p:nvPr/>
        </p:nvSpPr>
        <p:spPr>
          <a:xfrm>
            <a:off x="7662672" y="1444752"/>
            <a:ext cx="3657600" cy="219456"/>
          </a:xfrm>
          <a:prstGeom prst="rect">
            <a:avLst/>
          </a:prstGeom>
          <a:noFill/>
        </p:spPr>
        <p:txBody>
          <a:bodyPr wrap="square" lIns="0" rIns="0" tIns="0" bIns="0" anchor="t">
            <a:spAutoFit/>
          </a:bodyPr>
          <a:lstStyle/>
          <a:p>
            <a:pPr algn="l">
              <a:lnSpc>
                <a:spcPct val="100000"/>
              </a:lnSpc>
              <a:spcBef>
                <a:spcPts val="0"/>
              </a:spcBef>
              <a:spcAft>
                <a:spcPts val="0"/>
              </a:spcAft>
            </a:pPr>
            <a:r>
              <a:rPr sz="830" b="1" i="0">
                <a:solidFill>
                  <a:srgbClr val="A96500"/>
                </a:solidFill>
                <a:latin typeface="Arial"/>
              </a:rPr>
              <a:t>MEMBER-DAYS ABOVE THRESHOLD</a:t>
            </a:r>
          </a:p>
        </p:txBody>
      </p:sp>
      <p:sp>
        <p:nvSpPr>
          <p:cNvPr id="9" name="TextBox 8"/>
          <p:cNvSpPr txBox="1"/>
          <p:nvPr/>
        </p:nvSpPr>
        <p:spPr>
          <a:xfrm>
            <a:off x="7635240" y="1664208"/>
            <a:ext cx="3794760"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B1F33"/>
                </a:solidFill>
                <a:latin typeface="Arial"/>
              </a:rPr>
              <a:t>46 → 3 → 0</a:t>
            </a:r>
          </a:p>
        </p:txBody>
      </p:sp>
      <p:sp>
        <p:nvSpPr>
          <p:cNvPr id="10" name="TextBox 9"/>
          <p:cNvSpPr txBox="1"/>
          <p:nvPr/>
        </p:nvSpPr>
        <p:spPr>
          <a:xfrm>
            <a:off x="7680960" y="2176272"/>
            <a:ext cx="3566160" cy="219456"/>
          </a:xfrm>
          <a:prstGeom prst="rect">
            <a:avLst/>
          </a:prstGeom>
          <a:noFill/>
        </p:spPr>
        <p:txBody>
          <a:bodyPr wrap="square" lIns="0" rIns="0" tIns="0" bIns="0" anchor="t">
            <a:spAutoFit/>
          </a:bodyPr>
          <a:lstStyle/>
          <a:p>
            <a:pPr algn="l">
              <a:lnSpc>
                <a:spcPct val="100000"/>
              </a:lnSpc>
              <a:spcBef>
                <a:spcPts val="0"/>
              </a:spcBef>
              <a:spcAft>
                <a:spcPts val="0"/>
              </a:spcAft>
            </a:pPr>
            <a:r>
              <a:rPr sz="980" b="0" i="0">
                <a:solidFill>
                  <a:srgbClr val="5B6B7C"/>
                </a:solidFill>
                <a:latin typeface="Arial"/>
              </a:rPr>
              <a:t>fixed 20 mm  →  2-year  →  10-year</a:t>
            </a:r>
          </a:p>
        </p:txBody>
      </p:sp>
      <p:sp>
        <p:nvSpPr>
          <p:cNvPr id="11" name="TextBox 10"/>
          <p:cNvSpPr txBox="1"/>
          <p:nvPr/>
        </p:nvSpPr>
        <p:spPr>
          <a:xfrm>
            <a:off x="7662672" y="2542032"/>
            <a:ext cx="3703320" cy="2423160"/>
          </a:xfrm>
          <a:prstGeom prst="rect">
            <a:avLst/>
          </a:prstGeom>
          <a:noFill/>
        </p:spPr>
        <p:txBody>
          <a:bodyPr wrap="square" lIns="0" rIns="0" tIns="0" bIns="0" anchor="t">
            <a:spAutoFit/>
          </a:bodyPr>
          <a:lstStyle/>
          <a:p>
            <a:pPr algn="l" marL="182880" indent="-182880">
              <a:lnSpc>
                <a:spcPct val="100000"/>
              </a:lnSpc>
              <a:spcBef>
                <a:spcPts val="0"/>
              </a:spcBef>
              <a:spcAft>
                <a:spcPts val="500"/>
              </a:spcAft>
            </a:pPr>
            <a:r>
              <a:rPr sz="1040" b="1">
                <a:solidFill>
                  <a:srgbClr val="D9901A"/>
                </a:solidFill>
                <a:latin typeface="Arial"/>
              </a:rPr>
              <a:t>•  </a:t>
            </a:r>
            <a:r>
              <a:rPr sz="1040" b="1">
                <a:solidFill>
                  <a:srgbClr val="182A3A"/>
                </a:solidFill>
                <a:latin typeface="Arial"/>
              </a:rPr>
              <a:t>Fixed 20 mm: </a:t>
            </a:r>
            <a:r>
              <a:rPr sz="1040">
                <a:solidFill>
                  <a:srgbClr val="182A3A"/>
                </a:solidFill>
                <a:latin typeface="Arial"/>
              </a:rPr>
              <a:t>46 member-days; Gedaref alone contributes 24.</a:t>
            </a:r>
          </a:p>
          <a:p>
            <a:pPr algn="l" marL="182880" indent="-182880">
              <a:lnSpc>
                <a:spcPct val="100000"/>
              </a:lnSpc>
              <a:spcBef>
                <a:spcPts val="0"/>
              </a:spcBef>
              <a:spcAft>
                <a:spcPts val="500"/>
              </a:spcAft>
            </a:pPr>
            <a:r>
              <a:rPr sz="1040" b="1">
                <a:solidFill>
                  <a:srgbClr val="D9901A"/>
                </a:solidFill>
                <a:latin typeface="Arial"/>
              </a:rPr>
              <a:t>•  </a:t>
            </a:r>
            <a:r>
              <a:rPr sz="1040" b="1">
                <a:solidFill>
                  <a:srgbClr val="182A3A"/>
                </a:solidFill>
                <a:latin typeface="Arial"/>
              </a:rPr>
              <a:t>Local 2-year: </a:t>
            </a:r>
            <a:r>
              <a:rPr sz="1040">
                <a:solidFill>
                  <a:srgbClr val="182A3A"/>
                </a:solidFill>
                <a:latin typeface="Arial"/>
              </a:rPr>
              <a:t>3 member-days (Nyala 2, El Obeid 1).</a:t>
            </a:r>
          </a:p>
          <a:p>
            <a:pPr algn="l" marL="182880" indent="-182880">
              <a:lnSpc>
                <a:spcPct val="100000"/>
              </a:lnSpc>
              <a:spcBef>
                <a:spcPts val="0"/>
              </a:spcBef>
              <a:spcAft>
                <a:spcPts val="500"/>
              </a:spcAft>
            </a:pPr>
            <a:r>
              <a:rPr sz="1040" b="1">
                <a:solidFill>
                  <a:srgbClr val="D9901A"/>
                </a:solidFill>
                <a:latin typeface="Arial"/>
              </a:rPr>
              <a:t>•  </a:t>
            </a:r>
            <a:r>
              <a:rPr sz="1040" b="1">
                <a:solidFill>
                  <a:srgbClr val="182A3A"/>
                </a:solidFill>
                <a:latin typeface="Arial"/>
              </a:rPr>
              <a:t>Local 10-year: </a:t>
            </a:r>
            <a:r>
              <a:rPr sz="1040">
                <a:solidFill>
                  <a:srgbClr val="182A3A"/>
                </a:solidFill>
                <a:latin typeface="Arial"/>
              </a:rPr>
              <a:t>none.</a:t>
            </a:r>
          </a:p>
          <a:p>
            <a:pPr algn="l" marL="182880" indent="-182880">
              <a:lnSpc>
                <a:spcPct val="100000"/>
              </a:lnSpc>
              <a:spcBef>
                <a:spcPts val="0"/>
              </a:spcBef>
              <a:spcAft>
                <a:spcPts val="500"/>
              </a:spcAft>
            </a:pPr>
            <a:r>
              <a:rPr sz="1040" b="1">
                <a:solidFill>
                  <a:srgbClr val="D9901A"/>
                </a:solidFill>
                <a:latin typeface="Arial"/>
              </a:rPr>
              <a:t>•  </a:t>
            </a:r>
            <a:r>
              <a:rPr sz="1040" b="1">
                <a:solidFill>
                  <a:srgbClr val="182A3A"/>
                </a:solidFill>
                <a:latin typeface="Arial"/>
              </a:rPr>
              <a:t>The ranking changes: </a:t>
            </a:r>
            <a:r>
              <a:rPr sz="1040">
                <a:solidFill>
                  <a:srgbClr val="182A3A"/>
                </a:solidFill>
                <a:latin typeface="Arial"/>
              </a:rPr>
              <a:t>the definition decides whether a warning exists at all.</a:t>
            </a:r>
          </a:p>
        </p:txBody>
      </p:sp>
      <p:sp>
        <p:nvSpPr>
          <p:cNvPr id="12" name="Rounded Rectangle 11"/>
          <p:cNvSpPr/>
          <p:nvPr/>
        </p:nvSpPr>
        <p:spPr>
          <a:xfrm>
            <a:off x="7662672" y="5120640"/>
            <a:ext cx="3703320" cy="621792"/>
          </a:xfrm>
          <a:prstGeom prst="roundRect">
            <a:avLst>
              <a:gd name="adj" fmla="val 4000"/>
            </a:avLst>
          </a:prstGeom>
          <a:solidFill>
            <a:srgbClr val="E7F3F1"/>
          </a:solidFill>
          <a:ln>
            <a:noFill/>
          </a:ln>
          <a:effectLst/>
        </p:spPr>
        <p:txBody>
          <a:bodyPr rtlCol="0" anchor="ctr"/>
          <a:lstStyle/>
          <a:p>
            <a:pPr algn="ctr"/>
          </a:p>
        </p:txBody>
      </p:sp>
      <p:sp>
        <p:nvSpPr>
          <p:cNvPr id="13" name="TextBox 12"/>
          <p:cNvSpPr txBox="1"/>
          <p:nvPr/>
        </p:nvSpPr>
        <p:spPr>
          <a:xfrm>
            <a:off x="7808975" y="5230368"/>
            <a:ext cx="3401568" cy="402336"/>
          </a:xfrm>
          <a:prstGeom prst="rect">
            <a:avLst/>
          </a:prstGeom>
          <a:noFill/>
        </p:spPr>
        <p:txBody>
          <a:bodyPr wrap="square" lIns="0" rIns="0" tIns="0" bIns="0" anchor="t">
            <a:spAutoFit/>
          </a:bodyPr>
          <a:lstStyle/>
          <a:p>
            <a:pPr algn="l">
              <a:lnSpc>
                <a:spcPct val="100000"/>
              </a:lnSpc>
              <a:spcBef>
                <a:spcPts val="0"/>
              </a:spcBef>
              <a:spcAft>
                <a:spcPts val="0"/>
              </a:spcAft>
            </a:pPr>
            <a:r>
              <a:rPr sz="969" b="1" i="0">
                <a:solidFill>
                  <a:srgbClr val="182A3A"/>
                </a:solidFill>
                <a:latin typeface="Arial"/>
              </a:rPr>
              <a:t>Same forecast, same day — only the threshold changed.</a:t>
            </a:r>
          </a:p>
        </p:txBody>
      </p:sp>
      <p:cxnSp>
        <p:nvCxnSpPr>
          <p:cNvPr id="14" name="Connector 13"/>
          <p:cNvCxnSpPr/>
          <p:nvPr/>
        </p:nvCxnSpPr>
        <p:spPr>
          <a:xfrm>
            <a:off x="594360" y="6437376"/>
            <a:ext cx="11000232" cy="0"/>
          </a:xfrm>
          <a:prstGeom prst="line">
            <a:avLst/>
          </a:prstGeom>
          <a:ln w="9525">
            <a:solidFill>
              <a:srgbClr val="DDD6C8"/>
            </a:solidFill>
          </a:ln>
        </p:spPr>
      </p:cxnSp>
      <p:sp>
        <p:nvSpPr>
          <p:cNvPr id="15" name="TextBox 1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16" name="TextBox 1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07 / FINDING C</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When did the signal appear?</a:t>
            </a:r>
          </a:p>
        </p:txBody>
      </p:sp>
      <p:cxnSp>
        <p:nvCxnSpPr>
          <p:cNvPr id="5" name="Connector 4"/>
          <p:cNvCxnSpPr/>
          <p:nvPr/>
        </p:nvCxnSpPr>
        <p:spPr>
          <a:xfrm>
            <a:off x="594360" y="1307592"/>
            <a:ext cx="11000232" cy="0"/>
          </a:xfrm>
          <a:prstGeom prst="line">
            <a:avLst/>
          </a:prstGeom>
          <a:ln w="9525">
            <a:solidFill>
              <a:srgbClr val="DDD6C8"/>
            </a:solidFill>
          </a:ln>
        </p:spPr>
      </p:cxnSp>
      <p:pic>
        <p:nvPicPr>
          <p:cNvPr id="6" name="Picture 5" descr="Nyala daily rainfall plume for the 7 July 2025 forecast start, with the 2-year threshold and member exceedance counts."/>
          <p:cNvPicPr>
            <a:picLocks noChangeAspect="1"/>
          </p:cNvPicPr>
          <p:nvPr/>
        </p:nvPicPr>
        <p:blipFill>
          <a:blip r:embed="rId2"/>
          <a:stretch>
            <a:fillRect/>
          </a:stretch>
        </p:blipFill>
        <p:spPr>
          <a:xfrm>
            <a:off x="594360" y="1560171"/>
            <a:ext cx="6903720" cy="2457497"/>
          </a:xfrm>
          <a:prstGeom prst="rect">
            <a:avLst/>
          </a:prstGeom>
        </p:spPr>
      </p:pic>
      <p:sp>
        <p:nvSpPr>
          <p:cNvPr id="7" name="Rectangle 6"/>
          <p:cNvSpPr/>
          <p:nvPr/>
        </p:nvSpPr>
        <p:spPr>
          <a:xfrm>
            <a:off x="594360" y="1560171"/>
            <a:ext cx="6903720" cy="2457497"/>
          </a:xfrm>
          <a:prstGeom prst="rect">
            <a:avLst/>
          </a:prstGeom>
          <a:noFill/>
          <a:ln w="9525">
            <a:solidFill>
              <a:srgbClr val="DDD6C8"/>
            </a:solidFill>
          </a:ln>
          <a:effectLst/>
        </p:spPr>
        <p:txBody>
          <a:bodyPr rtlCol="0" anchor="ctr"/>
          <a:lstStyle/>
          <a:p>
            <a:pPr algn="ctr"/>
          </a:p>
        </p:txBody>
      </p:sp>
      <p:sp>
        <p:nvSpPr>
          <p:cNvPr id="8" name="TextBox 7"/>
          <p:cNvSpPr txBox="1"/>
          <p:nvPr/>
        </p:nvSpPr>
        <p:spPr>
          <a:xfrm>
            <a:off x="621792" y="4160520"/>
            <a:ext cx="6812280"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Nyala · 7 July start · red dashed line = 32.3 mm 2-year level · bars = members above.</a:t>
            </a:r>
          </a:p>
        </p:txBody>
      </p:sp>
      <p:sp>
        <p:nvSpPr>
          <p:cNvPr id="9" name="Rectangle 8"/>
          <p:cNvSpPr/>
          <p:nvPr/>
        </p:nvSpPr>
        <p:spPr>
          <a:xfrm>
            <a:off x="594360" y="4553712"/>
            <a:ext cx="50292" cy="347472"/>
          </a:xfrm>
          <a:prstGeom prst="rect">
            <a:avLst/>
          </a:prstGeom>
          <a:solidFill>
            <a:srgbClr val="D9901A"/>
          </a:solidFill>
          <a:ln>
            <a:noFill/>
          </a:ln>
          <a:effectLst/>
        </p:spPr>
        <p:txBody>
          <a:bodyPr rtlCol="0" anchor="ctr"/>
          <a:lstStyle/>
          <a:p>
            <a:pPr algn="ctr"/>
          </a:p>
        </p:txBody>
      </p:sp>
      <p:sp>
        <p:nvSpPr>
          <p:cNvPr id="10" name="TextBox 9"/>
          <p:cNvSpPr txBox="1"/>
          <p:nvPr/>
        </p:nvSpPr>
        <p:spPr>
          <a:xfrm>
            <a:off x="749808" y="4535424"/>
            <a:ext cx="6675120" cy="384048"/>
          </a:xfrm>
          <a:prstGeom prst="rect">
            <a:avLst/>
          </a:prstGeom>
          <a:noFill/>
        </p:spPr>
        <p:txBody>
          <a:bodyPr wrap="square" lIns="0" rIns="0" tIns="0" bIns="0" anchor="t">
            <a:spAutoFit/>
          </a:bodyPr>
          <a:lstStyle/>
          <a:p>
            <a:pPr algn="l">
              <a:lnSpc>
                <a:spcPct val="100000"/>
              </a:lnSpc>
              <a:spcBef>
                <a:spcPts val="0"/>
              </a:spcBef>
              <a:spcAft>
                <a:spcPts val="0"/>
              </a:spcAft>
            </a:pPr>
            <a:r>
              <a:rPr sz="1220" b="1" i="0">
                <a:solidFill>
                  <a:srgbClr val="0B1F33"/>
                </a:solidFill>
                <a:latin typeface="Arial"/>
              </a:rPr>
              <a:t>Early signal, but the strongest and most consistent was Nyala.</a:t>
            </a:r>
          </a:p>
        </p:txBody>
      </p:sp>
      <p:sp>
        <p:nvSpPr>
          <p:cNvPr id="11" name="TextBox 10"/>
          <p:cNvSpPr txBox="1"/>
          <p:nvPr/>
        </p:nvSpPr>
        <p:spPr>
          <a:xfrm>
            <a:off x="7662672" y="1444752"/>
            <a:ext cx="3474720" cy="219456"/>
          </a:xfrm>
          <a:prstGeom prst="rect">
            <a:avLst/>
          </a:prstGeom>
          <a:noFill/>
        </p:spPr>
        <p:txBody>
          <a:bodyPr wrap="square" lIns="0" rIns="0" tIns="0" bIns="0" anchor="t">
            <a:spAutoFit/>
          </a:bodyPr>
          <a:lstStyle/>
          <a:p>
            <a:pPr algn="l">
              <a:lnSpc>
                <a:spcPct val="100000"/>
              </a:lnSpc>
              <a:spcBef>
                <a:spcPts val="0"/>
              </a:spcBef>
              <a:spcAft>
                <a:spcPts val="0"/>
              </a:spcAft>
            </a:pPr>
            <a:r>
              <a:rPr sz="830" b="1" i="0">
                <a:solidFill>
                  <a:srgbClr val="A96500"/>
                </a:solidFill>
                <a:latin typeface="Arial"/>
              </a:rPr>
              <a:t>MOST CONSISTENT SIGNAL</a:t>
            </a:r>
          </a:p>
        </p:txBody>
      </p:sp>
      <p:sp>
        <p:nvSpPr>
          <p:cNvPr id="12" name="TextBox 11"/>
          <p:cNvSpPr txBox="1"/>
          <p:nvPr/>
        </p:nvSpPr>
        <p:spPr>
          <a:xfrm>
            <a:off x="7635240" y="1664208"/>
            <a:ext cx="3474720"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0B1F33"/>
                </a:solidFill>
                <a:latin typeface="Arial"/>
              </a:rPr>
              <a:t>20 / 21</a:t>
            </a:r>
          </a:p>
        </p:txBody>
      </p:sp>
      <p:sp>
        <p:nvSpPr>
          <p:cNvPr id="13" name="TextBox 12"/>
          <p:cNvSpPr txBox="1"/>
          <p:nvPr/>
        </p:nvSpPr>
        <p:spPr>
          <a:xfrm>
            <a:off x="7680960" y="2176272"/>
            <a:ext cx="3429000" cy="384048"/>
          </a:xfrm>
          <a:prstGeom prst="rect">
            <a:avLst/>
          </a:prstGeom>
          <a:noFill/>
        </p:spPr>
        <p:txBody>
          <a:bodyPr wrap="square" lIns="0" rIns="0" tIns="0" bIns="0" anchor="t">
            <a:spAutoFit/>
          </a:bodyPr>
          <a:lstStyle/>
          <a:p>
            <a:pPr algn="l">
              <a:lnSpc>
                <a:spcPct val="102000"/>
              </a:lnSpc>
              <a:spcBef>
                <a:spcPts val="0"/>
              </a:spcBef>
              <a:spcAft>
                <a:spcPts val="0"/>
              </a:spcAft>
            </a:pPr>
            <a:r>
              <a:rPr sz="919" b="0" i="0">
                <a:solidFill>
                  <a:srgbClr val="5B6B7C"/>
                </a:solidFill>
                <a:latin typeface="Arial"/>
              </a:rPr>
              <a:t>Nyala starts with ≥1 member above its 32.3 mm local level.</a:t>
            </a:r>
          </a:p>
        </p:txBody>
      </p:sp>
      <p:sp>
        <p:nvSpPr>
          <p:cNvPr id="14" name="TextBox 13"/>
          <p:cNvSpPr txBox="1"/>
          <p:nvPr/>
        </p:nvSpPr>
        <p:spPr>
          <a:xfrm>
            <a:off x="7662672" y="2670048"/>
            <a:ext cx="3703320" cy="2103120"/>
          </a:xfrm>
          <a:prstGeom prst="rect">
            <a:avLst/>
          </a:prstGeom>
          <a:noFill/>
        </p:spPr>
        <p:txBody>
          <a:bodyPr wrap="square" lIns="0" rIns="0" tIns="0" bIns="0" anchor="t">
            <a:spAutoFit/>
          </a:bodyPr>
          <a:lstStyle/>
          <a:p>
            <a:pPr algn="l" marL="182880" indent="-182880">
              <a:lnSpc>
                <a:spcPct val="100000"/>
              </a:lnSpc>
              <a:spcBef>
                <a:spcPts val="0"/>
              </a:spcBef>
              <a:spcAft>
                <a:spcPts val="400"/>
              </a:spcAft>
            </a:pPr>
            <a:r>
              <a:rPr sz="1019" b="1">
                <a:solidFill>
                  <a:srgbClr val="D9901A"/>
                </a:solidFill>
                <a:latin typeface="Arial"/>
              </a:rPr>
              <a:t>•  </a:t>
            </a:r>
            <a:r>
              <a:rPr sz="1019" b="1">
                <a:solidFill>
                  <a:srgbClr val="182A3A"/>
                </a:solidFill>
                <a:latin typeface="Arial"/>
              </a:rPr>
              <a:t>72 member-days, </a:t>
            </a:r>
            <a:r>
              <a:rPr sz="1019">
                <a:solidFill>
                  <a:srgbClr val="182A3A"/>
                </a:solidFill>
                <a:latin typeface="Arial"/>
              </a:rPr>
              <a:t>peak 4 members in one day.</a:t>
            </a:r>
          </a:p>
          <a:p>
            <a:pPr algn="l" marL="182880" indent="-182880">
              <a:lnSpc>
                <a:spcPct val="100000"/>
              </a:lnSpc>
              <a:spcBef>
                <a:spcPts val="0"/>
              </a:spcBef>
              <a:spcAft>
                <a:spcPts val="400"/>
              </a:spcAft>
            </a:pPr>
            <a:r>
              <a:rPr sz="1019" b="1">
                <a:solidFill>
                  <a:srgbClr val="D9901A"/>
                </a:solidFill>
                <a:latin typeface="Arial"/>
              </a:rPr>
              <a:t>•  </a:t>
            </a:r>
            <a:r>
              <a:rPr sz="1019" b="1">
                <a:solidFill>
                  <a:srgbClr val="182A3A"/>
                </a:solidFill>
                <a:latin typeface="Arial"/>
              </a:rPr>
              <a:t>Earliest valid date: </a:t>
            </a:r>
            <a:r>
              <a:rPr sz="1019">
                <a:solidFill>
                  <a:srgbClr val="182A3A"/>
                </a:solidFill>
                <a:latin typeface="Arial"/>
              </a:rPr>
              <a:t>Kassala, 4 July — from the 2 July start, day 2.</a:t>
            </a:r>
          </a:p>
          <a:p>
            <a:pPr algn="l" marL="182880" indent="-182880">
              <a:lnSpc>
                <a:spcPct val="100000"/>
              </a:lnSpc>
              <a:spcBef>
                <a:spcPts val="0"/>
              </a:spcBef>
              <a:spcAft>
                <a:spcPts val="400"/>
              </a:spcAft>
            </a:pPr>
            <a:r>
              <a:rPr sz="1019" b="1">
                <a:solidFill>
                  <a:srgbClr val="D9901A"/>
                </a:solidFill>
                <a:latin typeface="Arial"/>
              </a:rPr>
              <a:t>•  </a:t>
            </a:r>
            <a:r>
              <a:rPr sz="1019" b="1">
                <a:solidFill>
                  <a:srgbClr val="182A3A"/>
                </a:solidFill>
                <a:latin typeface="Arial"/>
              </a:rPr>
              <a:t>Most alarming start: </a:t>
            </a:r>
            <a:r>
              <a:rPr sz="1019">
                <a:solidFill>
                  <a:srgbClr val="182A3A"/>
                </a:solidFill>
                <a:latin typeface="Arial"/>
              </a:rPr>
              <a:t>Nyala 7 July — 10 member-days, peak 4 on 14 July.</a:t>
            </a:r>
          </a:p>
          <a:p>
            <a:pPr algn="l" marL="182880" indent="-182880">
              <a:lnSpc>
                <a:spcPct val="100000"/>
              </a:lnSpc>
              <a:spcBef>
                <a:spcPts val="0"/>
              </a:spcBef>
              <a:spcAft>
                <a:spcPts val="400"/>
              </a:spcAft>
            </a:pPr>
            <a:r>
              <a:rPr sz="1019" b="1">
                <a:solidFill>
                  <a:srgbClr val="D9901A"/>
                </a:solidFill>
                <a:latin typeface="Arial"/>
              </a:rPr>
              <a:t>•  </a:t>
            </a:r>
            <a:r>
              <a:rPr sz="1019" b="1">
                <a:solidFill>
                  <a:srgbClr val="182A3A"/>
                </a:solidFill>
                <a:latin typeface="Arial"/>
              </a:rPr>
              <a:t>Contrast: </a:t>
            </a:r>
            <a:r>
              <a:rPr sz="1019">
                <a:solidFill>
                  <a:srgbClr val="182A3A"/>
                </a:solidFill>
                <a:latin typeface="Arial"/>
              </a:rPr>
              <a:t>Khartoum 18/21 starts; Gedaref 3/21.</a:t>
            </a:r>
          </a:p>
        </p:txBody>
      </p:sp>
      <p:sp>
        <p:nvSpPr>
          <p:cNvPr id="15" name="Rounded Rectangle 14"/>
          <p:cNvSpPr/>
          <p:nvPr/>
        </p:nvSpPr>
        <p:spPr>
          <a:xfrm>
            <a:off x="594360" y="5074920"/>
            <a:ext cx="11000232" cy="713232"/>
          </a:xfrm>
          <a:prstGeom prst="roundRect">
            <a:avLst>
              <a:gd name="adj" fmla="val 3500"/>
            </a:avLst>
          </a:prstGeom>
          <a:solidFill>
            <a:srgbClr val="0B1F33"/>
          </a:solidFill>
          <a:ln>
            <a:noFill/>
          </a:ln>
          <a:effectLst/>
        </p:spPr>
        <p:txBody>
          <a:bodyPr rtlCol="0" anchor="ctr"/>
          <a:lstStyle/>
          <a:p>
            <a:pPr algn="ctr"/>
          </a:p>
        </p:txBody>
      </p:sp>
      <p:sp>
        <p:nvSpPr>
          <p:cNvPr id="16" name="TextBox 15"/>
          <p:cNvSpPr txBox="1"/>
          <p:nvPr/>
        </p:nvSpPr>
        <p:spPr>
          <a:xfrm>
            <a:off x="804672" y="5157216"/>
            <a:ext cx="2743200" cy="182880"/>
          </a:xfrm>
          <a:prstGeom prst="rect">
            <a:avLst/>
          </a:prstGeom>
          <a:noFill/>
        </p:spPr>
        <p:txBody>
          <a:bodyPr wrap="square" lIns="0" rIns="0" tIns="0" bIns="0" anchor="t">
            <a:spAutoFit/>
          </a:bodyPr>
          <a:lstStyle/>
          <a:p>
            <a:pPr algn="l">
              <a:lnSpc>
                <a:spcPct val="100000"/>
              </a:lnSpc>
              <a:spcBef>
                <a:spcPts val="0"/>
              </a:spcBef>
              <a:spcAft>
                <a:spcPts val="0"/>
              </a:spcAft>
            </a:pPr>
            <a:r>
              <a:rPr sz="780" b="1" i="0">
                <a:solidFill>
                  <a:srgbClr val="D9901A"/>
                </a:solidFill>
                <a:latin typeface="Arial"/>
              </a:rPr>
              <a:t>WHEN TO LOOK</a:t>
            </a:r>
          </a:p>
        </p:txBody>
      </p:sp>
      <p:sp>
        <p:nvSpPr>
          <p:cNvPr id="17" name="TextBox 16"/>
          <p:cNvSpPr txBox="1"/>
          <p:nvPr/>
        </p:nvSpPr>
        <p:spPr>
          <a:xfrm>
            <a:off x="804672" y="5385816"/>
            <a:ext cx="10424160" cy="237744"/>
          </a:xfrm>
          <a:prstGeom prst="rect">
            <a:avLst/>
          </a:prstGeom>
          <a:noFill/>
        </p:spPr>
        <p:txBody>
          <a:bodyPr wrap="square" lIns="0" rIns="0" tIns="0" bIns="0" anchor="t">
            <a:spAutoFit/>
          </a:bodyPr>
          <a:lstStyle/>
          <a:p>
            <a:pPr algn="l">
              <a:lnSpc>
                <a:spcPct val="100000"/>
              </a:lnSpc>
              <a:spcBef>
                <a:spcPts val="0"/>
              </a:spcBef>
              <a:spcAft>
                <a:spcPts val="0"/>
              </a:spcAft>
            </a:pPr>
            <a:r>
              <a:rPr sz="960" b="0" i="0">
                <a:solidFill>
                  <a:srgbClr val="FFFFFF"/>
                </a:solidFill>
                <a:latin typeface="Arial"/>
              </a:rPr>
              <a:t>4 Jul  earliest valid signal (Kassala)   ·   14 Jul  peak (Nyala)   ·   1–21 Jul  start window</a:t>
            </a:r>
          </a:p>
        </p:txBody>
      </p:sp>
      <p:sp>
        <p:nvSpPr>
          <p:cNvPr id="18" name="TextBox 17"/>
          <p:cNvSpPr txBox="1"/>
          <p:nvPr/>
        </p:nvSpPr>
        <p:spPr>
          <a:xfrm>
            <a:off x="7662672" y="4773168"/>
            <a:ext cx="3566160" cy="201168"/>
          </a:xfrm>
          <a:prstGeom prst="rect">
            <a:avLst/>
          </a:prstGeom>
          <a:noFill/>
        </p:spPr>
        <p:txBody>
          <a:bodyPr wrap="square" lIns="0" rIns="0" tIns="0" bIns="0" anchor="t">
            <a:spAutoFit/>
          </a:bodyPr>
          <a:lstStyle/>
          <a:p>
            <a:pPr algn="l">
              <a:lnSpc>
                <a:spcPct val="100000"/>
              </a:lnSpc>
              <a:spcBef>
                <a:spcPts val="0"/>
              </a:spcBef>
              <a:spcAft>
                <a:spcPts val="0"/>
              </a:spcAft>
            </a:pPr>
            <a:r>
              <a:rPr sz="819" b="0" i="1">
                <a:solidFill>
                  <a:srgbClr val="5B6B7C"/>
                </a:solidFill>
                <a:latin typeface="Arial"/>
              </a:rPr>
              <a:t>Member counts, not probabilities.</a:t>
            </a:r>
          </a:p>
        </p:txBody>
      </p:sp>
      <p:cxnSp>
        <p:nvCxnSpPr>
          <p:cNvPr id="19" name="Connector 18"/>
          <p:cNvCxnSpPr/>
          <p:nvPr/>
        </p:nvCxnSpPr>
        <p:spPr>
          <a:xfrm>
            <a:off x="594360" y="6437376"/>
            <a:ext cx="11000232" cy="0"/>
          </a:xfrm>
          <a:prstGeom prst="line">
            <a:avLst/>
          </a:prstGeom>
          <a:ln w="9525">
            <a:solidFill>
              <a:srgbClr val="DDD6C8"/>
            </a:solidFill>
          </a:ln>
        </p:spPr>
      </p:cxnSp>
      <p:sp>
        <p:nvSpPr>
          <p:cNvPr id="20" name="TextBox 19"/>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21" name="TextBox 20"/>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08 / FINDING D</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Where was the risk concentrated?</a:t>
            </a:r>
          </a:p>
        </p:txBody>
      </p:sp>
      <p:cxnSp>
        <p:nvCxnSpPr>
          <p:cNvPr id="5" name="Connector 4"/>
          <p:cNvCxnSpPr/>
          <p:nvPr/>
        </p:nvCxnSpPr>
        <p:spPr>
          <a:xfrm>
            <a:off x="594360" y="1307592"/>
            <a:ext cx="11000232" cy="0"/>
          </a:xfrm>
          <a:prstGeom prst="line">
            <a:avLst/>
          </a:prstGeom>
          <a:ln w="9525">
            <a:solidFill>
              <a:srgbClr val="DDD6C8"/>
            </a:solidFill>
          </a:ln>
        </p:spPr>
      </p:cxnSp>
      <p:pic>
        <p:nvPicPr>
          <p:cNvPr id="6" name="Picture 5" descr="Season frequency map of start-day cases with at least 20 percent probability; highest values are in the west near Nyala."/>
          <p:cNvPicPr>
            <a:picLocks noChangeAspect="1"/>
          </p:cNvPicPr>
          <p:nvPr/>
        </p:nvPicPr>
        <p:blipFill>
          <a:blip r:embed="rId2"/>
          <a:stretch>
            <a:fillRect/>
          </a:stretch>
        </p:blipFill>
        <p:spPr>
          <a:xfrm>
            <a:off x="613608" y="1417320"/>
            <a:ext cx="6865223" cy="3273552"/>
          </a:xfrm>
          <a:prstGeom prst="rect">
            <a:avLst/>
          </a:prstGeom>
        </p:spPr>
      </p:pic>
      <p:sp>
        <p:nvSpPr>
          <p:cNvPr id="7" name="Rectangle 6"/>
          <p:cNvSpPr/>
          <p:nvPr/>
        </p:nvSpPr>
        <p:spPr>
          <a:xfrm>
            <a:off x="613608" y="1417320"/>
            <a:ext cx="6865223" cy="3273552"/>
          </a:xfrm>
          <a:prstGeom prst="rect">
            <a:avLst/>
          </a:prstGeom>
          <a:noFill/>
          <a:ln w="9525">
            <a:solidFill>
              <a:srgbClr val="DDD6C8"/>
            </a:solidFill>
          </a:ln>
          <a:effectLst/>
        </p:spPr>
        <p:txBody>
          <a:bodyPr rtlCol="0" anchor="ctr"/>
          <a:lstStyle/>
          <a:p>
            <a:pPr algn="ctr"/>
          </a:p>
        </p:txBody>
      </p:sp>
      <p:pic>
        <p:nvPicPr>
          <p:cNvPr id="8" name="Picture 7" descr="Probability map for 19 August 2025 day 5; the largest probability is about 39 percent near 12.75 north, 24.25 east."/>
          <p:cNvPicPr>
            <a:picLocks noChangeAspect="1"/>
          </p:cNvPicPr>
          <p:nvPr/>
        </p:nvPicPr>
        <p:blipFill>
          <a:blip r:embed="rId3"/>
          <a:stretch>
            <a:fillRect/>
          </a:stretch>
        </p:blipFill>
        <p:spPr>
          <a:xfrm>
            <a:off x="7726679" y="1466806"/>
            <a:ext cx="3822191" cy="3174578"/>
          </a:xfrm>
          <a:prstGeom prst="rect">
            <a:avLst/>
          </a:prstGeom>
        </p:spPr>
      </p:pic>
      <p:sp>
        <p:nvSpPr>
          <p:cNvPr id="9" name="Rectangle 8"/>
          <p:cNvSpPr/>
          <p:nvPr/>
        </p:nvSpPr>
        <p:spPr>
          <a:xfrm>
            <a:off x="7726679" y="1466806"/>
            <a:ext cx="3822191" cy="3174578"/>
          </a:xfrm>
          <a:prstGeom prst="rect">
            <a:avLst/>
          </a:prstGeom>
          <a:noFill/>
          <a:ln w="9525">
            <a:solidFill>
              <a:srgbClr val="DDD6C8"/>
            </a:solidFill>
          </a:ln>
          <a:effectLst/>
        </p:spPr>
        <p:txBody>
          <a:bodyPr rtlCol="0" anchor="ctr"/>
          <a:lstStyle/>
          <a:p>
            <a:pPr algn="ctr"/>
          </a:p>
        </p:txBody>
      </p:sp>
      <p:sp>
        <p:nvSpPr>
          <p:cNvPr id="10" name="TextBox 9"/>
          <p:cNvSpPr txBox="1"/>
          <p:nvPr/>
        </p:nvSpPr>
        <p:spPr>
          <a:xfrm>
            <a:off x="621792" y="4727448"/>
            <a:ext cx="6812280"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20 cases = 4 starts (3 Jun, 11 Jul, 1 Aug, 19 Aug) × 5 days.</a:t>
            </a:r>
          </a:p>
          <a:p>
            <a:pPr algn="l">
              <a:lnSpc>
                <a:spcPct val="100000"/>
              </a:lnSpc>
              <a:spcBef>
                <a:spcPts val="0"/>
              </a:spcBef>
              <a:spcAft>
                <a:spcPts val="0"/>
              </a:spcAft>
            </a:pPr>
            <a:r>
              <a:rPr sz="850" b="0" i="0">
                <a:solidFill>
                  <a:srgbClr val="5B6B7C"/>
                </a:solidFill>
                <a:latin typeface="Arial"/>
              </a:rPr>
              <a:t>Colour: number of cases with probability ≥20%; maximum 1.</a:t>
            </a:r>
          </a:p>
        </p:txBody>
      </p:sp>
      <p:sp>
        <p:nvSpPr>
          <p:cNvPr id="11" name="TextBox 10"/>
          <p:cNvSpPr txBox="1"/>
          <p:nvPr/>
        </p:nvSpPr>
        <p:spPr>
          <a:xfrm>
            <a:off x="7754112" y="4727448"/>
            <a:ext cx="3767328" cy="347472"/>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5B6B7C"/>
                </a:solidFill>
                <a:latin typeface="Arial"/>
              </a:rPr>
              <a:t>19 Aug 2025 · day 5 (24 Aug) · black contour = 20%.</a:t>
            </a:r>
          </a:p>
        </p:txBody>
      </p:sp>
      <p:sp>
        <p:nvSpPr>
          <p:cNvPr id="12" name="Rounded Rectangle 11"/>
          <p:cNvSpPr/>
          <p:nvPr/>
        </p:nvSpPr>
        <p:spPr>
          <a:xfrm>
            <a:off x="594360" y="5230368"/>
            <a:ext cx="3520440" cy="96012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3" name="TextBox 12"/>
          <p:cNvSpPr txBox="1"/>
          <p:nvPr/>
        </p:nvSpPr>
        <p:spPr>
          <a:xfrm>
            <a:off x="758952" y="5303520"/>
            <a:ext cx="109728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A96500"/>
                </a:solidFill>
                <a:latin typeface="Arial"/>
              </a:rPr>
              <a:t>39.2%</a:t>
            </a:r>
          </a:p>
        </p:txBody>
      </p:sp>
      <p:sp>
        <p:nvSpPr>
          <p:cNvPr id="14" name="TextBox 13"/>
          <p:cNvSpPr txBox="1"/>
          <p:nvPr/>
        </p:nvSpPr>
        <p:spPr>
          <a:xfrm>
            <a:off x="1837944" y="5321808"/>
            <a:ext cx="2084831" cy="201168"/>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182A3A"/>
                </a:solidFill>
                <a:latin typeface="Arial"/>
              </a:rPr>
              <a:t>Peak probability</a:t>
            </a:r>
          </a:p>
        </p:txBody>
      </p:sp>
      <p:sp>
        <p:nvSpPr>
          <p:cNvPr id="15" name="TextBox 14"/>
          <p:cNvSpPr txBox="1"/>
          <p:nvPr/>
        </p:nvSpPr>
        <p:spPr>
          <a:xfrm>
            <a:off x="1837944" y="5541264"/>
            <a:ext cx="2084831" cy="475488"/>
          </a:xfrm>
          <a:prstGeom prst="rect">
            <a:avLst/>
          </a:prstGeom>
          <a:noFill/>
        </p:spPr>
        <p:txBody>
          <a:bodyPr wrap="square" lIns="0" rIns="0" tIns="0" bIns="0" anchor="t">
            <a:spAutoFit/>
          </a:bodyPr>
          <a:lstStyle/>
          <a:p>
            <a:pPr algn="l">
              <a:lnSpc>
                <a:spcPct val="98000"/>
              </a:lnSpc>
              <a:spcBef>
                <a:spcPts val="0"/>
              </a:spcBef>
              <a:spcAft>
                <a:spcPts val="0"/>
              </a:spcAft>
            </a:pPr>
            <a:r>
              <a:rPr sz="770" b="0" i="0">
                <a:solidFill>
                  <a:srgbClr val="5B6B7C"/>
                </a:solidFill>
                <a:latin typeface="Arial"/>
              </a:rPr>
              <a:t>12.75°N, 24.25°E</a:t>
            </a:r>
          </a:p>
          <a:p>
            <a:pPr algn="l">
              <a:lnSpc>
                <a:spcPct val="98000"/>
              </a:lnSpc>
              <a:spcBef>
                <a:spcPts val="0"/>
              </a:spcBef>
              <a:spcAft>
                <a:spcPts val="0"/>
              </a:spcAft>
            </a:pPr>
            <a:r>
              <a:rPr sz="770" b="0" i="0">
                <a:solidFill>
                  <a:srgbClr val="5B6B7C"/>
                </a:solidFill>
                <a:latin typeface="Arial"/>
              </a:rPr>
              <a:t>19 Aug · day 5</a:t>
            </a:r>
          </a:p>
        </p:txBody>
      </p:sp>
      <p:sp>
        <p:nvSpPr>
          <p:cNvPr id="16" name="Rounded Rectangle 15"/>
          <p:cNvSpPr/>
          <p:nvPr/>
        </p:nvSpPr>
        <p:spPr>
          <a:xfrm>
            <a:off x="4306824" y="5230368"/>
            <a:ext cx="3520440" cy="96012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7" name="TextBox 16"/>
          <p:cNvSpPr txBox="1"/>
          <p:nvPr/>
        </p:nvSpPr>
        <p:spPr>
          <a:xfrm>
            <a:off x="4471416" y="5303520"/>
            <a:ext cx="109728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B1F33"/>
                </a:solidFill>
                <a:latin typeface="Arial"/>
              </a:rPr>
              <a:t>18</a:t>
            </a:r>
          </a:p>
        </p:txBody>
      </p:sp>
      <p:sp>
        <p:nvSpPr>
          <p:cNvPr id="18" name="TextBox 17"/>
          <p:cNvSpPr txBox="1"/>
          <p:nvPr/>
        </p:nvSpPr>
        <p:spPr>
          <a:xfrm>
            <a:off x="5550408" y="5321808"/>
            <a:ext cx="2084831" cy="201168"/>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182A3A"/>
                </a:solidFill>
                <a:latin typeface="Arial"/>
              </a:rPr>
              <a:t>Grid cells ≥20%</a:t>
            </a:r>
          </a:p>
        </p:txBody>
      </p:sp>
      <p:sp>
        <p:nvSpPr>
          <p:cNvPr id="19" name="TextBox 18"/>
          <p:cNvSpPr txBox="1"/>
          <p:nvPr/>
        </p:nvSpPr>
        <p:spPr>
          <a:xfrm>
            <a:off x="5550408" y="5541264"/>
            <a:ext cx="2084831" cy="475488"/>
          </a:xfrm>
          <a:prstGeom prst="rect">
            <a:avLst/>
          </a:prstGeom>
          <a:noFill/>
        </p:spPr>
        <p:txBody>
          <a:bodyPr wrap="square" lIns="0" rIns="0" tIns="0" bIns="0" anchor="t">
            <a:spAutoFit/>
          </a:bodyPr>
          <a:lstStyle/>
          <a:p>
            <a:pPr algn="l">
              <a:lnSpc>
                <a:spcPct val="98000"/>
              </a:lnSpc>
              <a:spcBef>
                <a:spcPts val="0"/>
              </a:spcBef>
              <a:spcAft>
                <a:spcPts val="0"/>
              </a:spcAft>
            </a:pPr>
            <a:r>
              <a:rPr sz="770" b="0" i="0">
                <a:solidFill>
                  <a:srgbClr val="5B6B7C"/>
                </a:solidFill>
                <a:latin typeface="Arial"/>
              </a:rPr>
              <a:t>at least once</a:t>
            </a:r>
          </a:p>
          <a:p>
            <a:pPr algn="l">
              <a:lnSpc>
                <a:spcPct val="98000"/>
              </a:lnSpc>
              <a:spcBef>
                <a:spcPts val="0"/>
              </a:spcBef>
              <a:spcAft>
                <a:spcPts val="0"/>
              </a:spcAft>
            </a:pPr>
            <a:r>
              <a:rPr sz="770" b="0" i="0">
                <a:solidFill>
                  <a:srgbClr val="5B6B7C"/>
                </a:solidFill>
                <a:latin typeface="Arial"/>
              </a:rPr>
              <a:t>max frequency 1 of 20</a:t>
            </a:r>
          </a:p>
        </p:txBody>
      </p:sp>
      <p:sp>
        <p:nvSpPr>
          <p:cNvPr id="20" name="Rounded Rectangle 19"/>
          <p:cNvSpPr/>
          <p:nvPr/>
        </p:nvSpPr>
        <p:spPr>
          <a:xfrm>
            <a:off x="8019288" y="5230368"/>
            <a:ext cx="3520440" cy="96012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21" name="TextBox 20"/>
          <p:cNvSpPr txBox="1"/>
          <p:nvPr/>
        </p:nvSpPr>
        <p:spPr>
          <a:xfrm>
            <a:off x="8183879" y="5303520"/>
            <a:ext cx="109728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B1F33"/>
                </a:solidFill>
                <a:latin typeface="Arial"/>
              </a:rPr>
              <a:t>5 / 20</a:t>
            </a:r>
          </a:p>
        </p:txBody>
      </p:sp>
      <p:sp>
        <p:nvSpPr>
          <p:cNvPr id="22" name="TextBox 21"/>
          <p:cNvSpPr txBox="1"/>
          <p:nvPr/>
        </p:nvSpPr>
        <p:spPr>
          <a:xfrm>
            <a:off x="9262872" y="5321808"/>
            <a:ext cx="2084831" cy="201168"/>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182A3A"/>
                </a:solidFill>
                <a:latin typeface="Arial"/>
              </a:rPr>
              <a:t>At a 10% threshold</a:t>
            </a:r>
          </a:p>
        </p:txBody>
      </p:sp>
      <p:sp>
        <p:nvSpPr>
          <p:cNvPr id="23" name="TextBox 22"/>
          <p:cNvSpPr txBox="1"/>
          <p:nvPr/>
        </p:nvSpPr>
        <p:spPr>
          <a:xfrm>
            <a:off x="9262872" y="5541264"/>
            <a:ext cx="2084831" cy="475488"/>
          </a:xfrm>
          <a:prstGeom prst="rect">
            <a:avLst/>
          </a:prstGeom>
          <a:noFill/>
        </p:spPr>
        <p:txBody>
          <a:bodyPr wrap="square" lIns="0" rIns="0" tIns="0" bIns="0" anchor="t">
            <a:spAutoFit/>
          </a:bodyPr>
          <a:lstStyle/>
          <a:p>
            <a:pPr algn="l">
              <a:lnSpc>
                <a:spcPct val="98000"/>
              </a:lnSpc>
              <a:spcBef>
                <a:spcPts val="0"/>
              </a:spcBef>
              <a:spcAft>
                <a:spcPts val="0"/>
              </a:spcAft>
            </a:pPr>
            <a:r>
              <a:rPr sz="770" b="0" i="0">
                <a:solidFill>
                  <a:srgbClr val="5B6B7C"/>
                </a:solidFill>
                <a:latin typeface="Arial"/>
              </a:rPr>
              <a:t>max frequency</a:t>
            </a:r>
          </a:p>
          <a:p>
            <a:pPr algn="l">
              <a:lnSpc>
                <a:spcPct val="98000"/>
              </a:lnSpc>
              <a:spcBef>
                <a:spcPts val="0"/>
              </a:spcBef>
              <a:spcAft>
                <a:spcPts val="0"/>
              </a:spcAft>
            </a:pPr>
            <a:r>
              <a:rPr sz="770" b="0" i="0">
                <a:solidFill>
                  <a:srgbClr val="5B6B7C"/>
                </a:solidFill>
                <a:latin typeface="Arial"/>
              </a:rPr>
              <a:t>same western focus</a:t>
            </a:r>
          </a:p>
        </p:txBody>
      </p:sp>
      <p:cxnSp>
        <p:nvCxnSpPr>
          <p:cNvPr id="24" name="Connector 23"/>
          <p:cNvCxnSpPr/>
          <p:nvPr/>
        </p:nvCxnSpPr>
        <p:spPr>
          <a:xfrm>
            <a:off x="594360" y="6437376"/>
            <a:ext cx="11000232" cy="0"/>
          </a:xfrm>
          <a:prstGeom prst="line">
            <a:avLst/>
          </a:prstGeom>
          <a:ln w="9525">
            <a:solidFill>
              <a:srgbClr val="DDD6C8"/>
            </a:solidFill>
          </a:ln>
        </p:spPr>
      </p:cxnSp>
      <p:sp>
        <p:nvSpPr>
          <p:cNvPr id="25" name="TextBox 2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26" name="TextBox 2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09 / LIMITS</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What this analysis cannot tell us</a:t>
            </a:r>
          </a:p>
        </p:txBody>
      </p:sp>
      <p:cxnSp>
        <p:nvCxnSpPr>
          <p:cNvPr id="5" name="Connector 4"/>
          <p:cNvCxnSpPr/>
          <p:nvPr/>
        </p:nvCxnSpPr>
        <p:spPr>
          <a:xfrm>
            <a:off x="594360" y="1307592"/>
            <a:ext cx="11000232" cy="0"/>
          </a:xfrm>
          <a:prstGeom prst="line">
            <a:avLst/>
          </a:prstGeom>
          <a:ln w="9525">
            <a:solidFill>
              <a:srgbClr val="DDD6C8"/>
            </a:solidFill>
          </a:ln>
        </p:spPr>
      </p:cxnSp>
      <p:sp>
        <p:nvSpPr>
          <p:cNvPr id="6" name="Rounded Rectangle 5"/>
          <p:cNvSpPr/>
          <p:nvPr/>
        </p:nvSpPr>
        <p:spPr>
          <a:xfrm>
            <a:off x="594360" y="141732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7" name="Rectangle 6"/>
          <p:cNvSpPr/>
          <p:nvPr/>
        </p:nvSpPr>
        <p:spPr>
          <a:xfrm>
            <a:off x="594360" y="1417320"/>
            <a:ext cx="68580" cy="1965960"/>
          </a:xfrm>
          <a:prstGeom prst="rect">
            <a:avLst/>
          </a:prstGeom>
          <a:solidFill>
            <a:srgbClr val="D9901A"/>
          </a:solidFill>
          <a:ln>
            <a:noFill/>
          </a:ln>
          <a:effectLst/>
        </p:spPr>
        <p:txBody>
          <a:bodyPr rtlCol="0" anchor="ctr"/>
          <a:lstStyle/>
          <a:p>
            <a:pPr algn="ctr"/>
          </a:p>
        </p:txBody>
      </p:sp>
      <p:sp>
        <p:nvSpPr>
          <p:cNvPr id="8" name="TextBox 7"/>
          <p:cNvSpPr txBox="1"/>
          <p:nvPr/>
        </p:nvSpPr>
        <p:spPr>
          <a:xfrm>
            <a:off x="795528" y="158191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D9901A"/>
                </a:solidFill>
                <a:latin typeface="Arial"/>
              </a:rPr>
              <a:t>01</a:t>
            </a:r>
          </a:p>
        </p:txBody>
      </p:sp>
      <p:sp>
        <p:nvSpPr>
          <p:cNvPr id="9" name="TextBox 8"/>
          <p:cNvSpPr txBox="1"/>
          <p:nvPr/>
        </p:nvSpPr>
        <p:spPr>
          <a:xfrm>
            <a:off x="1143000" y="156362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No 2025 verification</a:t>
            </a:r>
          </a:p>
        </p:txBody>
      </p:sp>
      <p:sp>
        <p:nvSpPr>
          <p:cNvPr id="10" name="TextBox 9"/>
          <p:cNvSpPr txBox="1"/>
          <p:nvPr/>
        </p:nvSpPr>
        <p:spPr>
          <a:xfrm>
            <a:off x="795528" y="211226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Observed 2025 rainfall is not in these stores. We describe forecast signals, not confirmed events.</a:t>
            </a:r>
          </a:p>
        </p:txBody>
      </p:sp>
      <p:cxnSp>
        <p:nvCxnSpPr>
          <p:cNvPr id="11" name="Connector 10"/>
          <p:cNvCxnSpPr/>
          <p:nvPr/>
        </p:nvCxnSpPr>
        <p:spPr>
          <a:xfrm>
            <a:off x="795528" y="2788920"/>
            <a:ext cx="3054096" cy="0"/>
          </a:xfrm>
          <a:prstGeom prst="line">
            <a:avLst/>
          </a:prstGeom>
          <a:ln w="6350">
            <a:solidFill>
              <a:srgbClr val="EEE9DE"/>
            </a:solidFill>
          </a:ln>
        </p:spPr>
      </p:cxnSp>
      <p:sp>
        <p:nvSpPr>
          <p:cNvPr id="12" name="TextBox 11"/>
          <p:cNvSpPr txBox="1"/>
          <p:nvPr/>
        </p:nvSpPr>
        <p:spPr>
          <a:xfrm>
            <a:off x="795528" y="289864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D9901A"/>
                </a:solidFill>
                <a:latin typeface="Arial"/>
              </a:rPr>
              <a:t>→  Signals, not confirmed events</a:t>
            </a:r>
          </a:p>
        </p:txBody>
      </p:sp>
      <p:sp>
        <p:nvSpPr>
          <p:cNvPr id="13" name="Rounded Rectangle 12"/>
          <p:cNvSpPr/>
          <p:nvPr/>
        </p:nvSpPr>
        <p:spPr>
          <a:xfrm>
            <a:off x="4306824" y="141732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4" name="Rectangle 13"/>
          <p:cNvSpPr/>
          <p:nvPr/>
        </p:nvSpPr>
        <p:spPr>
          <a:xfrm>
            <a:off x="4306824" y="1417320"/>
            <a:ext cx="68580" cy="1965960"/>
          </a:xfrm>
          <a:prstGeom prst="rect">
            <a:avLst/>
          </a:prstGeom>
          <a:solidFill>
            <a:srgbClr val="0F766E"/>
          </a:solidFill>
          <a:ln>
            <a:noFill/>
          </a:ln>
          <a:effectLst/>
        </p:spPr>
        <p:txBody>
          <a:bodyPr rtlCol="0" anchor="ctr"/>
          <a:lstStyle/>
          <a:p>
            <a:pPr algn="ctr"/>
          </a:p>
        </p:txBody>
      </p:sp>
      <p:sp>
        <p:nvSpPr>
          <p:cNvPr id="15" name="TextBox 14"/>
          <p:cNvSpPr txBox="1"/>
          <p:nvPr/>
        </p:nvSpPr>
        <p:spPr>
          <a:xfrm>
            <a:off x="4507992" y="158191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0F766E"/>
                </a:solidFill>
                <a:latin typeface="Arial"/>
              </a:rPr>
              <a:t>02</a:t>
            </a:r>
          </a:p>
        </p:txBody>
      </p:sp>
      <p:sp>
        <p:nvSpPr>
          <p:cNvPr id="16" name="TextBox 15"/>
          <p:cNvSpPr txBox="1"/>
          <p:nvPr/>
        </p:nvSpPr>
        <p:spPr>
          <a:xfrm>
            <a:off x="4855464" y="156362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Short record, extrapolation</a:t>
            </a:r>
          </a:p>
        </p:txBody>
      </p:sp>
      <p:sp>
        <p:nvSpPr>
          <p:cNvPr id="17" name="TextBox 16"/>
          <p:cNvSpPr txBox="1"/>
          <p:nvPr/>
        </p:nvSpPr>
        <p:spPr>
          <a:xfrm>
            <a:off x="4507992" y="211226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27 annual maxima. 50-year levels are model estimates; removing the largest year moves them 3–9%.</a:t>
            </a:r>
          </a:p>
        </p:txBody>
      </p:sp>
      <p:cxnSp>
        <p:nvCxnSpPr>
          <p:cNvPr id="18" name="Connector 17"/>
          <p:cNvCxnSpPr/>
          <p:nvPr/>
        </p:nvCxnSpPr>
        <p:spPr>
          <a:xfrm>
            <a:off x="4507992" y="2788920"/>
            <a:ext cx="3054096" cy="0"/>
          </a:xfrm>
          <a:prstGeom prst="line">
            <a:avLst/>
          </a:prstGeom>
          <a:ln w="6350">
            <a:solidFill>
              <a:srgbClr val="EEE9DE"/>
            </a:solidFill>
          </a:ln>
        </p:spPr>
      </p:cxnSp>
      <p:sp>
        <p:nvSpPr>
          <p:cNvPr id="19" name="TextBox 18"/>
          <p:cNvSpPr txBox="1"/>
          <p:nvPr/>
        </p:nvSpPr>
        <p:spPr>
          <a:xfrm>
            <a:off x="4507992" y="289864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0F766E"/>
                </a:solidFill>
                <a:latin typeface="Arial"/>
              </a:rPr>
              <a:t>→  Treat 50-year values as indicative</a:t>
            </a:r>
          </a:p>
        </p:txBody>
      </p:sp>
      <p:sp>
        <p:nvSpPr>
          <p:cNvPr id="20" name="Rounded Rectangle 19"/>
          <p:cNvSpPr/>
          <p:nvPr/>
        </p:nvSpPr>
        <p:spPr>
          <a:xfrm>
            <a:off x="8019288" y="141732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21" name="Rectangle 20"/>
          <p:cNvSpPr/>
          <p:nvPr/>
        </p:nvSpPr>
        <p:spPr>
          <a:xfrm>
            <a:off x="8019288" y="1417320"/>
            <a:ext cx="68580" cy="1965960"/>
          </a:xfrm>
          <a:prstGeom prst="rect">
            <a:avLst/>
          </a:prstGeom>
          <a:solidFill>
            <a:srgbClr val="0B1F33"/>
          </a:solidFill>
          <a:ln>
            <a:noFill/>
          </a:ln>
          <a:effectLst/>
        </p:spPr>
        <p:txBody>
          <a:bodyPr rtlCol="0" anchor="ctr"/>
          <a:lstStyle/>
          <a:p>
            <a:pPr algn="ctr"/>
          </a:p>
        </p:txBody>
      </p:sp>
      <p:sp>
        <p:nvSpPr>
          <p:cNvPr id="22" name="TextBox 21"/>
          <p:cNvSpPr txBox="1"/>
          <p:nvPr/>
        </p:nvSpPr>
        <p:spPr>
          <a:xfrm>
            <a:off x="8220456" y="158191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0B1F33"/>
                </a:solidFill>
                <a:latin typeface="Arial"/>
              </a:rPr>
              <a:t>03</a:t>
            </a:r>
          </a:p>
        </p:txBody>
      </p:sp>
      <p:sp>
        <p:nvSpPr>
          <p:cNvPr id="23" name="TextBox 22"/>
          <p:cNvSpPr txBox="1"/>
          <p:nvPr/>
        </p:nvSpPr>
        <p:spPr>
          <a:xfrm>
            <a:off x="8567928" y="156362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Scale mismatch</a:t>
            </a:r>
          </a:p>
        </p:txBody>
      </p:sp>
      <p:sp>
        <p:nvSpPr>
          <p:cNvPr id="24" name="TextBox 23"/>
          <p:cNvSpPr txBox="1"/>
          <p:nvPr/>
        </p:nvSpPr>
        <p:spPr>
          <a:xfrm>
            <a:off x="8220456" y="211226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Forecast ~28 km vs CMORPH ~8 km. Nearest pixels do not represent the same area; satellite estimates differ from gauges.</a:t>
            </a:r>
          </a:p>
        </p:txBody>
      </p:sp>
      <p:cxnSp>
        <p:nvCxnSpPr>
          <p:cNvPr id="25" name="Connector 24"/>
          <p:cNvCxnSpPr/>
          <p:nvPr/>
        </p:nvCxnSpPr>
        <p:spPr>
          <a:xfrm>
            <a:off x="8220456" y="2788920"/>
            <a:ext cx="3054096" cy="0"/>
          </a:xfrm>
          <a:prstGeom prst="line">
            <a:avLst/>
          </a:prstGeom>
          <a:ln w="6350">
            <a:solidFill>
              <a:srgbClr val="EEE9DE"/>
            </a:solidFill>
          </a:ln>
        </p:spPr>
      </p:cxnSp>
      <p:sp>
        <p:nvSpPr>
          <p:cNvPr id="26" name="TextBox 25"/>
          <p:cNvSpPr txBox="1"/>
          <p:nvPr/>
        </p:nvSpPr>
        <p:spPr>
          <a:xfrm>
            <a:off x="8220456" y="289864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0B1F33"/>
                </a:solidFill>
                <a:latin typeface="Arial"/>
              </a:rPr>
              <a:t>→  Compare at compatible scales</a:t>
            </a:r>
          </a:p>
        </p:txBody>
      </p:sp>
      <p:sp>
        <p:nvSpPr>
          <p:cNvPr id="27" name="Rounded Rectangle 26"/>
          <p:cNvSpPr/>
          <p:nvPr/>
        </p:nvSpPr>
        <p:spPr>
          <a:xfrm>
            <a:off x="594360" y="356616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28" name="Rectangle 27"/>
          <p:cNvSpPr/>
          <p:nvPr/>
        </p:nvSpPr>
        <p:spPr>
          <a:xfrm>
            <a:off x="594360" y="3566160"/>
            <a:ext cx="68580" cy="1965960"/>
          </a:xfrm>
          <a:prstGeom prst="rect">
            <a:avLst/>
          </a:prstGeom>
          <a:solidFill>
            <a:srgbClr val="C2410C"/>
          </a:solidFill>
          <a:ln>
            <a:noFill/>
          </a:ln>
          <a:effectLst/>
        </p:spPr>
        <p:txBody>
          <a:bodyPr rtlCol="0" anchor="ctr"/>
          <a:lstStyle/>
          <a:p>
            <a:pPr algn="ctr"/>
          </a:p>
        </p:txBody>
      </p:sp>
      <p:sp>
        <p:nvSpPr>
          <p:cNvPr id="29" name="TextBox 28"/>
          <p:cNvSpPr txBox="1"/>
          <p:nvPr/>
        </p:nvSpPr>
        <p:spPr>
          <a:xfrm>
            <a:off x="795528" y="373075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C2410C"/>
                </a:solidFill>
                <a:latin typeface="Arial"/>
              </a:rPr>
              <a:t>04</a:t>
            </a:r>
          </a:p>
        </p:txBody>
      </p:sp>
      <p:sp>
        <p:nvSpPr>
          <p:cNvPr id="30" name="TextBox 29"/>
          <p:cNvSpPr txBox="1"/>
          <p:nvPr/>
        </p:nvSpPr>
        <p:spPr>
          <a:xfrm>
            <a:off x="1143000" y="371246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A threshold is not an impact</a:t>
            </a:r>
          </a:p>
        </p:txBody>
      </p:sp>
      <p:sp>
        <p:nvSpPr>
          <p:cNvPr id="31" name="TextBox 30"/>
          <p:cNvSpPr txBox="1"/>
          <p:nvPr/>
        </p:nvSpPr>
        <p:spPr>
          <a:xfrm>
            <a:off x="795528" y="426110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The 2-year annual-max level is not a crop, flood or infrastructure damage threshold. Only 24-hour totals are used.</a:t>
            </a:r>
          </a:p>
        </p:txBody>
      </p:sp>
      <p:cxnSp>
        <p:nvCxnSpPr>
          <p:cNvPr id="32" name="Connector 31"/>
          <p:cNvCxnSpPr/>
          <p:nvPr/>
        </p:nvCxnSpPr>
        <p:spPr>
          <a:xfrm>
            <a:off x="795528" y="4937760"/>
            <a:ext cx="3054096" cy="0"/>
          </a:xfrm>
          <a:prstGeom prst="line">
            <a:avLst/>
          </a:prstGeom>
          <a:ln w="6350">
            <a:solidFill>
              <a:srgbClr val="EEE9DE"/>
            </a:solidFill>
          </a:ln>
        </p:spPr>
      </p:cxnSp>
      <p:sp>
        <p:nvSpPr>
          <p:cNvPr id="33" name="TextBox 32"/>
          <p:cNvSpPr txBox="1"/>
          <p:nvPr/>
        </p:nvSpPr>
        <p:spPr>
          <a:xfrm>
            <a:off x="795528" y="504748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C2410C"/>
                </a:solidFill>
                <a:latin typeface="Arial"/>
              </a:rPr>
              <a:t>→  Pair with impact thresholds</a:t>
            </a:r>
          </a:p>
        </p:txBody>
      </p:sp>
      <p:sp>
        <p:nvSpPr>
          <p:cNvPr id="34" name="Rounded Rectangle 33"/>
          <p:cNvSpPr/>
          <p:nvPr/>
        </p:nvSpPr>
        <p:spPr>
          <a:xfrm>
            <a:off x="4306824" y="356616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35" name="Rectangle 34"/>
          <p:cNvSpPr/>
          <p:nvPr/>
        </p:nvSpPr>
        <p:spPr>
          <a:xfrm>
            <a:off x="4306824" y="3566160"/>
            <a:ext cx="68580" cy="1965960"/>
          </a:xfrm>
          <a:prstGeom prst="rect">
            <a:avLst/>
          </a:prstGeom>
          <a:solidFill>
            <a:srgbClr val="0F766E"/>
          </a:solidFill>
          <a:ln>
            <a:noFill/>
          </a:ln>
          <a:effectLst/>
        </p:spPr>
        <p:txBody>
          <a:bodyPr rtlCol="0" anchor="ctr"/>
          <a:lstStyle/>
          <a:p>
            <a:pPr algn="ctr"/>
          </a:p>
        </p:txBody>
      </p:sp>
      <p:sp>
        <p:nvSpPr>
          <p:cNvPr id="36" name="TextBox 35"/>
          <p:cNvSpPr txBox="1"/>
          <p:nvPr/>
        </p:nvSpPr>
        <p:spPr>
          <a:xfrm>
            <a:off x="4507992" y="373075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0F766E"/>
                </a:solidFill>
                <a:latin typeface="Arial"/>
              </a:rPr>
              <a:t>05</a:t>
            </a:r>
          </a:p>
        </p:txBody>
      </p:sp>
      <p:sp>
        <p:nvSpPr>
          <p:cNvPr id="37" name="TextBox 36"/>
          <p:cNvSpPr txBox="1"/>
          <p:nvPr/>
        </p:nvSpPr>
        <p:spPr>
          <a:xfrm>
            <a:off x="4855464" y="371246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Sampling limits</a:t>
            </a:r>
          </a:p>
        </p:txBody>
      </p:sp>
      <p:sp>
        <p:nvSpPr>
          <p:cNvPr id="38" name="TextBox 37"/>
          <p:cNvSpPr txBox="1"/>
          <p:nvPr/>
        </p:nvSpPr>
        <p:spPr>
          <a:xfrm>
            <a:off x="4507992" y="426110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Part C covers July only. Part D uses four starts × five days; days within one start are correlated.</a:t>
            </a:r>
          </a:p>
        </p:txBody>
      </p:sp>
      <p:cxnSp>
        <p:nvCxnSpPr>
          <p:cNvPr id="39" name="Connector 38"/>
          <p:cNvCxnSpPr/>
          <p:nvPr/>
        </p:nvCxnSpPr>
        <p:spPr>
          <a:xfrm>
            <a:off x="4507992" y="4937760"/>
            <a:ext cx="3054096" cy="0"/>
          </a:xfrm>
          <a:prstGeom prst="line">
            <a:avLst/>
          </a:prstGeom>
          <a:ln w="6350">
            <a:solidFill>
              <a:srgbClr val="EEE9DE"/>
            </a:solidFill>
          </a:ln>
        </p:spPr>
      </p:cxnSp>
      <p:sp>
        <p:nvSpPr>
          <p:cNvPr id="40" name="TextBox 39"/>
          <p:cNvSpPr txBox="1"/>
          <p:nvPr/>
        </p:nvSpPr>
        <p:spPr>
          <a:xfrm>
            <a:off x="4507992" y="504748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0F766E"/>
                </a:solidFill>
                <a:latin typeface="Arial"/>
              </a:rPr>
              <a:t>→  Do not extend to the full season</a:t>
            </a:r>
          </a:p>
        </p:txBody>
      </p:sp>
      <p:sp>
        <p:nvSpPr>
          <p:cNvPr id="41" name="Rounded Rectangle 40"/>
          <p:cNvSpPr/>
          <p:nvPr/>
        </p:nvSpPr>
        <p:spPr>
          <a:xfrm>
            <a:off x="8019288" y="3566160"/>
            <a:ext cx="3520440" cy="196596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42" name="Rectangle 41"/>
          <p:cNvSpPr/>
          <p:nvPr/>
        </p:nvSpPr>
        <p:spPr>
          <a:xfrm>
            <a:off x="8019288" y="3566160"/>
            <a:ext cx="68580" cy="1965960"/>
          </a:xfrm>
          <a:prstGeom prst="rect">
            <a:avLst/>
          </a:prstGeom>
          <a:solidFill>
            <a:srgbClr val="D9901A"/>
          </a:solidFill>
          <a:ln>
            <a:noFill/>
          </a:ln>
          <a:effectLst/>
        </p:spPr>
        <p:txBody>
          <a:bodyPr rtlCol="0" anchor="ctr"/>
          <a:lstStyle/>
          <a:p>
            <a:pPr algn="ctr"/>
          </a:p>
        </p:txBody>
      </p:sp>
      <p:sp>
        <p:nvSpPr>
          <p:cNvPr id="43" name="TextBox 42"/>
          <p:cNvSpPr txBox="1"/>
          <p:nvPr/>
        </p:nvSpPr>
        <p:spPr>
          <a:xfrm>
            <a:off x="8220456" y="3730752"/>
            <a:ext cx="3200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i="0">
                <a:solidFill>
                  <a:srgbClr val="D9901A"/>
                </a:solidFill>
                <a:latin typeface="Arial"/>
              </a:rPr>
              <a:t>06</a:t>
            </a:r>
          </a:p>
        </p:txBody>
      </p:sp>
      <p:sp>
        <p:nvSpPr>
          <p:cNvPr id="44" name="TextBox 43"/>
          <p:cNvSpPr txBox="1"/>
          <p:nvPr/>
        </p:nvSpPr>
        <p:spPr>
          <a:xfrm>
            <a:off x="8567928" y="3712464"/>
            <a:ext cx="2761488" cy="402336"/>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B1F33"/>
                </a:solidFill>
                <a:latin typeface="Arial"/>
              </a:rPr>
              <a:t>Counts are not probabilities</a:t>
            </a:r>
          </a:p>
        </p:txBody>
      </p:sp>
      <p:sp>
        <p:nvSpPr>
          <p:cNvPr id="45" name="TextBox 44"/>
          <p:cNvSpPr txBox="1"/>
          <p:nvPr/>
        </p:nvSpPr>
        <p:spPr>
          <a:xfrm>
            <a:off x="8220456" y="4261104"/>
            <a:ext cx="3090672" cy="1078992"/>
          </a:xfrm>
          <a:prstGeom prst="rect">
            <a:avLst/>
          </a:prstGeom>
          <a:noFill/>
        </p:spPr>
        <p:txBody>
          <a:bodyPr wrap="square" lIns="0" rIns="0" tIns="0" bIns="0" anchor="t">
            <a:spAutoFit/>
          </a:bodyPr>
          <a:lstStyle/>
          <a:p>
            <a:pPr algn="l">
              <a:lnSpc>
                <a:spcPct val="107000"/>
              </a:lnSpc>
              <a:spcBef>
                <a:spcPts val="0"/>
              </a:spcBef>
              <a:spcAft>
                <a:spcPts val="0"/>
              </a:spcAft>
            </a:pPr>
            <a:r>
              <a:rPr sz="950" b="0" i="0">
                <a:solidFill>
                  <a:srgbClr val="182A3A"/>
                </a:solidFill>
                <a:latin typeface="Arial"/>
              </a:rPr>
              <a:t>Part C counts members; Part D uses the fraction of 51 members. Neither is calibrated or verified here.</a:t>
            </a:r>
          </a:p>
        </p:txBody>
      </p:sp>
      <p:cxnSp>
        <p:nvCxnSpPr>
          <p:cNvPr id="46" name="Connector 45"/>
          <p:cNvCxnSpPr/>
          <p:nvPr/>
        </p:nvCxnSpPr>
        <p:spPr>
          <a:xfrm>
            <a:off x="8220456" y="4937760"/>
            <a:ext cx="3054096" cy="0"/>
          </a:xfrm>
          <a:prstGeom prst="line">
            <a:avLst/>
          </a:prstGeom>
          <a:ln w="6350">
            <a:solidFill>
              <a:srgbClr val="EEE9DE"/>
            </a:solidFill>
          </a:ln>
        </p:spPr>
      </p:cxnSp>
      <p:sp>
        <p:nvSpPr>
          <p:cNvPr id="47" name="TextBox 46"/>
          <p:cNvSpPr txBox="1"/>
          <p:nvPr/>
        </p:nvSpPr>
        <p:spPr>
          <a:xfrm>
            <a:off x="8220456" y="5047488"/>
            <a:ext cx="3017520" cy="256032"/>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D9901A"/>
                </a:solidFill>
                <a:latin typeface="Arial"/>
              </a:rPr>
              <a:t>→  Do not read as probability of impact</a:t>
            </a:r>
          </a:p>
        </p:txBody>
      </p:sp>
      <p:sp>
        <p:nvSpPr>
          <p:cNvPr id="48" name="Rounded Rectangle 47"/>
          <p:cNvSpPr/>
          <p:nvPr/>
        </p:nvSpPr>
        <p:spPr>
          <a:xfrm>
            <a:off x="594360" y="5650992"/>
            <a:ext cx="11000232" cy="475488"/>
          </a:xfrm>
          <a:prstGeom prst="roundRect">
            <a:avLst>
              <a:gd name="adj" fmla="val 3000"/>
            </a:avLst>
          </a:prstGeom>
          <a:solidFill>
            <a:srgbClr val="0B1F33"/>
          </a:solidFill>
          <a:ln>
            <a:noFill/>
          </a:ln>
          <a:effectLst/>
        </p:spPr>
        <p:txBody>
          <a:bodyPr rtlCol="0" anchor="ctr"/>
          <a:lstStyle/>
          <a:p>
            <a:pPr algn="ctr"/>
          </a:p>
        </p:txBody>
      </p:sp>
      <p:sp>
        <p:nvSpPr>
          <p:cNvPr id="49" name="TextBox 48"/>
          <p:cNvSpPr txBox="1"/>
          <p:nvPr/>
        </p:nvSpPr>
        <p:spPr>
          <a:xfrm>
            <a:off x="804672" y="5742432"/>
            <a:ext cx="10607040" cy="228600"/>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FFFFFF"/>
                </a:solidFill>
                <a:latin typeface="Arial"/>
              </a:rPr>
              <a:t>Next: verify against 2025 observations · calibrate thresholds · extend the sampling window.</a:t>
            </a:r>
          </a:p>
        </p:txBody>
      </p:sp>
      <p:cxnSp>
        <p:nvCxnSpPr>
          <p:cNvPr id="50" name="Connector 49"/>
          <p:cNvCxnSpPr/>
          <p:nvPr/>
        </p:nvCxnSpPr>
        <p:spPr>
          <a:xfrm>
            <a:off x="594360" y="6437376"/>
            <a:ext cx="11000232" cy="0"/>
          </a:xfrm>
          <a:prstGeom prst="line">
            <a:avLst/>
          </a:prstGeom>
          <a:ln w="9525">
            <a:solidFill>
              <a:srgbClr val="DDD6C8"/>
            </a:solidFill>
          </a:ln>
        </p:spPr>
      </p:cxnSp>
      <p:sp>
        <p:nvSpPr>
          <p:cNvPr id="51" name="TextBox 50"/>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52" name="TextBox 51"/>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A96500"/>
                </a:solidFill>
                <a:latin typeface="Arial"/>
              </a:rPr>
              <a:t>10 / REFLECTION</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0B1F33"/>
                </a:solidFill>
                <a:latin typeface="Arial"/>
              </a:rPr>
              <a:t>From exercise scripts to a reusable workflow</a:t>
            </a:r>
          </a:p>
        </p:txBody>
      </p:sp>
      <p:cxnSp>
        <p:nvCxnSpPr>
          <p:cNvPr id="5" name="Connector 4"/>
          <p:cNvCxnSpPr/>
          <p:nvPr/>
        </p:nvCxnSpPr>
        <p:spPr>
          <a:xfrm>
            <a:off x="594360" y="1307592"/>
            <a:ext cx="11000232" cy="0"/>
          </a:xfrm>
          <a:prstGeom prst="line">
            <a:avLst/>
          </a:prstGeom>
          <a:ln w="9525">
            <a:solidFill>
              <a:srgbClr val="DDD6C8"/>
            </a:solidFill>
          </a:ln>
        </p:spPr>
      </p:cxnSp>
      <p:sp>
        <p:nvSpPr>
          <p:cNvPr id="6" name="Rounded Rectangle 5"/>
          <p:cNvSpPr/>
          <p:nvPr/>
        </p:nvSpPr>
        <p:spPr>
          <a:xfrm>
            <a:off x="594360" y="1417320"/>
            <a:ext cx="3520440" cy="269748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7" name="Rectangle 6"/>
          <p:cNvSpPr/>
          <p:nvPr/>
        </p:nvSpPr>
        <p:spPr>
          <a:xfrm>
            <a:off x="594360" y="1417320"/>
            <a:ext cx="3520440" cy="68580"/>
          </a:xfrm>
          <a:prstGeom prst="rect">
            <a:avLst/>
          </a:prstGeom>
          <a:solidFill>
            <a:srgbClr val="D9901A"/>
          </a:solidFill>
          <a:ln>
            <a:noFill/>
          </a:ln>
          <a:effectLst/>
        </p:spPr>
        <p:txBody>
          <a:bodyPr rtlCol="0" anchor="ctr"/>
          <a:lstStyle/>
          <a:p>
            <a:pPr algn="ctr"/>
          </a:p>
        </p:txBody>
      </p:sp>
      <p:sp>
        <p:nvSpPr>
          <p:cNvPr id="8" name="TextBox 7"/>
          <p:cNvSpPr txBox="1"/>
          <p:nvPr/>
        </p:nvSpPr>
        <p:spPr>
          <a:xfrm>
            <a:off x="795528" y="1600200"/>
            <a:ext cx="3063240" cy="237744"/>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D9901A"/>
                </a:solidFill>
                <a:latin typeface="Arial"/>
              </a:rPr>
              <a:t>WHAT WE ADAPTED</a:t>
            </a:r>
          </a:p>
        </p:txBody>
      </p:sp>
      <p:sp>
        <p:nvSpPr>
          <p:cNvPr id="9" name="TextBox 8"/>
          <p:cNvSpPr txBox="1"/>
          <p:nvPr/>
        </p:nvSpPr>
        <p:spPr>
          <a:xfrm>
            <a:off x="795528" y="1956816"/>
            <a:ext cx="3063240" cy="1965960"/>
          </a:xfrm>
          <a:prstGeom prst="rect">
            <a:avLst/>
          </a:prstGeom>
          <a:noFill/>
        </p:spPr>
        <p:txBody>
          <a:bodyPr wrap="square" lIns="0" rIns="0" tIns="0" bIns="0" anchor="t">
            <a:spAutoFit/>
          </a:bodyPr>
          <a:lstStyle/>
          <a:p>
            <a:pPr algn="l" marL="182880" indent="-182880">
              <a:lnSpc>
                <a:spcPct val="102000"/>
              </a:lnSpc>
              <a:spcBef>
                <a:spcPts val="0"/>
              </a:spcBef>
              <a:spcAft>
                <a:spcPts val="700"/>
              </a:spcAft>
            </a:pPr>
            <a:r>
              <a:rPr sz="969" b="1">
                <a:solidFill>
                  <a:srgbClr val="D9901A"/>
                </a:solidFill>
                <a:latin typeface="Arial"/>
              </a:rPr>
              <a:t>•  </a:t>
            </a:r>
            <a:r>
              <a:rPr sz="969" b="1">
                <a:solidFill>
                  <a:srgbClr val="182A3A"/>
                </a:solidFill>
                <a:latin typeface="Arial"/>
              </a:rPr>
              <a:t>E1/E2 → </a:t>
            </a:r>
            <a:r>
              <a:rPr sz="969">
                <a:solidFill>
                  <a:srgbClr val="182A3A"/>
                </a:solidFill>
                <a:latin typeface="Arial"/>
              </a:rPr>
              <a:t>store access and realized plumes.</a:t>
            </a:r>
          </a:p>
          <a:p>
            <a:pPr algn="l" marL="182880" indent="-182880">
              <a:lnSpc>
                <a:spcPct val="102000"/>
              </a:lnSpc>
              <a:spcBef>
                <a:spcPts val="0"/>
              </a:spcBef>
              <a:spcAft>
                <a:spcPts val="700"/>
              </a:spcAft>
            </a:pPr>
            <a:r>
              <a:rPr sz="969" b="1">
                <a:solidFill>
                  <a:srgbClr val="D9901A"/>
                </a:solidFill>
                <a:latin typeface="Arial"/>
              </a:rPr>
              <a:t>•  </a:t>
            </a:r>
            <a:r>
              <a:rPr sz="969" b="1">
                <a:solidFill>
                  <a:srgbClr val="182A3A"/>
                </a:solidFill>
                <a:latin typeface="Arial"/>
              </a:rPr>
              <a:t>E3 → </a:t>
            </a:r>
            <a:r>
              <a:rPr sz="969">
                <a:solidFill>
                  <a:srgbClr val="182A3A"/>
                </a:solidFill>
                <a:latin typeface="Arial"/>
              </a:rPr>
              <a:t>pan-chunk selection before compute.</a:t>
            </a:r>
          </a:p>
          <a:p>
            <a:pPr algn="l" marL="182880" indent="-182880">
              <a:lnSpc>
                <a:spcPct val="102000"/>
              </a:lnSpc>
              <a:spcBef>
                <a:spcPts val="0"/>
              </a:spcBef>
              <a:spcAft>
                <a:spcPts val="700"/>
              </a:spcAft>
            </a:pPr>
            <a:r>
              <a:rPr sz="969" b="1">
                <a:solidFill>
                  <a:srgbClr val="D9901A"/>
                </a:solidFill>
                <a:latin typeface="Arial"/>
              </a:rPr>
              <a:t>•  </a:t>
            </a:r>
            <a:r>
              <a:rPr sz="969" b="1">
                <a:solidFill>
                  <a:srgbClr val="182A3A"/>
                </a:solidFill>
                <a:latin typeface="Arial"/>
              </a:rPr>
              <a:t>E4 → </a:t>
            </a:r>
            <a:r>
              <a:rPr sz="969">
                <a:solidFill>
                  <a:srgbClr val="182A3A"/>
                </a:solidFill>
                <a:latin typeface="Arial"/>
              </a:rPr>
              <a:t>Gumbel return levels; E5/E6 → member counts.</a:t>
            </a:r>
          </a:p>
          <a:p>
            <a:pPr algn="l" marL="182880" indent="-182880">
              <a:lnSpc>
                <a:spcPct val="102000"/>
              </a:lnSpc>
              <a:spcBef>
                <a:spcPts val="0"/>
              </a:spcBef>
              <a:spcAft>
                <a:spcPts val="700"/>
              </a:spcAft>
            </a:pPr>
            <a:r>
              <a:rPr sz="969" b="1">
                <a:solidFill>
                  <a:srgbClr val="D9901A"/>
                </a:solidFill>
                <a:latin typeface="Arial"/>
              </a:rPr>
              <a:t>•  </a:t>
            </a:r>
            <a:r>
              <a:rPr sz="969" b="1">
                <a:solidFill>
                  <a:srgbClr val="182A3A"/>
                </a:solidFill>
                <a:latin typeface="Arial"/>
              </a:rPr>
              <a:t>E7 → </a:t>
            </a:r>
            <a:r>
              <a:rPr sz="969">
                <a:solidFill>
                  <a:srgbClr val="182A3A"/>
                </a:solidFill>
                <a:latin typeface="Arial"/>
              </a:rPr>
              <a:t>review and version before push.</a:t>
            </a:r>
          </a:p>
          <a:p>
            <a:pPr algn="l" marL="182880" indent="-182880">
              <a:lnSpc>
                <a:spcPct val="102000"/>
              </a:lnSpc>
              <a:spcBef>
                <a:spcPts val="0"/>
              </a:spcBef>
              <a:spcAft>
                <a:spcPts val="700"/>
              </a:spcAft>
            </a:pPr>
            <a:r>
              <a:rPr sz="969" b="1">
                <a:solidFill>
                  <a:srgbClr val="D9901A"/>
                </a:solidFill>
                <a:latin typeface="Arial"/>
              </a:rPr>
              <a:t>•  </a:t>
            </a:r>
            <a:r>
              <a:rPr sz="969" b="1">
                <a:solidFill>
                  <a:srgbClr val="182A3A"/>
                </a:solidFill>
                <a:latin typeface="Arial"/>
              </a:rPr>
              <a:t>E8 → </a:t>
            </a:r>
            <a:r>
              <a:rPr sz="969">
                <a:solidFill>
                  <a:srgbClr val="182A3A"/>
                </a:solidFill>
                <a:latin typeface="Arial"/>
              </a:rPr>
              <a:t>local-threshold probability maps.</a:t>
            </a:r>
          </a:p>
        </p:txBody>
      </p:sp>
      <p:sp>
        <p:nvSpPr>
          <p:cNvPr id="10" name="Rounded Rectangle 9"/>
          <p:cNvSpPr/>
          <p:nvPr/>
        </p:nvSpPr>
        <p:spPr>
          <a:xfrm>
            <a:off x="4306824" y="1417320"/>
            <a:ext cx="3520440" cy="269748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1" name="Rectangle 10"/>
          <p:cNvSpPr/>
          <p:nvPr/>
        </p:nvSpPr>
        <p:spPr>
          <a:xfrm>
            <a:off x="4306824" y="1417320"/>
            <a:ext cx="3520440" cy="68580"/>
          </a:xfrm>
          <a:prstGeom prst="rect">
            <a:avLst/>
          </a:prstGeom>
          <a:solidFill>
            <a:srgbClr val="0F766E"/>
          </a:solidFill>
          <a:ln>
            <a:noFill/>
          </a:ln>
          <a:effectLst/>
        </p:spPr>
        <p:txBody>
          <a:bodyPr rtlCol="0" anchor="ctr"/>
          <a:lstStyle/>
          <a:p>
            <a:pPr algn="ctr"/>
          </a:p>
        </p:txBody>
      </p:sp>
      <p:sp>
        <p:nvSpPr>
          <p:cNvPr id="12" name="TextBox 11"/>
          <p:cNvSpPr txBox="1"/>
          <p:nvPr/>
        </p:nvSpPr>
        <p:spPr>
          <a:xfrm>
            <a:off x="4507992" y="1600200"/>
            <a:ext cx="3063240" cy="237744"/>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0F766E"/>
                </a:solidFill>
                <a:latin typeface="Arial"/>
              </a:rPr>
              <a:t>WHERE THE AGENT HELPED</a:t>
            </a:r>
          </a:p>
        </p:txBody>
      </p:sp>
      <p:sp>
        <p:nvSpPr>
          <p:cNvPr id="13" name="TextBox 12"/>
          <p:cNvSpPr txBox="1"/>
          <p:nvPr/>
        </p:nvSpPr>
        <p:spPr>
          <a:xfrm>
            <a:off x="4507992" y="1956816"/>
            <a:ext cx="3063240" cy="1965960"/>
          </a:xfrm>
          <a:prstGeom prst="rect">
            <a:avLst/>
          </a:prstGeom>
          <a:noFill/>
        </p:spPr>
        <p:txBody>
          <a:bodyPr wrap="square" lIns="0" rIns="0" tIns="0" bIns="0" anchor="t">
            <a:spAutoFit/>
          </a:bodyPr>
          <a:lstStyle/>
          <a:p>
            <a:pPr algn="l" marL="182880" indent="-182880">
              <a:lnSpc>
                <a:spcPct val="102000"/>
              </a:lnSpc>
              <a:spcBef>
                <a:spcPts val="0"/>
              </a:spcBef>
              <a:spcAft>
                <a:spcPts val="700"/>
              </a:spcAft>
            </a:pPr>
            <a:r>
              <a:rPr sz="969" b="1">
                <a:solidFill>
                  <a:srgbClr val="0F766E"/>
                </a:solidFill>
                <a:latin typeface="Arial"/>
              </a:rPr>
              <a:t>•  </a:t>
            </a:r>
            <a:r>
              <a:rPr sz="969" b="1">
                <a:solidFill>
                  <a:srgbClr val="182A3A"/>
                </a:solidFill>
                <a:latin typeface="Arial"/>
              </a:rPr>
              <a:t>Scaffolding: </a:t>
            </a:r>
            <a:r>
              <a:rPr sz="969">
                <a:solidFill>
                  <a:srgbClr val="182A3A"/>
                </a:solidFill>
                <a:latin typeface="Arial"/>
              </a:rPr>
              <a:t>turned prompts into runnable scripts.</a:t>
            </a:r>
          </a:p>
          <a:p>
            <a:pPr algn="l" marL="182880" indent="-182880">
              <a:lnSpc>
                <a:spcPct val="102000"/>
              </a:lnSpc>
              <a:spcBef>
                <a:spcPts val="0"/>
              </a:spcBef>
              <a:spcAft>
                <a:spcPts val="700"/>
              </a:spcAft>
            </a:pPr>
            <a:r>
              <a:rPr sz="969" b="1">
                <a:solidFill>
                  <a:srgbClr val="0F766E"/>
                </a:solidFill>
                <a:latin typeface="Arial"/>
              </a:rPr>
              <a:t>•  </a:t>
            </a:r>
            <a:r>
              <a:rPr sz="969" b="1">
                <a:solidFill>
                  <a:srgbClr val="182A3A"/>
                </a:solidFill>
                <a:latin typeface="Arial"/>
              </a:rPr>
              <a:t>Refactoring: </a:t>
            </a:r>
            <a:r>
              <a:rPr sz="969">
                <a:solidFill>
                  <a:srgbClr val="182A3A"/>
                </a:solidFill>
                <a:latin typeface="Arial"/>
              </a:rPr>
              <a:t>shared settings, helpers and tests.</a:t>
            </a:r>
          </a:p>
          <a:p>
            <a:pPr algn="l" marL="182880" indent="-182880">
              <a:lnSpc>
                <a:spcPct val="102000"/>
              </a:lnSpc>
              <a:spcBef>
                <a:spcPts val="0"/>
              </a:spcBef>
              <a:spcAft>
                <a:spcPts val="700"/>
              </a:spcAft>
            </a:pPr>
            <a:r>
              <a:rPr sz="969" b="1">
                <a:solidFill>
                  <a:srgbClr val="0F766E"/>
                </a:solidFill>
                <a:latin typeface="Arial"/>
              </a:rPr>
              <a:t>•  </a:t>
            </a:r>
            <a:r>
              <a:rPr sz="969" b="1">
                <a:solidFill>
                  <a:srgbClr val="182A3A"/>
                </a:solidFill>
                <a:latin typeface="Arial"/>
              </a:rPr>
              <a:t>Iteration: </a:t>
            </a:r>
            <a:r>
              <a:rPr sz="969">
                <a:solidFill>
                  <a:srgbClr val="182A3A"/>
                </a:solidFill>
                <a:latin typeface="Arial"/>
              </a:rPr>
              <a:t>plotting, checks and docs.</a:t>
            </a:r>
          </a:p>
          <a:p>
            <a:pPr algn="l" marL="182880" indent="-182880">
              <a:lnSpc>
                <a:spcPct val="102000"/>
              </a:lnSpc>
              <a:spcBef>
                <a:spcPts val="0"/>
              </a:spcBef>
              <a:spcAft>
                <a:spcPts val="700"/>
              </a:spcAft>
            </a:pPr>
            <a:r>
              <a:rPr sz="969" b="1">
                <a:solidFill>
                  <a:srgbClr val="0F766E"/>
                </a:solidFill>
                <a:latin typeface="Arial"/>
              </a:rPr>
              <a:t>•  </a:t>
            </a:r>
            <a:r>
              <a:rPr sz="969" b="1">
                <a:solidFill>
                  <a:srgbClr val="182A3A"/>
                </a:solidFill>
                <a:latin typeface="Arial"/>
              </a:rPr>
              <a:t>Speed: </a:t>
            </a:r>
            <a:r>
              <a:rPr sz="969">
                <a:solidFill>
                  <a:srgbClr val="182A3A"/>
                </a:solidFill>
                <a:latin typeface="Arial"/>
              </a:rPr>
              <a:t>repeated runs and output regeneration.</a:t>
            </a:r>
          </a:p>
          <a:p>
            <a:pPr algn="l" marL="182880" indent="-182880">
              <a:lnSpc>
                <a:spcPct val="102000"/>
              </a:lnSpc>
              <a:spcBef>
                <a:spcPts val="0"/>
              </a:spcBef>
              <a:spcAft>
                <a:spcPts val="700"/>
              </a:spcAft>
            </a:pPr>
            <a:r>
              <a:rPr sz="969" b="1">
                <a:solidFill>
                  <a:srgbClr val="0F766E"/>
                </a:solidFill>
                <a:latin typeface="Arial"/>
              </a:rPr>
              <a:t>•  </a:t>
            </a:r>
            <a:r>
              <a:rPr sz="969" b="1">
                <a:solidFill>
                  <a:srgbClr val="182A3A"/>
                </a:solidFill>
                <a:latin typeface="Arial"/>
              </a:rPr>
              <a:t>Checks: </a:t>
            </a:r>
            <a:r>
              <a:rPr sz="969">
                <a:solidFill>
                  <a:srgbClr val="182A3A"/>
                </a:solidFill>
                <a:latin typeface="Arial"/>
              </a:rPr>
              <a:t>tests, lint and output diffs.</a:t>
            </a:r>
          </a:p>
        </p:txBody>
      </p:sp>
      <p:sp>
        <p:nvSpPr>
          <p:cNvPr id="14" name="Rounded Rectangle 13"/>
          <p:cNvSpPr/>
          <p:nvPr/>
        </p:nvSpPr>
        <p:spPr>
          <a:xfrm>
            <a:off x="8019288" y="1417320"/>
            <a:ext cx="3520440" cy="2697480"/>
          </a:xfrm>
          <a:prstGeom prst="roundRect">
            <a:avLst>
              <a:gd name="adj" fmla="val 3500"/>
            </a:avLst>
          </a:prstGeom>
          <a:solidFill>
            <a:srgbClr val="FFFFFF"/>
          </a:solidFill>
          <a:ln w="9525">
            <a:solidFill>
              <a:srgbClr val="DDD6C8"/>
            </a:solidFill>
          </a:ln>
          <a:effectLst/>
        </p:spPr>
        <p:txBody>
          <a:bodyPr rtlCol="0" anchor="ctr"/>
          <a:lstStyle/>
          <a:p>
            <a:pPr algn="ctr"/>
          </a:p>
        </p:txBody>
      </p:sp>
      <p:sp>
        <p:nvSpPr>
          <p:cNvPr id="15" name="Rectangle 14"/>
          <p:cNvSpPr/>
          <p:nvPr/>
        </p:nvSpPr>
        <p:spPr>
          <a:xfrm>
            <a:off x="8019288" y="1417320"/>
            <a:ext cx="3520440" cy="68580"/>
          </a:xfrm>
          <a:prstGeom prst="rect">
            <a:avLst/>
          </a:prstGeom>
          <a:solidFill>
            <a:srgbClr val="C2410C"/>
          </a:solidFill>
          <a:ln>
            <a:noFill/>
          </a:ln>
          <a:effectLst/>
        </p:spPr>
        <p:txBody>
          <a:bodyPr rtlCol="0" anchor="ctr"/>
          <a:lstStyle/>
          <a:p>
            <a:pPr algn="ctr"/>
          </a:p>
        </p:txBody>
      </p:sp>
      <p:sp>
        <p:nvSpPr>
          <p:cNvPr id="16" name="TextBox 15"/>
          <p:cNvSpPr txBox="1"/>
          <p:nvPr/>
        </p:nvSpPr>
        <p:spPr>
          <a:xfrm>
            <a:off x="8220456" y="1600200"/>
            <a:ext cx="3063240" cy="237744"/>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C2410C"/>
                </a:solidFill>
                <a:latin typeface="Arial"/>
              </a:rPr>
              <a:t>WHAT WE CHECKED / CORRECTED</a:t>
            </a:r>
          </a:p>
        </p:txBody>
      </p:sp>
      <p:sp>
        <p:nvSpPr>
          <p:cNvPr id="17" name="TextBox 16"/>
          <p:cNvSpPr txBox="1"/>
          <p:nvPr/>
        </p:nvSpPr>
        <p:spPr>
          <a:xfrm>
            <a:off x="8220456" y="1956816"/>
            <a:ext cx="3063240" cy="1965960"/>
          </a:xfrm>
          <a:prstGeom prst="rect">
            <a:avLst/>
          </a:prstGeom>
          <a:noFill/>
        </p:spPr>
        <p:txBody>
          <a:bodyPr wrap="square" lIns="0" rIns="0" tIns="0" bIns="0" anchor="t">
            <a:spAutoFit/>
          </a:bodyPr>
          <a:lstStyle/>
          <a:p>
            <a:pPr algn="l" marL="182880" indent="-182880">
              <a:lnSpc>
                <a:spcPct val="102000"/>
              </a:lnSpc>
              <a:spcBef>
                <a:spcPts val="0"/>
              </a:spcBef>
              <a:spcAft>
                <a:spcPts val="700"/>
              </a:spcAft>
            </a:pPr>
            <a:r>
              <a:rPr sz="969" b="1">
                <a:solidFill>
                  <a:srgbClr val="C2410C"/>
                </a:solidFill>
                <a:latin typeface="Arial"/>
              </a:rPr>
              <a:t>•  </a:t>
            </a:r>
            <a:r>
              <a:rPr sz="969" b="1">
                <a:solidFill>
                  <a:srgbClr val="182A3A"/>
                </a:solidFill>
                <a:latin typeface="Arial"/>
              </a:rPr>
              <a:t>Units: </a:t>
            </a:r>
            <a:r>
              <a:rPr sz="969">
                <a:solidFill>
                  <a:srgbClr val="182A3A"/>
                </a:solidFill>
                <a:latin typeface="Arial"/>
              </a:rPr>
              <a:t>metres vs millimetres; cumulative vs daily totals.</a:t>
            </a:r>
          </a:p>
          <a:p>
            <a:pPr algn="l" marL="182880" indent="-182880">
              <a:lnSpc>
                <a:spcPct val="102000"/>
              </a:lnSpc>
              <a:spcBef>
                <a:spcPts val="0"/>
              </a:spcBef>
              <a:spcAft>
                <a:spcPts val="700"/>
              </a:spcAft>
            </a:pPr>
            <a:r>
              <a:rPr sz="969" b="1">
                <a:solidFill>
                  <a:srgbClr val="C2410C"/>
                </a:solidFill>
                <a:latin typeface="Arial"/>
              </a:rPr>
              <a:t>•  </a:t>
            </a:r>
            <a:r>
              <a:rPr sz="969" b="1">
                <a:solidFill>
                  <a:srgbClr val="182A3A"/>
                </a:solidFill>
                <a:latin typeface="Arial"/>
              </a:rPr>
              <a:t>Geometry: </a:t>
            </a:r>
            <a:r>
              <a:rPr sz="969">
                <a:solidFill>
                  <a:srgbClr val="182A3A"/>
                </a:solidFill>
                <a:latin typeface="Arial"/>
              </a:rPr>
              <a:t>latitude order, nearest pixels, coverage.</a:t>
            </a:r>
          </a:p>
          <a:p>
            <a:pPr algn="l" marL="182880" indent="-182880">
              <a:lnSpc>
                <a:spcPct val="102000"/>
              </a:lnSpc>
              <a:spcBef>
                <a:spcPts val="0"/>
              </a:spcBef>
              <a:spcAft>
                <a:spcPts val="700"/>
              </a:spcAft>
            </a:pPr>
            <a:r>
              <a:rPr sz="969" b="1">
                <a:solidFill>
                  <a:srgbClr val="C2410C"/>
                </a:solidFill>
                <a:latin typeface="Arial"/>
              </a:rPr>
              <a:t>•  </a:t>
            </a:r>
            <a:r>
              <a:rPr sz="969" b="1">
                <a:solidFill>
                  <a:srgbClr val="182A3A"/>
                </a:solidFill>
                <a:latin typeface="Arial"/>
              </a:rPr>
              <a:t>Validity: </a:t>
            </a:r>
            <a:r>
              <a:rPr sz="969">
                <a:solidFill>
                  <a:srgbClr val="182A3A"/>
                </a:solidFill>
                <a:latin typeface="Arial"/>
              </a:rPr>
              <a:t>all-NaN starts; strict &gt; semantics.</a:t>
            </a:r>
          </a:p>
          <a:p>
            <a:pPr algn="l" marL="182880" indent="-182880">
              <a:lnSpc>
                <a:spcPct val="102000"/>
              </a:lnSpc>
              <a:spcBef>
                <a:spcPts val="0"/>
              </a:spcBef>
              <a:spcAft>
                <a:spcPts val="700"/>
              </a:spcAft>
            </a:pPr>
            <a:r>
              <a:rPr sz="969" b="1">
                <a:solidFill>
                  <a:srgbClr val="C2410C"/>
                </a:solidFill>
                <a:latin typeface="Arial"/>
              </a:rPr>
              <a:t>•  </a:t>
            </a:r>
            <a:r>
              <a:rPr sz="969" b="1">
                <a:solidFill>
                  <a:srgbClr val="182A3A"/>
                </a:solidFill>
                <a:latin typeface="Arial"/>
              </a:rPr>
              <a:t>Interpretation: </a:t>
            </a:r>
            <a:r>
              <a:rPr sz="969">
                <a:solidFill>
                  <a:srgbClr val="182A3A"/>
                </a:solidFill>
                <a:latin typeface="Arial"/>
              </a:rPr>
              <a:t>counts ≠ probabilities; no 2025 verification.</a:t>
            </a:r>
          </a:p>
          <a:p>
            <a:pPr algn="l" marL="182880" indent="-182880">
              <a:lnSpc>
                <a:spcPct val="102000"/>
              </a:lnSpc>
              <a:spcBef>
                <a:spcPts val="0"/>
              </a:spcBef>
              <a:spcAft>
                <a:spcPts val="700"/>
              </a:spcAft>
            </a:pPr>
            <a:r>
              <a:rPr sz="969" b="1">
                <a:solidFill>
                  <a:srgbClr val="C2410C"/>
                </a:solidFill>
                <a:latin typeface="Arial"/>
              </a:rPr>
              <a:t>•  </a:t>
            </a:r>
            <a:r>
              <a:rPr sz="969" b="1">
                <a:solidFill>
                  <a:srgbClr val="182A3A"/>
                </a:solidFill>
                <a:latin typeface="Arial"/>
              </a:rPr>
              <a:t>Reproducibility: </a:t>
            </a:r>
            <a:r>
              <a:rPr sz="969">
                <a:solidFill>
                  <a:srgbClr val="182A3A"/>
                </a:solidFill>
                <a:latin typeface="Arial"/>
              </a:rPr>
              <a:t>fixed settings and committed outputs.</a:t>
            </a:r>
          </a:p>
        </p:txBody>
      </p:sp>
      <p:sp>
        <p:nvSpPr>
          <p:cNvPr id="18" name="TextBox 17"/>
          <p:cNvSpPr txBox="1"/>
          <p:nvPr/>
        </p:nvSpPr>
        <p:spPr>
          <a:xfrm>
            <a:off x="594360" y="4407408"/>
            <a:ext cx="914400" cy="182880"/>
          </a:xfrm>
          <a:prstGeom prst="rect">
            <a:avLst/>
          </a:prstGeom>
          <a:noFill/>
        </p:spPr>
        <p:txBody>
          <a:bodyPr wrap="square" lIns="0" rIns="0" tIns="0" bIns="0" anchor="t">
            <a:spAutoFit/>
          </a:bodyPr>
          <a:lstStyle/>
          <a:p>
            <a:pPr algn="l">
              <a:lnSpc>
                <a:spcPct val="100000"/>
              </a:lnSpc>
              <a:spcBef>
                <a:spcPts val="0"/>
              </a:spcBef>
              <a:spcAft>
                <a:spcPts val="0"/>
              </a:spcAft>
            </a:pPr>
            <a:r>
              <a:rPr sz="760" b="1" i="0">
                <a:solidFill>
                  <a:srgbClr val="A96500"/>
                </a:solidFill>
                <a:latin typeface="Arial"/>
              </a:rPr>
              <a:t>WORKFLOW</a:t>
            </a:r>
          </a:p>
        </p:txBody>
      </p:sp>
      <p:sp>
        <p:nvSpPr>
          <p:cNvPr id="19" name="Rounded Rectangle 18"/>
          <p:cNvSpPr/>
          <p:nvPr/>
        </p:nvSpPr>
        <p:spPr>
          <a:xfrm>
            <a:off x="1508760"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20" name="TextBox 19"/>
          <p:cNvSpPr txBox="1"/>
          <p:nvPr/>
        </p:nvSpPr>
        <p:spPr>
          <a:xfrm>
            <a:off x="1508760"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Prompt</a:t>
            </a:r>
          </a:p>
        </p:txBody>
      </p:sp>
      <p:sp>
        <p:nvSpPr>
          <p:cNvPr id="21" name="TextBox 20"/>
          <p:cNvSpPr txBox="1"/>
          <p:nvPr/>
        </p:nvSpPr>
        <p:spPr>
          <a:xfrm>
            <a:off x="2971800" y="4379976"/>
            <a:ext cx="146304" cy="219456"/>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8A98A5"/>
                </a:solidFill>
                <a:latin typeface="Arial"/>
              </a:rPr>
              <a:t>→</a:t>
            </a:r>
          </a:p>
        </p:txBody>
      </p:sp>
      <p:sp>
        <p:nvSpPr>
          <p:cNvPr id="22" name="Rounded Rectangle 21"/>
          <p:cNvSpPr/>
          <p:nvPr/>
        </p:nvSpPr>
        <p:spPr>
          <a:xfrm>
            <a:off x="3127248"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23" name="TextBox 22"/>
          <p:cNvSpPr txBox="1"/>
          <p:nvPr/>
        </p:nvSpPr>
        <p:spPr>
          <a:xfrm>
            <a:off x="3127248"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Script</a:t>
            </a:r>
          </a:p>
        </p:txBody>
      </p:sp>
      <p:sp>
        <p:nvSpPr>
          <p:cNvPr id="24" name="TextBox 23"/>
          <p:cNvSpPr txBox="1"/>
          <p:nvPr/>
        </p:nvSpPr>
        <p:spPr>
          <a:xfrm>
            <a:off x="4590288" y="4379976"/>
            <a:ext cx="146304" cy="219456"/>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8A98A5"/>
                </a:solidFill>
                <a:latin typeface="Arial"/>
              </a:rPr>
              <a:t>→</a:t>
            </a:r>
          </a:p>
        </p:txBody>
      </p:sp>
      <p:sp>
        <p:nvSpPr>
          <p:cNvPr id="25" name="Rounded Rectangle 24"/>
          <p:cNvSpPr/>
          <p:nvPr/>
        </p:nvSpPr>
        <p:spPr>
          <a:xfrm>
            <a:off x="4745736"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26" name="TextBox 25"/>
          <p:cNvSpPr txBox="1"/>
          <p:nvPr/>
        </p:nvSpPr>
        <p:spPr>
          <a:xfrm>
            <a:off x="4745736"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Test</a:t>
            </a:r>
          </a:p>
        </p:txBody>
      </p:sp>
      <p:sp>
        <p:nvSpPr>
          <p:cNvPr id="27" name="TextBox 26"/>
          <p:cNvSpPr txBox="1"/>
          <p:nvPr/>
        </p:nvSpPr>
        <p:spPr>
          <a:xfrm>
            <a:off x="6208775" y="4379976"/>
            <a:ext cx="146304" cy="219456"/>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8A98A5"/>
                </a:solidFill>
                <a:latin typeface="Arial"/>
              </a:rPr>
              <a:t>→</a:t>
            </a:r>
          </a:p>
        </p:txBody>
      </p:sp>
      <p:sp>
        <p:nvSpPr>
          <p:cNvPr id="28" name="Rounded Rectangle 27"/>
          <p:cNvSpPr/>
          <p:nvPr/>
        </p:nvSpPr>
        <p:spPr>
          <a:xfrm>
            <a:off x="6364224"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29" name="TextBox 28"/>
          <p:cNvSpPr txBox="1"/>
          <p:nvPr/>
        </p:nvSpPr>
        <p:spPr>
          <a:xfrm>
            <a:off x="6364224"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Figure</a:t>
            </a:r>
          </a:p>
        </p:txBody>
      </p:sp>
      <p:sp>
        <p:nvSpPr>
          <p:cNvPr id="30" name="TextBox 29"/>
          <p:cNvSpPr txBox="1"/>
          <p:nvPr/>
        </p:nvSpPr>
        <p:spPr>
          <a:xfrm>
            <a:off x="7827264" y="4379976"/>
            <a:ext cx="146304" cy="219456"/>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8A98A5"/>
                </a:solidFill>
                <a:latin typeface="Arial"/>
              </a:rPr>
              <a:t>→</a:t>
            </a:r>
          </a:p>
        </p:txBody>
      </p:sp>
      <p:sp>
        <p:nvSpPr>
          <p:cNvPr id="31" name="Rounded Rectangle 30"/>
          <p:cNvSpPr/>
          <p:nvPr/>
        </p:nvSpPr>
        <p:spPr>
          <a:xfrm>
            <a:off x="7982712"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32" name="TextBox 31"/>
          <p:cNvSpPr txBox="1"/>
          <p:nvPr/>
        </p:nvSpPr>
        <p:spPr>
          <a:xfrm>
            <a:off x="7982712"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Review</a:t>
            </a:r>
          </a:p>
        </p:txBody>
      </p:sp>
      <p:sp>
        <p:nvSpPr>
          <p:cNvPr id="33" name="TextBox 32"/>
          <p:cNvSpPr txBox="1"/>
          <p:nvPr/>
        </p:nvSpPr>
        <p:spPr>
          <a:xfrm>
            <a:off x="9445752" y="4379976"/>
            <a:ext cx="146304" cy="219456"/>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8A98A5"/>
                </a:solidFill>
                <a:latin typeface="Arial"/>
              </a:rPr>
              <a:t>→</a:t>
            </a:r>
          </a:p>
        </p:txBody>
      </p:sp>
      <p:sp>
        <p:nvSpPr>
          <p:cNvPr id="34" name="Rounded Rectangle 33"/>
          <p:cNvSpPr/>
          <p:nvPr/>
        </p:nvSpPr>
        <p:spPr>
          <a:xfrm>
            <a:off x="9601200" y="4315968"/>
            <a:ext cx="1444752" cy="384048"/>
          </a:xfrm>
          <a:prstGeom prst="roundRect">
            <a:avLst>
              <a:gd name="adj" fmla="val 18000"/>
            </a:avLst>
          </a:prstGeom>
          <a:solidFill>
            <a:srgbClr val="FFFFFF"/>
          </a:solidFill>
          <a:ln w="9525">
            <a:solidFill>
              <a:srgbClr val="DDD6C8"/>
            </a:solidFill>
          </a:ln>
          <a:effectLst/>
        </p:spPr>
        <p:txBody>
          <a:bodyPr rtlCol="0" anchor="ctr"/>
          <a:lstStyle/>
          <a:p>
            <a:pPr algn="ctr"/>
          </a:p>
        </p:txBody>
      </p:sp>
      <p:sp>
        <p:nvSpPr>
          <p:cNvPr id="35" name="TextBox 34"/>
          <p:cNvSpPr txBox="1"/>
          <p:nvPr/>
        </p:nvSpPr>
        <p:spPr>
          <a:xfrm>
            <a:off x="9601200" y="4379976"/>
            <a:ext cx="1444752" cy="219456"/>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182A3A"/>
                </a:solidFill>
                <a:latin typeface="Arial"/>
              </a:rPr>
              <a:t>Commit</a:t>
            </a:r>
          </a:p>
        </p:txBody>
      </p:sp>
      <p:sp>
        <p:nvSpPr>
          <p:cNvPr id="36" name="Rounded Rectangle 35"/>
          <p:cNvSpPr/>
          <p:nvPr/>
        </p:nvSpPr>
        <p:spPr>
          <a:xfrm>
            <a:off x="594360" y="4983480"/>
            <a:ext cx="11000232" cy="804672"/>
          </a:xfrm>
          <a:prstGeom prst="roundRect">
            <a:avLst>
              <a:gd name="adj" fmla="val 3500"/>
            </a:avLst>
          </a:prstGeom>
          <a:solidFill>
            <a:srgbClr val="0B1F33"/>
          </a:solidFill>
          <a:ln>
            <a:noFill/>
          </a:ln>
          <a:effectLst/>
        </p:spPr>
        <p:txBody>
          <a:bodyPr rtlCol="0" anchor="ctr"/>
          <a:lstStyle/>
          <a:p>
            <a:pPr algn="ctr"/>
          </a:p>
        </p:txBody>
      </p:sp>
      <p:sp>
        <p:nvSpPr>
          <p:cNvPr id="37" name="TextBox 36"/>
          <p:cNvSpPr txBox="1"/>
          <p:nvPr/>
        </p:nvSpPr>
        <p:spPr>
          <a:xfrm>
            <a:off x="804672" y="5074920"/>
            <a:ext cx="7452360" cy="566928"/>
          </a:xfrm>
          <a:prstGeom prst="rect">
            <a:avLst/>
          </a:prstGeom>
          <a:noFill/>
        </p:spPr>
        <p:txBody>
          <a:bodyPr wrap="square" lIns="0" rIns="0" tIns="0" bIns="0" anchor="t">
            <a:spAutoFit/>
          </a:bodyPr>
          <a:lstStyle/>
          <a:p>
            <a:pPr algn="l">
              <a:lnSpc>
                <a:spcPct val="100000"/>
              </a:lnSpc>
              <a:spcBef>
                <a:spcPts val="0"/>
              </a:spcBef>
              <a:spcAft>
                <a:spcPts val="0"/>
              </a:spcAft>
            </a:pPr>
            <a:r>
              <a:rPr sz="969" b="0" i="0">
                <a:solidFill>
                  <a:srgbClr val="FFFFFF"/>
                </a:solidFill>
                <a:latin typeface="Arial"/>
              </a:rPr>
              <a:t>Day-to-day: reuse this pipeline for any ensemble hazard — local threshold, member counts, when/where maps, reviewed outputs.</a:t>
            </a:r>
          </a:p>
        </p:txBody>
      </p:sp>
      <p:sp>
        <p:nvSpPr>
          <p:cNvPr id="38" name="TextBox 37"/>
          <p:cNvSpPr txBox="1"/>
          <p:nvPr/>
        </p:nvSpPr>
        <p:spPr>
          <a:xfrm>
            <a:off x="8394192" y="5074920"/>
            <a:ext cx="2971800" cy="566928"/>
          </a:xfrm>
          <a:prstGeom prst="rect">
            <a:avLst/>
          </a:prstGeom>
          <a:noFill/>
        </p:spPr>
        <p:txBody>
          <a:bodyPr wrap="square" lIns="0" rIns="0" tIns="0" bIns="0" anchor="t">
            <a:spAutoFit/>
          </a:bodyPr>
          <a:lstStyle/>
          <a:p>
            <a:pPr algn="l">
              <a:lnSpc>
                <a:spcPct val="100000"/>
              </a:lnSpc>
              <a:spcBef>
                <a:spcPts val="0"/>
              </a:spcBef>
              <a:spcAft>
                <a:spcPts val="0"/>
              </a:spcAft>
            </a:pPr>
            <a:r>
              <a:rPr sz="990" b="1" i="0">
                <a:solidFill>
                  <a:srgbClr val="D9901A"/>
                </a:solidFill>
                <a:latin typeface="Arial"/>
              </a:rPr>
              <a:t>The agent accelerates;</a:t>
            </a:r>
          </a:p>
          <a:p>
            <a:pPr algn="l">
              <a:lnSpc>
                <a:spcPct val="100000"/>
              </a:lnSpc>
              <a:spcBef>
                <a:spcPts val="0"/>
              </a:spcBef>
              <a:spcAft>
                <a:spcPts val="0"/>
              </a:spcAft>
            </a:pPr>
            <a:r>
              <a:rPr sz="990" b="1" i="0">
                <a:solidFill>
                  <a:srgbClr val="D9901A"/>
                </a:solidFill>
                <a:latin typeface="Arial"/>
              </a:rPr>
              <a:t>the analyst verifies.</a:t>
            </a:r>
          </a:p>
        </p:txBody>
      </p:sp>
      <p:cxnSp>
        <p:nvCxnSpPr>
          <p:cNvPr id="39" name="Connector 38"/>
          <p:cNvCxnSpPr/>
          <p:nvPr/>
        </p:nvCxnSpPr>
        <p:spPr>
          <a:xfrm>
            <a:off x="594360" y="6437376"/>
            <a:ext cx="11000232" cy="0"/>
          </a:xfrm>
          <a:prstGeom prst="line">
            <a:avLst/>
          </a:prstGeom>
          <a:ln w="9525">
            <a:solidFill>
              <a:srgbClr val="DDD6C8"/>
            </a:solidFill>
          </a:ln>
        </p:spPr>
      </p:cxnSp>
      <p:sp>
        <p:nvSpPr>
          <p:cNvPr id="40" name="TextBox 39"/>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8A98A5"/>
                </a:solidFill>
                <a:latin typeface="Arial"/>
              </a:rPr>
              <a:t>Sudan JJA 2025 · local rainfall extremes</a:t>
            </a:r>
          </a:p>
        </p:txBody>
      </p:sp>
      <p:sp>
        <p:nvSpPr>
          <p:cNvPr id="41" name="TextBox 40"/>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8A98A5"/>
                </a:solidFill>
                <a:latin typeface="Aria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594360" y="475488"/>
            <a:ext cx="91440" cy="91440"/>
          </a:xfrm>
          <a:prstGeom prst="rect">
            <a:avLst/>
          </a:prstGeom>
          <a:solidFill>
            <a:srgbClr val="D9901A"/>
          </a:solidFill>
          <a:ln>
            <a:noFill/>
          </a:ln>
          <a:effectLst/>
        </p:spPr>
        <p:txBody>
          <a:bodyPr rtlCol="0" anchor="ctr"/>
          <a:lstStyle/>
          <a:p>
            <a:pPr algn="ctr"/>
          </a:p>
        </p:txBody>
      </p:sp>
      <p:sp>
        <p:nvSpPr>
          <p:cNvPr id="3" name="TextBox 2"/>
          <p:cNvSpPr txBox="1"/>
          <p:nvPr/>
        </p:nvSpPr>
        <p:spPr>
          <a:xfrm>
            <a:off x="804672" y="411480"/>
            <a:ext cx="5943600" cy="22860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D9901A"/>
                </a:solidFill>
                <a:latin typeface="Arial"/>
              </a:rPr>
              <a:t>11 / REPRODUCE</a:t>
            </a:r>
          </a:p>
        </p:txBody>
      </p:sp>
      <p:sp>
        <p:nvSpPr>
          <p:cNvPr id="4" name="TextBox 3"/>
          <p:cNvSpPr txBox="1"/>
          <p:nvPr/>
        </p:nvSpPr>
        <p:spPr>
          <a:xfrm>
            <a:off x="594360" y="694944"/>
            <a:ext cx="10972800"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FFFFFF"/>
                </a:solidFill>
                <a:latin typeface="Arial"/>
              </a:rPr>
              <a:t>Open, reviewed, reproducible</a:t>
            </a:r>
          </a:p>
        </p:txBody>
      </p:sp>
      <p:cxnSp>
        <p:nvCxnSpPr>
          <p:cNvPr id="5" name="Connector 4"/>
          <p:cNvCxnSpPr/>
          <p:nvPr/>
        </p:nvCxnSpPr>
        <p:spPr>
          <a:xfrm>
            <a:off x="594360" y="1307592"/>
            <a:ext cx="11000232" cy="0"/>
          </a:xfrm>
          <a:prstGeom prst="line">
            <a:avLst/>
          </a:prstGeom>
          <a:ln w="9525">
            <a:solidFill>
              <a:srgbClr val="2A4760"/>
            </a:solidFill>
          </a:ln>
        </p:spPr>
      </p:cxnSp>
      <p:sp>
        <p:nvSpPr>
          <p:cNvPr id="6" name="TextBox 5"/>
          <p:cNvSpPr txBox="1"/>
          <p:nvPr/>
        </p:nvSpPr>
        <p:spPr>
          <a:xfrm>
            <a:off x="594360" y="1572768"/>
            <a:ext cx="7315200" cy="237744"/>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D9901A"/>
                </a:solidFill>
                <a:latin typeface="Arial"/>
              </a:rPr>
              <a:t>REPOSITORY</a:t>
            </a:r>
          </a:p>
        </p:txBody>
      </p:sp>
      <p:sp>
        <p:nvSpPr>
          <p:cNvPr id="7" name="TextBox 6"/>
          <p:cNvSpPr txBox="1"/>
          <p:nvPr/>
        </p:nvSpPr>
        <p:spPr>
          <a:xfrm>
            <a:off x="594360" y="1810512"/>
            <a:ext cx="7498079" cy="36576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FFFFFF"/>
                </a:solidFill>
                <a:latin typeface="Arial"/>
              </a:rPr>
              <a:t>github.com/BrianMburu/acmad-eac-summer-school</a:t>
            </a:r>
          </a:p>
        </p:txBody>
      </p:sp>
      <p:sp>
        <p:nvSpPr>
          <p:cNvPr id="8" name="TextBox 7"/>
          <p:cNvSpPr txBox="1"/>
          <p:nvPr/>
        </p:nvSpPr>
        <p:spPr>
          <a:xfrm>
            <a:off x="6693408" y="1847088"/>
            <a:ext cx="548640" cy="256032"/>
          </a:xfrm>
          <a:prstGeom prst="rect">
            <a:avLst/>
          </a:prstGeom>
          <a:noFill/>
        </p:spPr>
        <p:txBody>
          <a:bodyPr wrap="square" lIns="0" rIns="0" tIns="0" bIns="0" anchor="t">
            <a:spAutoFit/>
          </a:bodyPr>
          <a:lstStyle/>
          <a:p>
            <a:pPr algn="r">
              <a:lnSpc>
                <a:spcPct val="100000"/>
              </a:lnSpc>
              <a:spcBef>
                <a:spcPts val="0"/>
              </a:spcBef>
              <a:spcAft>
                <a:spcPts val="0"/>
              </a:spcAft>
            </a:pPr>
            <a:r>
              <a:rPr sz="819" b="1" i="0">
                <a:solidFill>
                  <a:srgbClr val="D9901A"/>
                </a:solidFill>
                <a:latin typeface="Arial"/>
              </a:rPr>
              <a:t>OPEN</a:t>
            </a:r>
          </a:p>
        </p:txBody>
      </p:sp>
      <p:sp>
        <p:nvSpPr>
          <p:cNvPr id="9" name="Rectangle 8">
            <a:hlinkClick r:id="rId2"/>
          </p:cNvPr>
          <p:cNvSpPr/>
          <p:nvPr/>
        </p:nvSpPr>
        <p:spPr>
          <a:xfrm>
            <a:off x="594360" y="1783080"/>
            <a:ext cx="6629400" cy="420624"/>
          </a:xfrm>
          <a:prstGeom prst="rect">
            <a:avLst/>
          </a:prstGeom>
          <a:noFill/>
          <a:ln>
            <a:noFill/>
          </a:ln>
          <a:effectLst/>
        </p:spPr>
        <p:txBody>
          <a:bodyPr rtlCol="0" anchor="ctr"/>
          <a:lstStyle/>
          <a:p>
            <a:pPr algn="ctr"/>
          </a:p>
        </p:txBody>
      </p:sp>
      <p:cxnSp>
        <p:nvCxnSpPr>
          <p:cNvPr id="10" name="Connector 9"/>
          <p:cNvCxnSpPr/>
          <p:nvPr/>
        </p:nvCxnSpPr>
        <p:spPr>
          <a:xfrm>
            <a:off x="594360" y="2304288"/>
            <a:ext cx="6995160" cy="0"/>
          </a:xfrm>
          <a:prstGeom prst="line">
            <a:avLst/>
          </a:prstGeom>
          <a:ln w="9525">
            <a:solidFill>
              <a:srgbClr val="2A4760"/>
            </a:solidFill>
          </a:ln>
        </p:spPr>
      </p:cxnSp>
      <p:sp>
        <p:nvSpPr>
          <p:cNvPr id="11" name="TextBox 10"/>
          <p:cNvSpPr txBox="1"/>
          <p:nvPr/>
        </p:nvSpPr>
        <p:spPr>
          <a:xfrm>
            <a:off x="594360" y="2487168"/>
            <a:ext cx="1828800" cy="219456"/>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D9901A"/>
                </a:solidFill>
                <a:latin typeface="Arial"/>
              </a:rPr>
              <a:t>FINAL TAG</a:t>
            </a:r>
          </a:p>
        </p:txBody>
      </p:sp>
      <p:sp>
        <p:nvSpPr>
          <p:cNvPr id="12" name="Rounded Rectangle 11"/>
          <p:cNvSpPr/>
          <p:nvPr/>
        </p:nvSpPr>
        <p:spPr>
          <a:xfrm>
            <a:off x="594360" y="2743200"/>
            <a:ext cx="1097280" cy="438912"/>
          </a:xfrm>
          <a:prstGeom prst="roundRect">
            <a:avLst>
              <a:gd name="adj" fmla="val 18000"/>
            </a:avLst>
          </a:prstGeom>
          <a:solidFill>
            <a:srgbClr val="D9901A"/>
          </a:solidFill>
          <a:ln>
            <a:noFill/>
          </a:ln>
          <a:effectLst/>
        </p:spPr>
        <p:txBody>
          <a:bodyPr rtlCol="0" anchor="ctr"/>
          <a:lstStyle/>
          <a:p>
            <a:pPr algn="ctr"/>
          </a:p>
        </p:txBody>
      </p:sp>
      <p:sp>
        <p:nvSpPr>
          <p:cNvPr id="13" name="TextBox 12"/>
          <p:cNvSpPr txBox="1"/>
          <p:nvPr/>
        </p:nvSpPr>
        <p:spPr>
          <a:xfrm>
            <a:off x="594360" y="2761488"/>
            <a:ext cx="1097280" cy="420623"/>
          </a:xfrm>
          <a:prstGeom prst="rect">
            <a:avLst/>
          </a:prstGeom>
          <a:noFill/>
        </p:spPr>
        <p:txBody>
          <a:bodyPr wrap="square" lIns="0" rIns="0" tIns="0" bIns="0" anchor="ctr">
            <a:spAutoFit/>
          </a:bodyPr>
          <a:lstStyle/>
          <a:p>
            <a:pPr algn="ctr">
              <a:lnSpc>
                <a:spcPct val="100000"/>
              </a:lnSpc>
              <a:spcBef>
                <a:spcPts val="0"/>
              </a:spcBef>
              <a:spcAft>
                <a:spcPts val="0"/>
              </a:spcAft>
            </a:pPr>
            <a:r>
              <a:rPr sz="1700" b="1" i="0">
                <a:solidFill>
                  <a:srgbClr val="0B1F33"/>
                </a:solidFill>
                <a:latin typeface="Arial"/>
              </a:rPr>
              <a:t>final</a:t>
            </a:r>
          </a:p>
        </p:txBody>
      </p:sp>
      <p:sp>
        <p:nvSpPr>
          <p:cNvPr id="14" name="TextBox 13"/>
          <p:cNvSpPr txBox="1"/>
          <p:nvPr/>
        </p:nvSpPr>
        <p:spPr>
          <a:xfrm>
            <a:off x="1856231" y="2798064"/>
            <a:ext cx="5120640" cy="310896"/>
          </a:xfrm>
          <a:prstGeom prst="rect">
            <a:avLst/>
          </a:prstGeom>
          <a:noFill/>
        </p:spPr>
        <p:txBody>
          <a:bodyPr wrap="square" lIns="0" rIns="0" tIns="0" bIns="0" anchor="t">
            <a:spAutoFit/>
          </a:bodyPr>
          <a:lstStyle/>
          <a:p>
            <a:pPr algn="l">
              <a:lnSpc>
                <a:spcPct val="100000"/>
              </a:lnSpc>
              <a:spcBef>
                <a:spcPts val="0"/>
              </a:spcBef>
              <a:spcAft>
                <a:spcPts val="0"/>
              </a:spcAft>
            </a:pPr>
            <a:r>
              <a:rPr sz="980" b="0" i="0">
                <a:solidFill>
                  <a:srgbClr val="C7D2DC"/>
                </a:solidFill>
                <a:latin typeface="Arial"/>
              </a:rPr>
              <a:t>annotated tag · deck + analysis outputs</a:t>
            </a:r>
          </a:p>
        </p:txBody>
      </p:sp>
      <p:sp>
        <p:nvSpPr>
          <p:cNvPr id="15" name="Rectangle 14">
            <a:hlinkClick r:id="rId3"/>
          </p:cNvPr>
          <p:cNvSpPr/>
          <p:nvPr/>
        </p:nvSpPr>
        <p:spPr>
          <a:xfrm>
            <a:off x="594360" y="2743200"/>
            <a:ext cx="1097280" cy="438912"/>
          </a:xfrm>
          <a:prstGeom prst="rect">
            <a:avLst/>
          </a:prstGeom>
          <a:noFill/>
          <a:ln>
            <a:noFill/>
          </a:ln>
          <a:effectLst/>
        </p:spPr>
        <p:txBody>
          <a:bodyPr rtlCol="0" anchor="ctr"/>
          <a:lstStyle/>
          <a:p>
            <a:pPr algn="ctr"/>
          </a:p>
        </p:txBody>
      </p:sp>
      <p:sp>
        <p:nvSpPr>
          <p:cNvPr id="16" name="Rectangle 15">
            <a:hlinkClick r:id="rId3"/>
          </p:cNvPr>
          <p:cNvSpPr/>
          <p:nvPr/>
        </p:nvSpPr>
        <p:spPr>
          <a:xfrm>
            <a:off x="1856231" y="2761488"/>
            <a:ext cx="5120640" cy="365760"/>
          </a:xfrm>
          <a:prstGeom prst="rect">
            <a:avLst/>
          </a:prstGeom>
          <a:noFill/>
          <a:ln>
            <a:noFill/>
          </a:ln>
          <a:effectLst/>
        </p:spPr>
        <p:txBody>
          <a:bodyPr rtlCol="0" anchor="ctr"/>
          <a:lstStyle/>
          <a:p>
            <a:pPr algn="ctr"/>
          </a:p>
        </p:txBody>
      </p:sp>
      <p:sp>
        <p:nvSpPr>
          <p:cNvPr id="17" name="TextBox 16"/>
          <p:cNvSpPr txBox="1"/>
          <p:nvPr/>
        </p:nvSpPr>
        <p:spPr>
          <a:xfrm>
            <a:off x="594360" y="3401568"/>
            <a:ext cx="7086600" cy="475488"/>
          </a:xfrm>
          <a:prstGeom prst="rect">
            <a:avLst/>
          </a:prstGeom>
          <a:noFill/>
        </p:spPr>
        <p:txBody>
          <a:bodyPr wrap="square" lIns="0" rIns="0" tIns="0" bIns="0" anchor="t">
            <a:spAutoFit/>
          </a:bodyPr>
          <a:lstStyle/>
          <a:p>
            <a:pPr algn="l">
              <a:lnSpc>
                <a:spcPct val="108000"/>
              </a:lnSpc>
              <a:spcBef>
                <a:spcPts val="0"/>
              </a:spcBef>
              <a:spcAft>
                <a:spcPts val="0"/>
              </a:spcAft>
            </a:pPr>
            <a:r>
              <a:rPr sz="990" b="0" i="0">
                <a:solidFill>
                  <a:srgbClr val="B9C7D2"/>
                </a:solidFill>
                <a:latin typeface="Arial"/>
              </a:rPr>
              <a:t>The tag points to the presentation, build script, analysis scripts, figures and CSV outputs.</a:t>
            </a:r>
          </a:p>
        </p:txBody>
      </p:sp>
      <p:sp>
        <p:nvSpPr>
          <p:cNvPr id="18" name="TextBox 17"/>
          <p:cNvSpPr txBox="1"/>
          <p:nvPr/>
        </p:nvSpPr>
        <p:spPr>
          <a:xfrm>
            <a:off x="594360" y="4224528"/>
            <a:ext cx="7406640" cy="219456"/>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D9901A"/>
                </a:solidFill>
                <a:latin typeface="Arial"/>
              </a:rPr>
              <a:t>BUILD AND CHECK</a:t>
            </a:r>
          </a:p>
        </p:txBody>
      </p:sp>
      <p:sp>
        <p:nvSpPr>
          <p:cNvPr id="19" name="TextBox 18"/>
          <p:cNvSpPr txBox="1"/>
          <p:nvPr/>
        </p:nvSpPr>
        <p:spPr>
          <a:xfrm>
            <a:off x="594360" y="4462272"/>
            <a:ext cx="7498079" cy="621792"/>
          </a:xfrm>
          <a:prstGeom prst="rect">
            <a:avLst/>
          </a:prstGeom>
          <a:noFill/>
        </p:spPr>
        <p:txBody>
          <a:bodyPr wrap="square" lIns="0" rIns="0" tIns="0" bIns="0" anchor="t">
            <a:spAutoFit/>
          </a:bodyPr>
          <a:lstStyle/>
          <a:p>
            <a:pPr algn="l">
              <a:lnSpc>
                <a:spcPct val="118000"/>
              </a:lnSpc>
              <a:spcBef>
                <a:spcPts val="0"/>
              </a:spcBef>
              <a:spcAft>
                <a:spcPts val="0"/>
              </a:spcAft>
            </a:pPr>
            <a:r>
              <a:rPr sz="810" b="0" i="0">
                <a:solidFill>
                  <a:srgbClr val="D9E2E8"/>
                </a:solidFill>
                <a:latin typeface="Courier New"/>
              </a:rPr>
              <a:t>uv run --with python-pptx python presentation/build_deck.py</a:t>
            </a:r>
          </a:p>
          <a:p>
            <a:pPr algn="l">
              <a:lnSpc>
                <a:spcPct val="118000"/>
              </a:lnSpc>
              <a:spcBef>
                <a:spcPts val="0"/>
              </a:spcBef>
              <a:spcAft>
                <a:spcPts val="0"/>
              </a:spcAft>
            </a:pPr>
            <a:r>
              <a:rPr sz="810" b="0" i="0">
                <a:solidFill>
                  <a:srgbClr val="D9E2E8"/>
                </a:solidFill>
                <a:latin typeface="Courier New"/>
              </a:rPr>
              <a:t>uv run pytest   ·   uvx ruff check scripts tests presentation</a:t>
            </a:r>
          </a:p>
        </p:txBody>
      </p:sp>
      <p:sp>
        <p:nvSpPr>
          <p:cNvPr id="20" name="Rounded Rectangle 19"/>
          <p:cNvSpPr/>
          <p:nvPr/>
        </p:nvSpPr>
        <p:spPr>
          <a:xfrm>
            <a:off x="8275320" y="1572768"/>
            <a:ext cx="3291840" cy="3291840"/>
          </a:xfrm>
          <a:prstGeom prst="roundRect">
            <a:avLst>
              <a:gd name="adj" fmla="val 3500"/>
            </a:avLst>
          </a:prstGeom>
          <a:solidFill>
            <a:srgbClr val="15344D"/>
          </a:solidFill>
          <a:ln w="9525">
            <a:solidFill>
              <a:srgbClr val="2A4760"/>
            </a:solidFill>
          </a:ln>
          <a:effectLst/>
        </p:spPr>
        <p:txBody>
          <a:bodyPr rtlCol="0" anchor="ctr"/>
          <a:lstStyle/>
          <a:p>
            <a:pPr algn="ctr"/>
          </a:p>
        </p:txBody>
      </p:sp>
      <p:sp>
        <p:nvSpPr>
          <p:cNvPr id="21" name="TextBox 20"/>
          <p:cNvSpPr txBox="1"/>
          <p:nvPr/>
        </p:nvSpPr>
        <p:spPr>
          <a:xfrm>
            <a:off x="8485632" y="1737360"/>
            <a:ext cx="2743200" cy="219456"/>
          </a:xfrm>
          <a:prstGeom prst="rect">
            <a:avLst/>
          </a:prstGeom>
          <a:noFill/>
        </p:spPr>
        <p:txBody>
          <a:bodyPr wrap="square" lIns="0" rIns="0" tIns="0" bIns="0" anchor="t">
            <a:spAutoFit/>
          </a:bodyPr>
          <a:lstStyle/>
          <a:p>
            <a:pPr algn="l">
              <a:lnSpc>
                <a:spcPct val="100000"/>
              </a:lnSpc>
              <a:spcBef>
                <a:spcPts val="0"/>
              </a:spcBef>
              <a:spcAft>
                <a:spcPts val="0"/>
              </a:spcAft>
            </a:pPr>
            <a:r>
              <a:rPr sz="819" b="1" i="0">
                <a:solidFill>
                  <a:srgbClr val="D9901A"/>
                </a:solidFill>
                <a:latin typeface="Arial"/>
              </a:rPr>
              <a:t>AT A GLANCE</a:t>
            </a:r>
          </a:p>
        </p:txBody>
      </p:sp>
      <p:sp>
        <p:nvSpPr>
          <p:cNvPr id="22" name="TextBox 21"/>
          <p:cNvSpPr txBox="1"/>
          <p:nvPr/>
        </p:nvSpPr>
        <p:spPr>
          <a:xfrm>
            <a:off x="8485632" y="2084831"/>
            <a:ext cx="1143000" cy="402336"/>
          </a:xfrm>
          <a:prstGeom prst="rect">
            <a:avLst/>
          </a:prstGeom>
          <a:noFill/>
        </p:spPr>
        <p:txBody>
          <a:bodyPr wrap="square" lIns="0" rIns="0" tIns="0" bIns="0" anchor="t">
            <a:spAutoFit/>
          </a:bodyPr>
          <a:lstStyle/>
          <a:p>
            <a:pPr algn="l">
              <a:lnSpc>
                <a:spcPct val="100000"/>
              </a:lnSpc>
              <a:spcBef>
                <a:spcPts val="0"/>
              </a:spcBef>
              <a:spcAft>
                <a:spcPts val="0"/>
              </a:spcAft>
            </a:pPr>
            <a:r>
              <a:rPr sz="2300" b="1" i="0">
                <a:solidFill>
                  <a:srgbClr val="FFFFFF"/>
                </a:solidFill>
                <a:latin typeface="Arial"/>
              </a:rPr>
              <a:t>4</a:t>
            </a:r>
          </a:p>
        </p:txBody>
      </p:sp>
      <p:sp>
        <p:nvSpPr>
          <p:cNvPr id="23" name="TextBox 22"/>
          <p:cNvSpPr txBox="1"/>
          <p:nvPr/>
        </p:nvSpPr>
        <p:spPr>
          <a:xfrm>
            <a:off x="8485632" y="2523744"/>
            <a:ext cx="1143000" cy="219456"/>
          </a:xfrm>
          <a:prstGeom prst="rect">
            <a:avLst/>
          </a:prstGeom>
          <a:noFill/>
        </p:spPr>
        <p:txBody>
          <a:bodyPr wrap="square" lIns="0" rIns="0" tIns="0" bIns="0" anchor="t">
            <a:spAutoFit/>
          </a:bodyPr>
          <a:lstStyle/>
          <a:p>
            <a:pPr algn="l">
              <a:lnSpc>
                <a:spcPct val="100000"/>
              </a:lnSpc>
              <a:spcBef>
                <a:spcPts val="0"/>
              </a:spcBef>
              <a:spcAft>
                <a:spcPts val="0"/>
              </a:spcAft>
            </a:pPr>
            <a:r>
              <a:rPr sz="810" b="0" i="0">
                <a:solidFill>
                  <a:srgbClr val="B9C7D2"/>
                </a:solidFill>
                <a:latin typeface="Arial"/>
              </a:rPr>
              <a:t>analyses</a:t>
            </a:r>
          </a:p>
        </p:txBody>
      </p:sp>
      <p:sp>
        <p:nvSpPr>
          <p:cNvPr id="24" name="TextBox 23"/>
          <p:cNvSpPr txBox="1"/>
          <p:nvPr/>
        </p:nvSpPr>
        <p:spPr>
          <a:xfrm>
            <a:off x="9875519" y="2084831"/>
            <a:ext cx="1143000" cy="402336"/>
          </a:xfrm>
          <a:prstGeom prst="rect">
            <a:avLst/>
          </a:prstGeom>
          <a:noFill/>
        </p:spPr>
        <p:txBody>
          <a:bodyPr wrap="square" lIns="0" rIns="0" tIns="0" bIns="0" anchor="t">
            <a:spAutoFit/>
          </a:bodyPr>
          <a:lstStyle/>
          <a:p>
            <a:pPr algn="l">
              <a:lnSpc>
                <a:spcPct val="100000"/>
              </a:lnSpc>
              <a:spcBef>
                <a:spcPts val="0"/>
              </a:spcBef>
              <a:spcAft>
                <a:spcPts val="0"/>
              </a:spcAft>
            </a:pPr>
            <a:r>
              <a:rPr sz="2300" b="1" i="0">
                <a:solidFill>
                  <a:srgbClr val="FFFFFF"/>
                </a:solidFill>
                <a:latin typeface="Arial"/>
              </a:rPr>
              <a:t>5</a:t>
            </a:r>
          </a:p>
        </p:txBody>
      </p:sp>
      <p:sp>
        <p:nvSpPr>
          <p:cNvPr id="25" name="TextBox 24"/>
          <p:cNvSpPr txBox="1"/>
          <p:nvPr/>
        </p:nvSpPr>
        <p:spPr>
          <a:xfrm>
            <a:off x="9875519" y="2523744"/>
            <a:ext cx="1143000" cy="219456"/>
          </a:xfrm>
          <a:prstGeom prst="rect">
            <a:avLst/>
          </a:prstGeom>
          <a:noFill/>
        </p:spPr>
        <p:txBody>
          <a:bodyPr wrap="square" lIns="0" rIns="0" tIns="0" bIns="0" anchor="t">
            <a:spAutoFit/>
          </a:bodyPr>
          <a:lstStyle/>
          <a:p>
            <a:pPr algn="l">
              <a:lnSpc>
                <a:spcPct val="100000"/>
              </a:lnSpc>
              <a:spcBef>
                <a:spcPts val="0"/>
              </a:spcBef>
              <a:spcAft>
                <a:spcPts val="0"/>
              </a:spcAft>
            </a:pPr>
            <a:r>
              <a:rPr sz="810" b="0" i="0">
                <a:solidFill>
                  <a:srgbClr val="B9C7D2"/>
                </a:solidFill>
                <a:latin typeface="Arial"/>
              </a:rPr>
              <a:t>towns</a:t>
            </a:r>
          </a:p>
        </p:txBody>
      </p:sp>
      <p:sp>
        <p:nvSpPr>
          <p:cNvPr id="26" name="TextBox 25"/>
          <p:cNvSpPr txBox="1"/>
          <p:nvPr/>
        </p:nvSpPr>
        <p:spPr>
          <a:xfrm>
            <a:off x="8485632" y="3200400"/>
            <a:ext cx="1143000" cy="402336"/>
          </a:xfrm>
          <a:prstGeom prst="rect">
            <a:avLst/>
          </a:prstGeom>
          <a:noFill/>
        </p:spPr>
        <p:txBody>
          <a:bodyPr wrap="square" lIns="0" rIns="0" tIns="0" bIns="0" anchor="t">
            <a:spAutoFit/>
          </a:bodyPr>
          <a:lstStyle/>
          <a:p>
            <a:pPr algn="l">
              <a:lnSpc>
                <a:spcPct val="100000"/>
              </a:lnSpc>
              <a:spcBef>
                <a:spcPts val="0"/>
              </a:spcBef>
              <a:spcAft>
                <a:spcPts val="0"/>
              </a:spcAft>
            </a:pPr>
            <a:r>
              <a:rPr sz="2300" b="1" i="0">
                <a:solidFill>
                  <a:srgbClr val="FFFFFF"/>
                </a:solidFill>
                <a:latin typeface="Arial"/>
              </a:rPr>
              <a:t>27</a:t>
            </a:r>
          </a:p>
        </p:txBody>
      </p:sp>
      <p:sp>
        <p:nvSpPr>
          <p:cNvPr id="27" name="TextBox 26"/>
          <p:cNvSpPr txBox="1"/>
          <p:nvPr/>
        </p:nvSpPr>
        <p:spPr>
          <a:xfrm>
            <a:off x="8485632" y="3639312"/>
            <a:ext cx="1143000" cy="219456"/>
          </a:xfrm>
          <a:prstGeom prst="rect">
            <a:avLst/>
          </a:prstGeom>
          <a:noFill/>
        </p:spPr>
        <p:txBody>
          <a:bodyPr wrap="square" lIns="0" rIns="0" tIns="0" bIns="0" anchor="t">
            <a:spAutoFit/>
          </a:bodyPr>
          <a:lstStyle/>
          <a:p>
            <a:pPr algn="l">
              <a:lnSpc>
                <a:spcPct val="100000"/>
              </a:lnSpc>
              <a:spcBef>
                <a:spcPts val="0"/>
              </a:spcBef>
              <a:spcAft>
                <a:spcPts val="0"/>
              </a:spcAft>
            </a:pPr>
            <a:r>
              <a:rPr sz="810" b="0" i="0">
                <a:solidFill>
                  <a:srgbClr val="B9C7D2"/>
                </a:solidFill>
                <a:latin typeface="Arial"/>
              </a:rPr>
              <a:t>years observed</a:t>
            </a:r>
          </a:p>
        </p:txBody>
      </p:sp>
      <p:sp>
        <p:nvSpPr>
          <p:cNvPr id="28" name="TextBox 27"/>
          <p:cNvSpPr txBox="1"/>
          <p:nvPr/>
        </p:nvSpPr>
        <p:spPr>
          <a:xfrm>
            <a:off x="9875519" y="3200400"/>
            <a:ext cx="1143000" cy="402336"/>
          </a:xfrm>
          <a:prstGeom prst="rect">
            <a:avLst/>
          </a:prstGeom>
          <a:noFill/>
        </p:spPr>
        <p:txBody>
          <a:bodyPr wrap="square" lIns="0" rIns="0" tIns="0" bIns="0" anchor="t">
            <a:spAutoFit/>
          </a:bodyPr>
          <a:lstStyle/>
          <a:p>
            <a:pPr algn="l">
              <a:lnSpc>
                <a:spcPct val="100000"/>
              </a:lnSpc>
              <a:spcBef>
                <a:spcPts val="0"/>
              </a:spcBef>
              <a:spcAft>
                <a:spcPts val="0"/>
              </a:spcAft>
            </a:pPr>
            <a:r>
              <a:rPr sz="2300" b="1" i="0">
                <a:solidFill>
                  <a:srgbClr val="FFFFFF"/>
                </a:solidFill>
                <a:latin typeface="Arial"/>
              </a:rPr>
              <a:t>96</a:t>
            </a:r>
          </a:p>
        </p:txBody>
      </p:sp>
      <p:sp>
        <p:nvSpPr>
          <p:cNvPr id="29" name="TextBox 28"/>
          <p:cNvSpPr txBox="1"/>
          <p:nvPr/>
        </p:nvSpPr>
        <p:spPr>
          <a:xfrm>
            <a:off x="9875519" y="3639312"/>
            <a:ext cx="1143000" cy="219456"/>
          </a:xfrm>
          <a:prstGeom prst="rect">
            <a:avLst/>
          </a:prstGeom>
          <a:noFill/>
        </p:spPr>
        <p:txBody>
          <a:bodyPr wrap="square" lIns="0" rIns="0" tIns="0" bIns="0" anchor="t">
            <a:spAutoFit/>
          </a:bodyPr>
          <a:lstStyle/>
          <a:p>
            <a:pPr algn="l">
              <a:lnSpc>
                <a:spcPct val="100000"/>
              </a:lnSpc>
              <a:spcBef>
                <a:spcPts val="0"/>
              </a:spcBef>
              <a:spcAft>
                <a:spcPts val="0"/>
              </a:spcAft>
            </a:pPr>
            <a:r>
              <a:rPr sz="810" b="0" i="0">
                <a:solidFill>
                  <a:srgbClr val="B9C7D2"/>
                </a:solidFill>
                <a:latin typeface="Arial"/>
              </a:rPr>
              <a:t>tests passing</a:t>
            </a:r>
          </a:p>
        </p:txBody>
      </p:sp>
      <p:sp>
        <p:nvSpPr>
          <p:cNvPr id="30" name="TextBox 29"/>
          <p:cNvSpPr txBox="1"/>
          <p:nvPr/>
        </p:nvSpPr>
        <p:spPr>
          <a:xfrm>
            <a:off x="8485632" y="4315968"/>
            <a:ext cx="2761488" cy="310896"/>
          </a:xfrm>
          <a:prstGeom prst="rect">
            <a:avLst/>
          </a:prstGeom>
          <a:noFill/>
        </p:spPr>
        <p:txBody>
          <a:bodyPr wrap="square" lIns="0" rIns="0" tIns="0" bIns="0" anchor="t">
            <a:spAutoFit/>
          </a:bodyPr>
          <a:lstStyle/>
          <a:p>
            <a:pPr algn="l">
              <a:lnSpc>
                <a:spcPct val="100000"/>
              </a:lnSpc>
              <a:spcBef>
                <a:spcPts val="0"/>
              </a:spcBef>
              <a:spcAft>
                <a:spcPts val="0"/>
              </a:spcAft>
            </a:pPr>
            <a:r>
              <a:rPr sz="800" b="0" i="0">
                <a:solidFill>
                  <a:srgbClr val="B9C7D2"/>
                </a:solidFill>
                <a:latin typeface="Courier New"/>
              </a:rPr>
              <a:t>scripts/ · out/ · tests/</a:t>
            </a:r>
          </a:p>
        </p:txBody>
      </p:sp>
      <p:sp>
        <p:nvSpPr>
          <p:cNvPr id="31" name="Rounded Rectangle 30"/>
          <p:cNvSpPr/>
          <p:nvPr/>
        </p:nvSpPr>
        <p:spPr>
          <a:xfrm>
            <a:off x="594360" y="5102352"/>
            <a:ext cx="11000232" cy="841248"/>
          </a:xfrm>
          <a:prstGeom prst="roundRect">
            <a:avLst>
              <a:gd name="adj" fmla="val 3000"/>
            </a:avLst>
          </a:prstGeom>
          <a:solidFill>
            <a:srgbClr val="102B43"/>
          </a:solidFill>
          <a:ln w="9525">
            <a:solidFill>
              <a:srgbClr val="2A4760"/>
            </a:solidFill>
          </a:ln>
          <a:effectLst/>
        </p:spPr>
        <p:txBody>
          <a:bodyPr rtlCol="0" anchor="ctr"/>
          <a:lstStyle/>
          <a:p>
            <a:pPr algn="ctr"/>
          </a:p>
        </p:txBody>
      </p:sp>
      <p:sp>
        <p:nvSpPr>
          <p:cNvPr id="32" name="TextBox 31"/>
          <p:cNvSpPr txBox="1"/>
          <p:nvPr/>
        </p:nvSpPr>
        <p:spPr>
          <a:xfrm>
            <a:off x="804672" y="5212080"/>
            <a:ext cx="10241280" cy="274320"/>
          </a:xfrm>
          <a:prstGeom prst="rect">
            <a:avLst/>
          </a:prstGeom>
          <a:noFill/>
        </p:spPr>
        <p:txBody>
          <a:bodyPr wrap="square" lIns="0" rIns="0" tIns="0" bIns="0" anchor="t">
            <a:spAutoFit/>
          </a:bodyPr>
          <a:lstStyle/>
          <a:p>
            <a:pPr algn="l">
              <a:lnSpc>
                <a:spcPct val="100000"/>
              </a:lnSpc>
              <a:spcBef>
                <a:spcPts val="0"/>
              </a:spcBef>
              <a:spcAft>
                <a:spcPts val="0"/>
              </a:spcAft>
            </a:pPr>
            <a:r>
              <a:rPr sz="1320" b="1" i="0">
                <a:solidFill>
                  <a:srgbClr val="FFFFFF"/>
                </a:solidFill>
                <a:latin typeface="Arial"/>
              </a:rPr>
              <a:t>Local thresholds turn a generic forecast into a place-specific, time-specific warning.</a:t>
            </a:r>
          </a:p>
        </p:txBody>
      </p:sp>
      <p:sp>
        <p:nvSpPr>
          <p:cNvPr id="33" name="TextBox 32"/>
          <p:cNvSpPr txBox="1"/>
          <p:nvPr/>
        </p:nvSpPr>
        <p:spPr>
          <a:xfrm>
            <a:off x="804672" y="5559552"/>
            <a:ext cx="10241280" cy="219456"/>
          </a:xfrm>
          <a:prstGeom prst="rect">
            <a:avLst/>
          </a:prstGeom>
          <a:noFill/>
        </p:spPr>
        <p:txBody>
          <a:bodyPr wrap="square" lIns="0" rIns="0" tIns="0" bIns="0" anchor="t">
            <a:spAutoFit/>
          </a:bodyPr>
          <a:lstStyle/>
          <a:p>
            <a:pPr algn="l">
              <a:lnSpc>
                <a:spcPct val="100000"/>
              </a:lnSpc>
              <a:spcBef>
                <a:spcPts val="0"/>
              </a:spcBef>
              <a:spcAft>
                <a:spcPts val="0"/>
              </a:spcAft>
            </a:pPr>
            <a:r>
              <a:rPr sz="940" b="0" i="0">
                <a:solidFill>
                  <a:srgbClr val="B9C7D2"/>
                </a:solidFill>
                <a:latin typeface="Arial"/>
              </a:rPr>
              <a:t>Questions / discussion  ·  Group project, ACMAD AI summer school 2026</a:t>
            </a:r>
          </a:p>
        </p:txBody>
      </p:sp>
      <p:cxnSp>
        <p:nvCxnSpPr>
          <p:cNvPr id="34" name="Connector 33"/>
          <p:cNvCxnSpPr/>
          <p:nvPr/>
        </p:nvCxnSpPr>
        <p:spPr>
          <a:xfrm>
            <a:off x="594360" y="6437376"/>
            <a:ext cx="11000232" cy="0"/>
          </a:xfrm>
          <a:prstGeom prst="line">
            <a:avLst/>
          </a:prstGeom>
          <a:ln w="9525">
            <a:solidFill>
              <a:srgbClr val="2A4760"/>
            </a:solidFill>
          </a:ln>
        </p:spPr>
      </p:cxnSp>
      <p:sp>
        <p:nvSpPr>
          <p:cNvPr id="35" name="TextBox 34"/>
          <p:cNvSpPr txBox="1"/>
          <p:nvPr/>
        </p:nvSpPr>
        <p:spPr>
          <a:xfrm>
            <a:off x="594360" y="6492240"/>
            <a:ext cx="6949440" cy="182880"/>
          </a:xfrm>
          <a:prstGeom prst="rect">
            <a:avLst/>
          </a:prstGeom>
          <a:noFill/>
        </p:spPr>
        <p:txBody>
          <a:bodyPr wrap="square" lIns="0" rIns="0" tIns="0" bIns="0" anchor="t">
            <a:spAutoFit/>
          </a:bodyPr>
          <a:lstStyle/>
          <a:p>
            <a:pPr algn="l">
              <a:lnSpc>
                <a:spcPct val="100000"/>
              </a:lnSpc>
              <a:spcBef>
                <a:spcPts val="0"/>
              </a:spcBef>
              <a:spcAft>
                <a:spcPts val="0"/>
              </a:spcAft>
            </a:pPr>
            <a:r>
              <a:rPr sz="850" b="0" i="0">
                <a:solidFill>
                  <a:srgbClr val="AAB8C4"/>
                </a:solidFill>
                <a:latin typeface="Arial"/>
              </a:rPr>
              <a:t>Sudan JJA 2025 · local rainfall extremes</a:t>
            </a:r>
          </a:p>
        </p:txBody>
      </p:sp>
      <p:sp>
        <p:nvSpPr>
          <p:cNvPr id="36" name="TextBox 35"/>
          <p:cNvSpPr txBox="1"/>
          <p:nvPr/>
        </p:nvSpPr>
        <p:spPr>
          <a:xfrm>
            <a:off x="10698480" y="6492240"/>
            <a:ext cx="896112" cy="182880"/>
          </a:xfrm>
          <a:prstGeom prst="rect">
            <a:avLst/>
          </a:prstGeom>
          <a:noFill/>
        </p:spPr>
        <p:txBody>
          <a:bodyPr wrap="square" lIns="0" rIns="0" tIns="0" bIns="0" anchor="t">
            <a:spAutoFit/>
          </a:bodyPr>
          <a:lstStyle/>
          <a:p>
            <a:pPr algn="r">
              <a:lnSpc>
                <a:spcPct val="100000"/>
              </a:lnSpc>
              <a:spcBef>
                <a:spcPts val="0"/>
              </a:spcBef>
              <a:spcAft>
                <a:spcPts val="0"/>
              </a:spcAft>
            </a:pPr>
            <a:r>
              <a:rPr sz="850" b="0" i="0">
                <a:solidFill>
                  <a:srgbClr val="AAB8C4"/>
                </a:solidFill>
                <a:latin typeface="Arial"/>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Did the forecast warn of extreme rain? Sudan JJA 2025</dc:title>
  <dc:subject>Local rainfall thresholds and ECMWF ensemble signals for five Sudanese towns</dc:subject>
  <dc:creator>Sudan group, ACMAD AI summer school 2026</dc:creator>
  <cp:keywords/>
  <dc:description>Built from committed figures and CSVs in the acmad-eac-summer-school repository.</dc:description>
  <cp:lastModifiedBy>Steve Canny</cp:lastModifiedBy>
  <cp:revision>1</cp:revision>
  <dcterms:created xsi:type="dcterms:W3CDTF">2013-01-27T09:14:16Z</dcterms:created>
  <dcterms:modified xsi:type="dcterms:W3CDTF">2013-01-27T09:15:58Z</dcterms:modified>
  <cp:category/>
</cp:coreProperties>
</file>